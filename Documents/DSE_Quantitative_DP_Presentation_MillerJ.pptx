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74" r:id="rId5"/>
  </p:sldMasterIdLst>
  <p:notesMasterIdLst>
    <p:notesMasterId r:id="rId31"/>
  </p:notesMasterIdLst>
  <p:sldIdLst>
    <p:sldId id="350" r:id="rId6"/>
    <p:sldId id="372" r:id="rId7"/>
    <p:sldId id="278" r:id="rId8"/>
    <p:sldId id="351" r:id="rId9"/>
    <p:sldId id="373" r:id="rId10"/>
    <p:sldId id="352" r:id="rId11"/>
    <p:sldId id="353" r:id="rId12"/>
    <p:sldId id="354" r:id="rId13"/>
    <p:sldId id="355" r:id="rId14"/>
    <p:sldId id="356" r:id="rId15"/>
    <p:sldId id="357" r:id="rId16"/>
    <p:sldId id="358" r:id="rId17"/>
    <p:sldId id="359" r:id="rId18"/>
    <p:sldId id="360" r:id="rId19"/>
    <p:sldId id="361" r:id="rId20"/>
    <p:sldId id="365" r:id="rId21"/>
    <p:sldId id="376" r:id="rId22"/>
    <p:sldId id="364" r:id="rId23"/>
    <p:sldId id="381" r:id="rId24"/>
    <p:sldId id="377" r:id="rId25"/>
    <p:sldId id="374" r:id="rId26"/>
    <p:sldId id="384" r:id="rId27"/>
    <p:sldId id="378" r:id="rId28"/>
    <p:sldId id="375" r:id="rId29"/>
    <p:sldId id="38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00" userDrawn="1">
          <p15:clr>
            <a:srgbClr val="A4A3A4"/>
          </p15:clr>
        </p15:guide>
        <p15:guide id="3" orient="horz" pos="744" userDrawn="1">
          <p15:clr>
            <a:srgbClr val="A4A3A4"/>
          </p15:clr>
        </p15:guide>
        <p15:guide id="4" pos="456" userDrawn="1">
          <p15:clr>
            <a:srgbClr val="A4A3A4"/>
          </p15:clr>
        </p15:guide>
        <p15:guide id="5" orient="horz" pos="175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BE8E60E-1C00-4FD8-7D3F-054902D132F9}" name="Randee Sanders" initials="RS" userId="S::rsanders@nu.edu::7a1cee8c-4093-40fa-b720-5561df2ee79c" providerId="AD"/>
  <p188:author id="{FE31725B-5DC1-18CA-16C3-AE3A45661E5E}" name="Leila Sopko" initials="LS" userId="S::lsopko@nu.edu::0171d0cf-3b4f-4019-b93e-769a747495c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53F"/>
    <a:srgbClr val="4D4D4C"/>
    <a:srgbClr val="FDA31B"/>
    <a:srgbClr val="222222"/>
    <a:srgbClr val="6B002A"/>
    <a:srgbClr val="761426"/>
    <a:srgbClr val="00A3AF"/>
    <a:srgbClr val="F05181"/>
    <a:srgbClr val="06A3AE"/>
    <a:srgbClr val="0B25A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38" autoAdjust="0"/>
    <p:restoredTop sz="57538" autoAdjust="0"/>
  </p:normalViewPr>
  <p:slideViewPr>
    <p:cSldViewPr snapToGrid="0" snapToObjects="1">
      <p:cViewPr varScale="1">
        <p:scale>
          <a:sx n="39" d="100"/>
          <a:sy n="39" d="100"/>
        </p:scale>
        <p:origin x="2554" y="259"/>
      </p:cViewPr>
      <p:guideLst>
        <p:guide orient="horz" pos="600"/>
        <p:guide orient="horz" pos="744"/>
        <p:guide pos="456"/>
        <p:guide orient="horz" pos="17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ableStyles" Target="tableStyles.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CC16B3-D8EC-264D-8EF0-1321CDFD04ED}"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3DDFAF-7DD9-8E40-9CC4-B7911C011FBD}" type="slidenum">
              <a:rPr lang="en-US" smtClean="0"/>
              <a:t>‹#›</a:t>
            </a:fld>
            <a:endParaRPr lang="en-US"/>
          </a:p>
        </p:txBody>
      </p:sp>
    </p:spTree>
    <p:extLst>
      <p:ext uri="{BB962C8B-B14F-4D97-AF65-F5344CB8AC3E}">
        <p14:creationId xmlns:p14="http://schemas.microsoft.com/office/powerpoint/2010/main" val="1674245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1</a:t>
            </a:fld>
            <a:endParaRPr lang="en-US"/>
          </a:p>
        </p:txBody>
      </p:sp>
    </p:spTree>
    <p:extLst>
      <p:ext uri="{BB962C8B-B14F-4D97-AF65-F5344CB8AC3E}">
        <p14:creationId xmlns:p14="http://schemas.microsoft.com/office/powerpoint/2010/main" val="1558314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914400" lvl="1" indent="-457200">
              <a:buFont typeface="Arial" panose="020B0604020202020204" pitchFamily="34" charset="0"/>
              <a:buChar char="•"/>
            </a:pPr>
            <a:r>
              <a:rPr lang="en-US" sz="2000" dirty="0">
                <a:latin typeface="Times" panose="02020603050405020304" pitchFamily="18" charset="0"/>
                <a:cs typeface="Times" panose="02020603050405020304" pitchFamily="18" charset="0"/>
              </a:rPr>
              <a:t>The uncertainty and volatility of the supply chain have been explored and addressed through big data over several decades (Chen et al., 2023). </a:t>
            </a:r>
          </a:p>
          <a:p>
            <a:pPr marL="914400" lvl="1" indent="-457200">
              <a:buFont typeface="Arial" panose="020B0604020202020204" pitchFamily="34" charset="0"/>
              <a:buChar char="•"/>
            </a:pPr>
            <a:r>
              <a:rPr lang="en-US" sz="2000" dirty="0">
                <a:latin typeface="Times" panose="02020603050405020304" pitchFamily="18" charset="0"/>
                <a:cs typeface="Times" panose="02020603050405020304" pitchFamily="18" charset="0"/>
              </a:rPr>
              <a:t>While the previous models for risk mitigation and resilience have been effective when applied to common disruptions, large-scale and unprecedented interruptions have shown these models to be lacking in response (Chen et al., 2023; de Lima et al., 2022).</a:t>
            </a:r>
          </a:p>
          <a:p>
            <a:pPr marL="914400" lvl="1" indent="-457200">
              <a:buFont typeface="Arial" panose="020B0604020202020204" pitchFamily="34" charset="0"/>
              <a:buChar char="•"/>
            </a:pPr>
            <a:r>
              <a:rPr lang="en-US" sz="2000" dirty="0">
                <a:latin typeface="Times" panose="02020603050405020304" pitchFamily="18" charset="0"/>
                <a:cs typeface="Times" panose="02020603050405020304" pitchFamily="18" charset="0"/>
              </a:rPr>
              <a:t>As technology evolves, options for further improvements in supply chain management arise. The rise of machine learning and artificial intelligence (AI) has provided deep insights into prediction and response to changes in the supply chain environment (Maheshwari et al., 2021; Mentzer et al., 2011). </a:t>
            </a:r>
          </a:p>
          <a:p>
            <a:pPr marL="914400" lvl="1" indent="-457200">
              <a:buFont typeface="Arial" panose="020B0604020202020204" pitchFamily="34" charset="0"/>
              <a:buChar char="•"/>
            </a:pPr>
            <a:r>
              <a:rPr lang="en-US" sz="2000" dirty="0">
                <a:latin typeface="Times" panose="02020603050405020304" pitchFamily="18" charset="0"/>
                <a:cs typeface="Times" panose="02020603050405020304" pitchFamily="18" charset="0"/>
              </a:rPr>
              <a:t>Data-centric approaches to supply chain problems, especially machine learning and artificial intelligence methods, have been very successful in finding new insights and solutions (de Lima et al., 2022; </a:t>
            </a:r>
            <a:r>
              <a:rPr lang="en-US" sz="2000" dirty="0" err="1">
                <a:latin typeface="Times" panose="02020603050405020304" pitchFamily="18" charset="0"/>
                <a:cs typeface="Times" panose="02020603050405020304" pitchFamily="18" charset="0"/>
              </a:rPr>
              <a:t>Suryawanshi</a:t>
            </a:r>
            <a:r>
              <a:rPr lang="en-US" sz="2000" dirty="0">
                <a:latin typeface="Times" panose="02020603050405020304" pitchFamily="18" charset="0"/>
                <a:cs typeface="Times" panose="02020603050405020304" pitchFamily="18" charset="0"/>
              </a:rPr>
              <a:t> &amp; Dutta, 2022). Further leveraging of machine learning may present new solutions to supply chain resiliency, specifically in using reinforcement learning (RL) (</a:t>
            </a:r>
            <a:r>
              <a:rPr lang="en-US" sz="2000" dirty="0" err="1">
                <a:latin typeface="Times" panose="02020603050405020304" pitchFamily="18" charset="0"/>
                <a:cs typeface="Times" panose="02020603050405020304" pitchFamily="18" charset="0"/>
              </a:rPr>
              <a:t>Aboutorab</a:t>
            </a:r>
            <a:r>
              <a:rPr lang="en-US" sz="2000" dirty="0">
                <a:latin typeface="Times" panose="02020603050405020304" pitchFamily="18" charset="0"/>
                <a:cs typeface="Times" panose="02020603050405020304" pitchFamily="18" charset="0"/>
              </a:rPr>
              <a:t> et al., 2022). </a:t>
            </a:r>
          </a:p>
          <a:p>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2</a:t>
            </a:fld>
            <a:endParaRPr lang="en-US"/>
          </a:p>
        </p:txBody>
      </p:sp>
    </p:spTree>
    <p:extLst>
      <p:ext uri="{BB962C8B-B14F-4D97-AF65-F5344CB8AC3E}">
        <p14:creationId xmlns:p14="http://schemas.microsoft.com/office/powerpoint/2010/main" val="3962039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dirty="0"/>
              <a:t>Specifically, current models work as a trade-off, where profit increases result in late deliveries or vice-versa. This is especially true when making last-minute decisions, as delivery issues are addressed in a way that reduced profit by adding to shipping costs. If a model can identify the optimal solution where delivery times may be met with minimal loss of profit, this could be applied to unforeseen interruptions.</a:t>
            </a:r>
          </a:p>
          <a:p>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3</a:t>
            </a:fld>
            <a:endParaRPr lang="en-US"/>
          </a:p>
        </p:txBody>
      </p:sp>
    </p:spTree>
    <p:extLst>
      <p:ext uri="{BB962C8B-B14F-4D97-AF65-F5344CB8AC3E}">
        <p14:creationId xmlns:p14="http://schemas.microsoft.com/office/powerpoint/2010/main" val="3271729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RQ1: </a:t>
            </a:r>
            <a:r>
              <a:rPr lang="en-US" b="0" dirty="0"/>
              <a:t>Is RL the correct approach?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RQ2: </a:t>
            </a:r>
            <a:r>
              <a:rPr lang="en-US" b="0" dirty="0"/>
              <a:t>Assuming RL is the correct choice, which method is best?</a:t>
            </a:r>
            <a:endParaRPr lang="en-US" b="1" dirty="0"/>
          </a:p>
          <a:p>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4</a:t>
            </a:fld>
            <a:endParaRPr lang="en-US"/>
          </a:p>
        </p:txBody>
      </p:sp>
    </p:spTree>
    <p:extLst>
      <p:ext uri="{BB962C8B-B14F-4D97-AF65-F5344CB8AC3E}">
        <p14:creationId xmlns:p14="http://schemas.microsoft.com/office/powerpoint/2010/main" val="1447732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4A92B-7FF4-589A-15E7-B8EE3205AF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0D1A80-8A4C-0216-DB84-5F7DEB1E4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E0E47-A9CA-1515-A7B2-738505A8F33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RQ3: </a:t>
            </a:r>
            <a:r>
              <a:rPr lang="en-US" b="0" dirty="0"/>
              <a:t>If RL is the right choice, is there an optimal setting for reward and penalty settings?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RQ4: </a:t>
            </a:r>
            <a:r>
              <a:rPr lang="en-US" b="0" dirty="0"/>
              <a:t>These are direct metrics, rather than non-specific goals.</a:t>
            </a:r>
            <a:endParaRPr lang="en-US" b="1" dirty="0"/>
          </a:p>
          <a:p>
            <a:endParaRPr lang="en-US" dirty="0"/>
          </a:p>
        </p:txBody>
      </p:sp>
      <p:sp>
        <p:nvSpPr>
          <p:cNvPr id="4" name="Slide Number Placeholder 3">
            <a:extLst>
              <a:ext uri="{FF2B5EF4-FFF2-40B4-BE49-F238E27FC236}">
                <a16:creationId xmlns:a16="http://schemas.microsoft.com/office/drawing/2014/main" id="{8D2D6199-2B2C-5773-654F-6B071F1FBDE9}"/>
              </a:ext>
            </a:extLst>
          </p:cNvPr>
          <p:cNvSpPr>
            <a:spLocks noGrp="1"/>
          </p:cNvSpPr>
          <p:nvPr>
            <p:ph type="sldNum" sz="quarter" idx="5"/>
          </p:nvPr>
        </p:nvSpPr>
        <p:spPr/>
        <p:txBody>
          <a:bodyPr/>
          <a:lstStyle/>
          <a:p>
            <a:fld id="{2E3DDFAF-7DD9-8E40-9CC4-B7911C011FBD}" type="slidenum">
              <a:rPr lang="en-US" smtClean="0"/>
              <a:t>5</a:t>
            </a:fld>
            <a:endParaRPr lang="en-US"/>
          </a:p>
        </p:txBody>
      </p:sp>
    </p:spTree>
    <p:extLst>
      <p:ext uri="{BB962C8B-B14F-4D97-AF65-F5344CB8AC3E}">
        <p14:creationId xmlns:p14="http://schemas.microsoft.com/office/powerpoint/2010/main" val="4105822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Wingdings" panose="05000000000000000000" pitchFamily="2" charset="2"/>
              <a:buChar char="§"/>
            </a:pPr>
            <a:r>
              <a:rPr lang="en-US" sz="1800" dirty="0">
                <a:latin typeface="Times" panose="02020603050405020304" pitchFamily="18" charset="0"/>
                <a:cs typeface="Times" panose="02020603050405020304" pitchFamily="18" charset="0"/>
              </a:rPr>
              <a:t>This research investigates how Reinforcement Learning can enhance supply chain operations, using the Cross Industry Standard Process for Data Mining (CRISP-DM) as its foundational framework. </a:t>
            </a:r>
          </a:p>
          <a:p>
            <a:pPr marL="457200" indent="-457200">
              <a:buFont typeface="Wingdings" panose="05000000000000000000" pitchFamily="2" charset="2"/>
              <a:buChar char="§"/>
            </a:pPr>
            <a:r>
              <a:rPr lang="en-US" sz="1800" dirty="0">
                <a:latin typeface="Times" panose="02020603050405020304" pitchFamily="18" charset="0"/>
                <a:cs typeface="Times" panose="02020603050405020304" pitchFamily="18" charset="0"/>
              </a:rPr>
              <a:t>Given the study's focus on reinforcement learning, a complementary framework from Sharma et al. (2021), the A-Priori Framework, is also employed </a:t>
            </a:r>
          </a:p>
          <a:p>
            <a:pPr marL="457200" indent="-457200">
              <a:buFont typeface="Wingdings" panose="05000000000000000000" pitchFamily="2" charset="2"/>
              <a:buChar char="§"/>
            </a:pPr>
            <a:r>
              <a:rPr lang="en-US" sz="1800" dirty="0">
                <a:latin typeface="Times" panose="02020603050405020304" pitchFamily="18" charset="0"/>
                <a:cs typeface="Times" panose="02020603050405020304" pitchFamily="18" charset="0"/>
              </a:rPr>
              <a:t>For the supply chain management aspect, the Supply Chain Assessment Framework by </a:t>
            </a:r>
            <a:r>
              <a:rPr lang="en-US" sz="1800" dirty="0" err="1">
                <a:latin typeface="Times" panose="02020603050405020304" pitchFamily="18" charset="0"/>
                <a:cs typeface="Times" panose="02020603050405020304" pitchFamily="18" charset="0"/>
              </a:rPr>
              <a:t>Stroumpoulis</a:t>
            </a:r>
            <a:r>
              <a:rPr lang="en-US" sz="1800" dirty="0">
                <a:latin typeface="Times" panose="02020603050405020304" pitchFamily="18" charset="0"/>
                <a:cs typeface="Times" panose="02020603050405020304" pitchFamily="18" charset="0"/>
              </a:rPr>
              <a:t> &amp; </a:t>
            </a:r>
            <a:r>
              <a:rPr lang="en-US" sz="1800" dirty="0" err="1">
                <a:latin typeface="Times" panose="02020603050405020304" pitchFamily="18" charset="0"/>
                <a:cs typeface="Times" panose="02020603050405020304" pitchFamily="18" charset="0"/>
              </a:rPr>
              <a:t>Kopanaki</a:t>
            </a:r>
            <a:r>
              <a:rPr lang="en-US" sz="1800" dirty="0">
                <a:latin typeface="Times" panose="02020603050405020304" pitchFamily="18" charset="0"/>
                <a:cs typeface="Times" panose="02020603050405020304" pitchFamily="18" charset="0"/>
              </a:rPr>
              <a:t> (2022) will be utilized.</a:t>
            </a:r>
          </a:p>
          <a:p>
            <a:pPr marL="342900" indent="-342900">
              <a:buFont typeface="Wingdings" panose="05000000000000000000" pitchFamily="2" charset="2"/>
              <a:buChar char="§"/>
            </a:pPr>
            <a:r>
              <a:rPr lang="en-US" sz="1800" dirty="0">
                <a:latin typeface="Times" panose="02020603050405020304" pitchFamily="18" charset="0"/>
                <a:cs typeface="Times" panose="02020603050405020304" pitchFamily="18" charset="0"/>
              </a:rPr>
              <a:t>The use of three frameworks can be complicated, but considering the essential factors in this research, all three are necessary to ensure that all steps are taken to perform a thorough study. Certain aspects of each framework coincide or complement each other.</a:t>
            </a:r>
          </a:p>
          <a:p>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6</a:t>
            </a:fld>
            <a:endParaRPr lang="en-US"/>
          </a:p>
        </p:txBody>
      </p:sp>
    </p:spTree>
    <p:extLst>
      <p:ext uri="{BB962C8B-B14F-4D97-AF65-F5344CB8AC3E}">
        <p14:creationId xmlns:p14="http://schemas.microsoft.com/office/powerpoint/2010/main" val="1183442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To understand the problem, purpose, and solution in this study, one must understand the nature of the supply chain, its history, design, and operation.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Big data is a core component of the study, so it requires a basic knowledge of big data’s beginnings, development, and eventual use in the supply chain.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Artificial intelligence is the cornerstone of both machine and reinforcement learning. Its relevance in business and the supply chain reinforce its use in supply chain optimization.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Reinforcement learning has been a useful tool in all areas of business, and it should prove to be effective in supply chain optimization.</a:t>
            </a:r>
            <a:endParaRPr lang="en-US" b="0" dirty="0"/>
          </a:p>
          <a:p>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7</a:t>
            </a:fld>
            <a:endParaRPr lang="en-US"/>
          </a:p>
        </p:txBody>
      </p:sp>
    </p:spTree>
    <p:extLst>
      <p:ext uri="{BB962C8B-B14F-4D97-AF65-F5344CB8AC3E}">
        <p14:creationId xmlns:p14="http://schemas.microsoft.com/office/powerpoint/2010/main" val="1605868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r>
              <a:rPr lang="en-US" sz="1200" dirty="0">
                <a:latin typeface="Times" panose="02020603050405020304" pitchFamily="18" charset="0"/>
                <a:cs typeface="Times" panose="02020603050405020304" pitchFamily="18" charset="0"/>
              </a:rPr>
              <a:t>The quantitative approach was chosen for this study, as the core of the study is the application of data science techniques in the supply chain setting. The quantitative methodology is optimal when discussing statistical and numerical information.</a:t>
            </a:r>
          </a:p>
          <a:p>
            <a:pPr marL="457200" indent="-457200"/>
            <a:r>
              <a:rPr lang="en-US" sz="1200" dirty="0">
                <a:latin typeface="Times" panose="02020603050405020304" pitchFamily="18" charset="0"/>
                <a:cs typeface="Times" panose="02020603050405020304" pitchFamily="18" charset="0"/>
              </a:rPr>
              <a:t>The design of choice is the experimental approach.   </a:t>
            </a:r>
          </a:p>
          <a:p>
            <a:pPr marL="457200" indent="-457200"/>
            <a:r>
              <a:rPr lang="en-US" sz="1200" dirty="0">
                <a:latin typeface="Times" panose="02020603050405020304" pitchFamily="18" charset="0"/>
                <a:cs typeface="Times" panose="02020603050405020304" pitchFamily="18" charset="0"/>
              </a:rPr>
              <a:t>Data representing common supply chain transactions and processes will be analyzed using Reinforcement Learning (RL).</a:t>
            </a:r>
          </a:p>
          <a:p>
            <a:pPr marL="0" indent="0">
              <a:buNone/>
            </a:pPr>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8</a:t>
            </a:fld>
            <a:endParaRPr lang="en-US"/>
          </a:p>
        </p:txBody>
      </p:sp>
    </p:spTree>
    <p:extLst>
      <p:ext uri="{BB962C8B-B14F-4D97-AF65-F5344CB8AC3E}">
        <p14:creationId xmlns:p14="http://schemas.microsoft.com/office/powerpoint/2010/main" val="3521971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population selected for this study was a compilation of supply chain entries used by the </a:t>
            </a:r>
            <a:r>
              <a:rPr lang="en-US" sz="1200" kern="1200" dirty="0" err="1">
                <a:solidFill>
                  <a:schemeClr val="tx1"/>
                </a:solidFill>
                <a:effectLst/>
                <a:latin typeface="+mn-lt"/>
                <a:ea typeface="+mn-ea"/>
                <a:cs typeface="+mn-cs"/>
              </a:rPr>
              <a:t>DataCo</a:t>
            </a:r>
            <a:r>
              <a:rPr lang="en-US" sz="1200" kern="1200" dirty="0">
                <a:solidFill>
                  <a:schemeClr val="tx1"/>
                </a:solidFill>
                <a:effectLst/>
                <a:latin typeface="+mn-lt"/>
                <a:ea typeface="+mn-ea"/>
                <a:cs typeface="+mn-cs"/>
              </a:rPr>
              <a:t> Global company (Constante et al., 2019). The data contains information from sporting goods, clothing, and electronics supply chains. There are 180,520 entries consisting of various transactions. Each entry has 53 columns of data. The columns represent order information including pricing, profit per order, order status, regional data, product category, shipping data, shipping type, and delivery time (Constante et al., 2019). The complete dataset will be used, as large amounts of data are necessary for in-depth analysis (Hong, 2024). The population will be divided into testing and training data for the Reinforcement Learning process. </a:t>
            </a:r>
          </a:p>
          <a:p>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9</a:t>
            </a:fld>
            <a:endParaRPr lang="en-US"/>
          </a:p>
        </p:txBody>
      </p:sp>
    </p:spTree>
    <p:extLst>
      <p:ext uri="{BB962C8B-B14F-4D97-AF65-F5344CB8AC3E}">
        <p14:creationId xmlns:p14="http://schemas.microsoft.com/office/powerpoint/2010/main" val="1049698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Various programs and algorithms will be used to prepare and analyze the data. The primary tool used will be the Python environment (Moens, 2025). Python offers several RL libraries which are useful in this type of research. The extension of </a:t>
            </a:r>
            <a:r>
              <a:rPr lang="en-US" sz="1200" kern="1200" dirty="0" err="1">
                <a:solidFill>
                  <a:schemeClr val="tx1"/>
                </a:solidFill>
                <a:effectLst/>
                <a:latin typeface="+mn-lt"/>
                <a:ea typeface="+mn-ea"/>
                <a:cs typeface="+mn-cs"/>
              </a:rPr>
              <a:t>Jupyter</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Jupyter</a:t>
            </a:r>
            <a:r>
              <a:rPr lang="en-US" sz="1200" kern="1200" dirty="0">
                <a:solidFill>
                  <a:schemeClr val="tx1"/>
                </a:solidFill>
                <a:effectLst/>
                <a:latin typeface="+mn-lt"/>
                <a:ea typeface="+mn-ea"/>
                <a:cs typeface="+mn-cs"/>
              </a:rPr>
              <a:t> Notebook provide the ability to cleanse and standardize the data. </a:t>
            </a:r>
            <a:r>
              <a:rPr lang="en-US" sz="1200" kern="1200" dirty="0" err="1">
                <a:solidFill>
                  <a:schemeClr val="tx1"/>
                </a:solidFill>
                <a:effectLst/>
                <a:latin typeface="+mn-lt"/>
                <a:ea typeface="+mn-ea"/>
                <a:cs typeface="+mn-cs"/>
              </a:rPr>
              <a:t>PyTorch</a:t>
            </a:r>
            <a:r>
              <a:rPr lang="en-US" sz="1200" kern="1200" dirty="0">
                <a:solidFill>
                  <a:schemeClr val="tx1"/>
                </a:solidFill>
                <a:effectLst/>
                <a:latin typeface="+mn-lt"/>
                <a:ea typeface="+mn-ea"/>
                <a:cs typeface="+mn-cs"/>
              </a:rPr>
              <a:t> is a deep learning library that is flexible and able to leverage tensor computations. These computations are a cornerstone in RL (Moens, 2025). Many frameworks rely on static graphs. </a:t>
            </a:r>
            <a:r>
              <a:rPr lang="en-US" sz="1200" kern="1200" dirty="0" err="1">
                <a:solidFill>
                  <a:schemeClr val="tx1"/>
                </a:solidFill>
                <a:effectLst/>
                <a:latin typeface="+mn-lt"/>
                <a:ea typeface="+mn-ea"/>
                <a:cs typeface="+mn-cs"/>
              </a:rPr>
              <a:t>PyTorch</a:t>
            </a:r>
            <a:r>
              <a:rPr lang="en-US" sz="1200" kern="1200" dirty="0">
                <a:solidFill>
                  <a:schemeClr val="tx1"/>
                </a:solidFill>
                <a:effectLst/>
                <a:latin typeface="+mn-lt"/>
                <a:ea typeface="+mn-ea"/>
                <a:cs typeface="+mn-cs"/>
              </a:rPr>
              <a:t> employs a resilient, dynamic computational graph. This allows for real-time adjustments and changes to strategies. The optimized tensor computations establish a faster environment for agents to perform their learning processes. Next, OpenAI Gym will provide a basic policy gradient RL algorithm known as </a:t>
            </a:r>
            <a:r>
              <a:rPr lang="en-US" sz="1200" kern="1200" dirty="0" err="1">
                <a:solidFill>
                  <a:schemeClr val="tx1"/>
                </a:solidFill>
                <a:effectLst/>
                <a:latin typeface="+mn-lt"/>
                <a:ea typeface="+mn-ea"/>
                <a:cs typeface="+mn-cs"/>
              </a:rPr>
              <a:t>CartPole</a:t>
            </a:r>
            <a:r>
              <a:rPr lang="en-US" sz="1200" kern="1200" dirty="0">
                <a:solidFill>
                  <a:schemeClr val="tx1"/>
                </a:solidFill>
                <a:effectLst/>
                <a:latin typeface="+mn-lt"/>
                <a:ea typeface="+mn-ea"/>
                <a:cs typeface="+mn-cs"/>
              </a:rPr>
              <a:t> (Moens, 2025). This algorithm is trained to balance a pole on a cart. OpenAI Gym also presents other necessary libraries, such as </a:t>
            </a:r>
            <a:r>
              <a:rPr lang="en-US" sz="1200" kern="1200" dirty="0" err="1">
                <a:solidFill>
                  <a:schemeClr val="tx1"/>
                </a:solidFill>
                <a:effectLst/>
                <a:latin typeface="+mn-lt"/>
                <a:ea typeface="+mn-ea"/>
                <a:cs typeface="+mn-cs"/>
              </a:rPr>
              <a:t>Numpy</a:t>
            </a:r>
            <a:r>
              <a:rPr lang="en-US" sz="1200" kern="1200" dirty="0">
                <a:solidFill>
                  <a:schemeClr val="tx1"/>
                </a:solidFill>
                <a:effectLst/>
                <a:latin typeface="+mn-lt"/>
                <a:ea typeface="+mn-ea"/>
                <a:cs typeface="+mn-cs"/>
              </a:rPr>
              <a:t>, Torch, and Matplotlib. Matplotlib is able to plot the response of the RL model to rewards and penalties until the agent is no longer improving over time (Moens, 2025).</a:t>
            </a:r>
          </a:p>
          <a:p>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10</a:t>
            </a:fld>
            <a:endParaRPr lang="en-US"/>
          </a:p>
        </p:txBody>
      </p:sp>
    </p:spTree>
    <p:extLst>
      <p:ext uri="{BB962C8B-B14F-4D97-AF65-F5344CB8AC3E}">
        <p14:creationId xmlns:p14="http://schemas.microsoft.com/office/powerpoint/2010/main" val="25652191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1" kern="1200" dirty="0">
                <a:solidFill>
                  <a:schemeClr val="tx1"/>
                </a:solidFill>
                <a:effectLst/>
                <a:latin typeface="+mn-lt"/>
                <a:ea typeface="+mn-ea"/>
                <a:cs typeface="+mn-cs"/>
              </a:rPr>
              <a:t>Order Id</a:t>
            </a:r>
          </a:p>
          <a:p>
            <a:r>
              <a:rPr lang="en-US" sz="1200" kern="1200" dirty="0">
                <a:solidFill>
                  <a:schemeClr val="tx1"/>
                </a:solidFill>
                <a:effectLst/>
                <a:latin typeface="+mn-lt"/>
                <a:ea typeface="+mn-ea"/>
                <a:cs typeface="+mn-cs"/>
              </a:rPr>
              <a:t>This is a unique number assigned to each transaction that identifies the grouping of all variables within a single order.</a:t>
            </a:r>
          </a:p>
          <a:p>
            <a:r>
              <a:rPr lang="en-US" sz="1200" b="1" i="1" kern="1200" dirty="0">
                <a:solidFill>
                  <a:schemeClr val="tx1"/>
                </a:solidFill>
                <a:effectLst/>
                <a:latin typeface="+mn-lt"/>
                <a:ea typeface="+mn-ea"/>
                <a:cs typeface="+mn-cs"/>
              </a:rPr>
              <a:t>Days for Shipping (Real)</a:t>
            </a:r>
          </a:p>
          <a:p>
            <a:r>
              <a:rPr lang="en-US" sz="1200" kern="1200" dirty="0">
                <a:solidFill>
                  <a:schemeClr val="tx1"/>
                </a:solidFill>
                <a:effectLst/>
                <a:latin typeface="+mn-lt"/>
                <a:ea typeface="+mn-ea"/>
                <a:cs typeface="+mn-cs"/>
              </a:rPr>
              <a:t>These entries define the total actual days in shipping from the company to the recipient of the order. They will be compared against the expected time in shipping for each order.</a:t>
            </a:r>
          </a:p>
          <a:p>
            <a:r>
              <a:rPr lang="en-US" sz="1200" b="1" i="1" kern="1200" dirty="0">
                <a:solidFill>
                  <a:schemeClr val="tx1"/>
                </a:solidFill>
                <a:effectLst/>
                <a:latin typeface="+mn-lt"/>
                <a:ea typeface="+mn-ea"/>
                <a:cs typeface="+mn-cs"/>
              </a:rPr>
              <a:t>Days for Shipment (Scheduled)</a:t>
            </a:r>
          </a:p>
          <a:p>
            <a:r>
              <a:rPr lang="en-US" sz="1200" kern="1200" dirty="0">
                <a:solidFill>
                  <a:schemeClr val="tx1"/>
                </a:solidFill>
                <a:effectLst/>
                <a:latin typeface="+mn-lt"/>
                <a:ea typeface="+mn-ea"/>
                <a:cs typeface="+mn-cs"/>
              </a:rPr>
              <a:t>When an order is placed, an expected time in shipping is provided, based on the region, distance, and shipping mode.</a:t>
            </a:r>
          </a:p>
          <a:p>
            <a:r>
              <a:rPr lang="en-US" sz="1200" b="1" i="1" kern="1200" dirty="0">
                <a:solidFill>
                  <a:schemeClr val="tx1"/>
                </a:solidFill>
                <a:effectLst/>
                <a:latin typeface="+mn-lt"/>
                <a:ea typeface="+mn-ea"/>
                <a:cs typeface="+mn-cs"/>
              </a:rPr>
              <a:t>Late delivery risk</a:t>
            </a:r>
          </a:p>
          <a:p>
            <a:r>
              <a:rPr lang="en-US" sz="1200" kern="1200" dirty="0">
                <a:solidFill>
                  <a:schemeClr val="tx1"/>
                </a:solidFill>
                <a:effectLst/>
                <a:latin typeface="+mn-lt"/>
                <a:ea typeface="+mn-ea"/>
                <a:cs typeface="+mn-cs"/>
              </a:rPr>
              <a:t>The actual time in transit for each order is compared to the anticipated delivery time and the difference between the two measurements results in the score for the risk of a delivery not meeting the scheduled days for shipment.</a:t>
            </a:r>
          </a:p>
          <a:p>
            <a:r>
              <a:rPr lang="en-US" sz="1200" b="1" i="1" kern="1200" dirty="0">
                <a:solidFill>
                  <a:schemeClr val="tx1"/>
                </a:solidFill>
                <a:effectLst/>
                <a:latin typeface="+mn-lt"/>
                <a:ea typeface="+mn-ea"/>
                <a:cs typeface="+mn-cs"/>
              </a:rPr>
              <a:t>Order Country</a:t>
            </a:r>
          </a:p>
          <a:p>
            <a:r>
              <a:rPr lang="en-US" sz="1200" kern="1200" dirty="0">
                <a:solidFill>
                  <a:schemeClr val="tx1"/>
                </a:solidFill>
                <a:effectLst/>
                <a:latin typeface="+mn-lt"/>
                <a:ea typeface="+mn-ea"/>
                <a:cs typeface="+mn-cs"/>
              </a:rPr>
              <a:t>Each order is assigned to the country where the order originated. This provides data for shipping distance, time, and method.</a:t>
            </a:r>
          </a:p>
          <a:p>
            <a:r>
              <a:rPr lang="en-US" sz="1200" b="1" i="1" kern="1200" dirty="0">
                <a:solidFill>
                  <a:schemeClr val="tx1"/>
                </a:solidFill>
                <a:effectLst/>
                <a:latin typeface="+mn-lt"/>
                <a:ea typeface="+mn-ea"/>
                <a:cs typeface="+mn-cs"/>
              </a:rPr>
              <a:t>Order Item Discount</a:t>
            </a:r>
          </a:p>
          <a:p>
            <a:r>
              <a:rPr lang="en-US" sz="1200" kern="1200" dirty="0">
                <a:solidFill>
                  <a:schemeClr val="tx1"/>
                </a:solidFill>
                <a:effectLst/>
                <a:latin typeface="+mn-lt"/>
                <a:ea typeface="+mn-ea"/>
                <a:cs typeface="+mn-cs"/>
              </a:rPr>
              <a:t>For costing purposes, each item that receives a discount is documented for computation of the total cost.</a:t>
            </a:r>
          </a:p>
          <a:p>
            <a:r>
              <a:rPr lang="en-US" sz="1200" b="1" i="1" kern="1200" dirty="0">
                <a:solidFill>
                  <a:schemeClr val="tx1"/>
                </a:solidFill>
                <a:effectLst/>
                <a:latin typeface="+mn-lt"/>
                <a:ea typeface="+mn-ea"/>
                <a:cs typeface="+mn-cs"/>
              </a:rPr>
              <a:t>Order Item Quantity</a:t>
            </a:r>
          </a:p>
          <a:p>
            <a:r>
              <a:rPr lang="en-US" sz="1200" kern="1200" dirty="0">
                <a:solidFill>
                  <a:schemeClr val="tx1"/>
                </a:solidFill>
                <a:effectLst/>
                <a:latin typeface="+mn-lt"/>
                <a:ea typeface="+mn-ea"/>
                <a:cs typeface="+mn-cs"/>
              </a:rPr>
              <a:t>The total number of items per order is cataloged for costing calculation.</a:t>
            </a:r>
          </a:p>
          <a:p>
            <a:r>
              <a:rPr lang="en-US" sz="1200" b="1" i="1" kern="1200" dirty="0">
                <a:solidFill>
                  <a:schemeClr val="tx1"/>
                </a:solidFill>
                <a:effectLst/>
                <a:latin typeface="+mn-lt"/>
                <a:ea typeface="+mn-ea"/>
                <a:cs typeface="+mn-cs"/>
              </a:rPr>
              <a:t>Order Item Total</a:t>
            </a:r>
          </a:p>
          <a:p>
            <a:r>
              <a:rPr lang="en-US" sz="1200" kern="1200" dirty="0">
                <a:solidFill>
                  <a:schemeClr val="tx1"/>
                </a:solidFill>
                <a:effectLst/>
                <a:latin typeface="+mn-lt"/>
                <a:ea typeface="+mn-ea"/>
                <a:cs typeface="+mn-cs"/>
              </a:rPr>
              <a:t>This variable is a calculated value based on the cost per item multiplied by the number of items in each order.</a:t>
            </a:r>
          </a:p>
          <a:p>
            <a:r>
              <a:rPr lang="en-US" sz="1200" b="1" i="1" kern="1200" dirty="0">
                <a:solidFill>
                  <a:schemeClr val="tx1"/>
                </a:solidFill>
                <a:effectLst/>
                <a:latin typeface="+mn-lt"/>
                <a:ea typeface="+mn-ea"/>
                <a:cs typeface="+mn-cs"/>
              </a:rPr>
              <a:t>Order Profit per Order</a:t>
            </a:r>
          </a:p>
          <a:p>
            <a:r>
              <a:rPr lang="en-US" sz="1200" kern="1200" dirty="0">
                <a:solidFill>
                  <a:schemeClr val="tx1"/>
                </a:solidFill>
                <a:effectLst/>
                <a:latin typeface="+mn-lt"/>
                <a:ea typeface="+mn-ea"/>
                <a:cs typeface="+mn-cs"/>
              </a:rPr>
              <a:t>Using the order item total and subtracting the costs associated with production, procurement, and shipping, the total profit is computed for each order.</a:t>
            </a:r>
          </a:p>
          <a:p>
            <a:r>
              <a:rPr lang="en-US" sz="1200" b="1" i="1" kern="1200" dirty="0">
                <a:solidFill>
                  <a:schemeClr val="tx1"/>
                </a:solidFill>
                <a:effectLst/>
                <a:latin typeface="+mn-lt"/>
                <a:ea typeface="+mn-ea"/>
                <a:cs typeface="+mn-cs"/>
              </a:rPr>
              <a:t>Order Region</a:t>
            </a:r>
          </a:p>
          <a:p>
            <a:r>
              <a:rPr lang="en-US" sz="1200" kern="1200" dirty="0">
                <a:solidFill>
                  <a:schemeClr val="tx1"/>
                </a:solidFill>
                <a:effectLst/>
                <a:latin typeface="+mn-lt"/>
                <a:ea typeface="+mn-ea"/>
                <a:cs typeface="+mn-cs"/>
              </a:rPr>
              <a:t>While each order is linked to a country, each subsequent country is assigned to a regional group for the purpose of categorization.</a:t>
            </a:r>
          </a:p>
          <a:p>
            <a:r>
              <a:rPr lang="en-US" sz="1200" b="1" i="1" kern="1200" dirty="0">
                <a:solidFill>
                  <a:schemeClr val="tx1"/>
                </a:solidFill>
                <a:effectLst/>
                <a:latin typeface="+mn-lt"/>
                <a:ea typeface="+mn-ea"/>
                <a:cs typeface="+mn-cs"/>
              </a:rPr>
              <a:t>Product Price</a:t>
            </a:r>
          </a:p>
          <a:p>
            <a:r>
              <a:rPr lang="en-US" sz="1200" kern="1200" dirty="0">
                <a:solidFill>
                  <a:schemeClr val="tx1"/>
                </a:solidFill>
                <a:effectLst/>
                <a:latin typeface="+mn-lt"/>
                <a:ea typeface="+mn-ea"/>
                <a:cs typeface="+mn-cs"/>
              </a:rPr>
              <a:t>This is the corresponding price assigned to each product id. The price represents the cost of a single item.</a:t>
            </a:r>
          </a:p>
          <a:p>
            <a:r>
              <a:rPr lang="en-US" sz="1200" b="1" i="1" kern="1200" dirty="0">
                <a:solidFill>
                  <a:schemeClr val="tx1"/>
                </a:solidFill>
                <a:effectLst/>
                <a:latin typeface="+mn-lt"/>
                <a:ea typeface="+mn-ea"/>
                <a:cs typeface="+mn-cs"/>
              </a:rPr>
              <a:t>Shipping Mode</a:t>
            </a:r>
          </a:p>
          <a:p>
            <a:r>
              <a:rPr lang="en-US" sz="1200" kern="1200" dirty="0">
                <a:solidFill>
                  <a:schemeClr val="tx1"/>
                </a:solidFill>
                <a:effectLst/>
                <a:latin typeface="+mn-lt"/>
                <a:ea typeface="+mn-ea"/>
                <a:cs typeface="+mn-cs"/>
              </a:rPr>
              <a:t>This is the means of shipping products to customers. Each order can be shipped by first class, same day, second class, and standard class.</a:t>
            </a:r>
          </a:p>
          <a:p>
            <a:r>
              <a:rPr lang="en-US" sz="1200" b="1" i="1" kern="1200" dirty="0">
                <a:solidFill>
                  <a:schemeClr val="tx1"/>
                </a:solidFill>
                <a:effectLst/>
                <a:latin typeface="+mn-lt"/>
                <a:ea typeface="+mn-ea"/>
                <a:cs typeface="+mn-cs"/>
              </a:rPr>
              <a:t>Rolling Average Delivery Delay by Region</a:t>
            </a:r>
          </a:p>
          <a:p>
            <a:r>
              <a:rPr lang="en-US" sz="1200" kern="1200" dirty="0">
                <a:solidFill>
                  <a:schemeClr val="tx1"/>
                </a:solidFill>
                <a:effectLst/>
                <a:latin typeface="+mn-lt"/>
                <a:ea typeface="+mn-ea"/>
                <a:cs typeface="+mn-cs"/>
              </a:rPr>
              <a:t>This is an engineered field that calculates the mean delay time for all orders within each region.</a:t>
            </a:r>
          </a:p>
          <a:p>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11</a:t>
            </a:fld>
            <a:endParaRPr lang="en-US"/>
          </a:p>
        </p:txBody>
      </p:sp>
    </p:spTree>
    <p:extLst>
      <p:ext uri="{BB962C8B-B14F-4D97-AF65-F5344CB8AC3E}">
        <p14:creationId xmlns:p14="http://schemas.microsoft.com/office/powerpoint/2010/main" val="2548081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a:t>
            </a:r>
            <a:r>
              <a:rPr lang="en-US" sz="1200" kern="1200" dirty="0" err="1">
                <a:solidFill>
                  <a:schemeClr val="tx1"/>
                </a:solidFill>
                <a:effectLst/>
                <a:latin typeface="+mn-lt"/>
                <a:ea typeface="+mn-ea"/>
                <a:cs typeface="+mn-cs"/>
              </a:rPr>
              <a:t>DataCo</a:t>
            </a:r>
            <a:r>
              <a:rPr lang="en-US" sz="1200" kern="1200" dirty="0">
                <a:solidFill>
                  <a:schemeClr val="tx1"/>
                </a:solidFill>
                <a:effectLst/>
                <a:latin typeface="+mn-lt"/>
                <a:ea typeface="+mn-ea"/>
                <a:cs typeface="+mn-cs"/>
              </a:rPr>
              <a:t> Supply Chain Dataset is a group of structured and unstructured files containing supply chain information which was used by the </a:t>
            </a:r>
            <a:r>
              <a:rPr lang="en-US" sz="1200" kern="1200" dirty="0" err="1">
                <a:solidFill>
                  <a:schemeClr val="tx1"/>
                </a:solidFill>
                <a:effectLst/>
                <a:latin typeface="+mn-lt"/>
                <a:ea typeface="+mn-ea"/>
                <a:cs typeface="+mn-cs"/>
              </a:rPr>
              <a:t>DataCo</a:t>
            </a:r>
            <a:r>
              <a:rPr lang="en-US" sz="1200" kern="1200" dirty="0">
                <a:solidFill>
                  <a:schemeClr val="tx1"/>
                </a:solidFill>
                <a:effectLst/>
                <a:latin typeface="+mn-lt"/>
                <a:ea typeface="+mn-ea"/>
                <a:cs typeface="+mn-cs"/>
              </a:rPr>
              <a:t> Global company for analysis.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Considering that the core file contains nearly all relevant data for this study, little integration was necessary. However, the secondary Description file contains information that is helpful in explaining the nature of each column in the core file.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is the initial analytical phase conducted to understand the structure, quality, and characteristics of the dataset before preprocessing and modeling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first step in data cleansing will be to purge the columns that are not relevant to the study or analysis. The 53 columns will be reduced to 13, which refer specifically to shipping mode, cost and profit, and regional data.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Data Preparation</a:t>
            </a:r>
          </a:p>
          <a:p>
            <a:r>
              <a:rPr lang="en-US" sz="1200" kern="1200" dirty="0">
                <a:solidFill>
                  <a:schemeClr val="tx1"/>
                </a:solidFill>
                <a:effectLst/>
                <a:latin typeface="+mn-lt"/>
                <a:ea typeface="+mn-ea"/>
                <a:cs typeface="+mn-cs"/>
              </a:rPr>
              <a:t>The remaining columns will be explored for missing data, errors, and formatting issues, such as white space issues and leading or trailing spaces.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Some examples of these entries include shipping cost ratios, profit per unit, and profit margin.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preprocessed information is expected to yield improved insights into the initial exploration. The aggregated data for late delivery risk will be broken down into regions. This should result in similar outcomes across each region. Next, the order data will be separated into Shipping Mode, Delivery Risk, and Average Profit. Cross-referencing these three variables will show the average profit variance across regions and shipping modes. </a:t>
            </a:r>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12</a:t>
            </a:fld>
            <a:endParaRPr lang="en-US"/>
          </a:p>
        </p:txBody>
      </p:sp>
    </p:spTree>
    <p:extLst>
      <p:ext uri="{BB962C8B-B14F-4D97-AF65-F5344CB8AC3E}">
        <p14:creationId xmlns:p14="http://schemas.microsoft.com/office/powerpoint/2010/main" val="1806376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intent of data modeling in this study is to address the prediction of late orders, the optimization of shipping modes, the increase of profits, and the facilitation of RL decision-making (Wan et al., 2023).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sz="1200" kern="1200" dirty="0">
                <a:solidFill>
                  <a:schemeClr val="tx1"/>
                </a:solidFill>
                <a:effectLst/>
                <a:latin typeface="+mn-lt"/>
                <a:ea typeface="+mn-ea"/>
                <a:cs typeface="+mn-cs"/>
              </a:rPr>
              <a:t>After preprocessing, data mining continues to discover patterns and hidden relationships between variables (Shu &amp; Ye, 2023). The core mining processes needed for analysis are classification, association rule mining, clustering, sequential and decision mining.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Evaluation of the model ensures that it works efficiently on unseen data and prevents overfitting on the training dataset (Rimal et al., 2024). One approach will be using a 20/80 split, where the data will be divided into a training set of 80% and a testing set of 20%. For the assessment of model performance, a cross-validation method will be applied. This entails splitting the data into five to ten folds, training across the various subsets, and averaging the performance among the folds (Rimal et al., 2024). This method yields a more stable performance validation and lowers the amount of variance. The core metrics for validation include precision, recall, accuracy, F1 score, and ROC-AUC.</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intent of model valuation is to determine the ability to predict late deliveries accurately and estimate the level of profit per order. The evaluation assesses the reliability level to which the model may be used to make informed decisions (</a:t>
            </a:r>
            <a:r>
              <a:rPr lang="en-US" sz="1200" kern="1200" dirty="0" err="1">
                <a:solidFill>
                  <a:schemeClr val="tx1"/>
                </a:solidFill>
                <a:effectLst/>
                <a:latin typeface="+mn-lt"/>
                <a:ea typeface="+mn-ea"/>
                <a:cs typeface="+mn-cs"/>
              </a:rPr>
              <a:t>Goretzko</a:t>
            </a:r>
            <a:r>
              <a:rPr lang="en-US" sz="1200" kern="1200" dirty="0">
                <a:solidFill>
                  <a:schemeClr val="tx1"/>
                </a:solidFill>
                <a:effectLst/>
                <a:latin typeface="+mn-lt"/>
                <a:ea typeface="+mn-ea"/>
                <a:cs typeface="+mn-cs"/>
              </a:rPr>
              <a:t> et al., 2023).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One assessment tool is the confusion matrix, which identifies true and false positives and negatives (</a:t>
            </a:r>
            <a:r>
              <a:rPr lang="en-US" sz="1200" kern="1200" dirty="0" err="1">
                <a:solidFill>
                  <a:schemeClr val="tx1"/>
                </a:solidFill>
                <a:effectLst/>
                <a:latin typeface="+mn-lt"/>
                <a:ea typeface="+mn-ea"/>
                <a:cs typeface="+mn-cs"/>
              </a:rPr>
              <a:t>Goretzko</a:t>
            </a:r>
            <a:r>
              <a:rPr lang="en-US" sz="1200" kern="1200" dirty="0">
                <a:solidFill>
                  <a:schemeClr val="tx1"/>
                </a:solidFill>
                <a:effectLst/>
                <a:latin typeface="+mn-lt"/>
                <a:ea typeface="+mn-ea"/>
                <a:cs typeface="+mn-cs"/>
              </a:rPr>
              <a:t> et al., 2023). </a:t>
            </a:r>
          </a:p>
          <a:p>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13</a:t>
            </a:fld>
            <a:endParaRPr lang="en-US"/>
          </a:p>
        </p:txBody>
      </p:sp>
    </p:spTree>
    <p:extLst>
      <p:ext uri="{BB962C8B-B14F-4D97-AF65-F5344CB8AC3E}">
        <p14:creationId xmlns:p14="http://schemas.microsoft.com/office/powerpoint/2010/main" val="20227389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limitation of the study was the absence of external factors on shipping times. No weather-related delay data was available. There was also a lack of information on shipping routes regarding blockages, territorial issues, or fiscal interferences. The data also only shows the shipping mode without specifically identifying if there were different vendors providing the shipping services. Other outside influences, such as seasonality were notably absent. </a:t>
            </a:r>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14</a:t>
            </a:fld>
            <a:endParaRPr lang="en-US"/>
          </a:p>
        </p:txBody>
      </p:sp>
    </p:spTree>
    <p:extLst>
      <p:ext uri="{BB962C8B-B14F-4D97-AF65-F5344CB8AC3E}">
        <p14:creationId xmlns:p14="http://schemas.microsoft.com/office/powerpoint/2010/main" val="31779583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15</a:t>
            </a:fld>
            <a:endParaRPr lang="en-US"/>
          </a:p>
        </p:txBody>
      </p:sp>
    </p:spTree>
    <p:extLst>
      <p:ext uri="{BB962C8B-B14F-4D97-AF65-F5344CB8AC3E}">
        <p14:creationId xmlns:p14="http://schemas.microsoft.com/office/powerpoint/2010/main" val="4160715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16</a:t>
            </a:fld>
            <a:endParaRPr lang="en-US"/>
          </a:p>
        </p:txBody>
      </p:sp>
    </p:spTree>
    <p:extLst>
      <p:ext uri="{BB962C8B-B14F-4D97-AF65-F5344CB8AC3E}">
        <p14:creationId xmlns:p14="http://schemas.microsoft.com/office/powerpoint/2010/main" val="2105088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801E-8FA5-EF8D-D1CF-E518668B50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867C78-65BB-97F3-B223-6EA449F6BA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73BF6-DA8B-2394-D8BF-914740E17E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5AE013-15D0-A09B-4107-4BD1A5BB920F}"/>
              </a:ext>
            </a:extLst>
          </p:cNvPr>
          <p:cNvSpPr>
            <a:spLocks noGrp="1"/>
          </p:cNvSpPr>
          <p:nvPr>
            <p:ph type="sldNum" sz="quarter" idx="5"/>
          </p:nvPr>
        </p:nvSpPr>
        <p:spPr/>
        <p:txBody>
          <a:bodyPr/>
          <a:lstStyle/>
          <a:p>
            <a:fld id="{2E3DDFAF-7DD9-8E40-9CC4-B7911C011FBD}" type="slidenum">
              <a:rPr lang="en-US" smtClean="0"/>
              <a:t>17</a:t>
            </a:fld>
            <a:endParaRPr lang="en-US"/>
          </a:p>
        </p:txBody>
      </p:sp>
    </p:spTree>
    <p:extLst>
      <p:ext uri="{BB962C8B-B14F-4D97-AF65-F5344CB8AC3E}">
        <p14:creationId xmlns:p14="http://schemas.microsoft.com/office/powerpoint/2010/main" val="1672944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18</a:t>
            </a:fld>
            <a:endParaRPr lang="en-US"/>
          </a:p>
        </p:txBody>
      </p:sp>
    </p:spTree>
    <p:extLst>
      <p:ext uri="{BB962C8B-B14F-4D97-AF65-F5344CB8AC3E}">
        <p14:creationId xmlns:p14="http://schemas.microsoft.com/office/powerpoint/2010/main" val="11795418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73E24-1579-C87A-7067-BCB881B877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EAB57-7C0A-0A85-4F1F-D223E96D5C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7F1FEA-F098-BFC6-D13E-196BC65E8C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5BD640-E2A8-900C-524E-AED1EA5F023A}"/>
              </a:ext>
            </a:extLst>
          </p:cNvPr>
          <p:cNvSpPr>
            <a:spLocks noGrp="1"/>
          </p:cNvSpPr>
          <p:nvPr>
            <p:ph type="sldNum" sz="quarter" idx="5"/>
          </p:nvPr>
        </p:nvSpPr>
        <p:spPr/>
        <p:txBody>
          <a:bodyPr/>
          <a:lstStyle/>
          <a:p>
            <a:fld id="{2E3DDFAF-7DD9-8E40-9CC4-B7911C011FBD}" type="slidenum">
              <a:rPr lang="en-US" smtClean="0"/>
              <a:t>19</a:t>
            </a:fld>
            <a:endParaRPr lang="en-US"/>
          </a:p>
        </p:txBody>
      </p:sp>
    </p:spTree>
    <p:extLst>
      <p:ext uri="{BB962C8B-B14F-4D97-AF65-F5344CB8AC3E}">
        <p14:creationId xmlns:p14="http://schemas.microsoft.com/office/powerpoint/2010/main" val="34551619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50B3D-CDFD-F894-8DE1-044B714BD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C5C5E-48A2-4C52-C5A3-FA8D4DF223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51570F-289C-9D84-993A-C8D4D11CC3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2B029A-B057-67CE-2FC2-F9FFE695412B}"/>
              </a:ext>
            </a:extLst>
          </p:cNvPr>
          <p:cNvSpPr>
            <a:spLocks noGrp="1"/>
          </p:cNvSpPr>
          <p:nvPr>
            <p:ph type="sldNum" sz="quarter" idx="5"/>
          </p:nvPr>
        </p:nvSpPr>
        <p:spPr/>
        <p:txBody>
          <a:bodyPr/>
          <a:lstStyle/>
          <a:p>
            <a:fld id="{2E3DDFAF-7DD9-8E40-9CC4-B7911C011FBD}" type="slidenum">
              <a:rPr lang="en-US" smtClean="0"/>
              <a:t>20</a:t>
            </a:fld>
            <a:endParaRPr lang="en-US"/>
          </a:p>
        </p:txBody>
      </p:sp>
    </p:spTree>
    <p:extLst>
      <p:ext uri="{BB962C8B-B14F-4D97-AF65-F5344CB8AC3E}">
        <p14:creationId xmlns:p14="http://schemas.microsoft.com/office/powerpoint/2010/main" val="23037104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C530D-3DEC-BB67-F50B-AE9E4C7528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9B31E-586B-CFC0-C668-BCBCE93C48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281D95-1A73-1726-BC80-1A9A36A622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6C7CFA-0176-4265-8B7B-76DE51A94291}"/>
              </a:ext>
            </a:extLst>
          </p:cNvPr>
          <p:cNvSpPr>
            <a:spLocks noGrp="1"/>
          </p:cNvSpPr>
          <p:nvPr>
            <p:ph type="sldNum" sz="quarter" idx="5"/>
          </p:nvPr>
        </p:nvSpPr>
        <p:spPr/>
        <p:txBody>
          <a:bodyPr/>
          <a:lstStyle/>
          <a:p>
            <a:fld id="{2E3DDFAF-7DD9-8E40-9CC4-B7911C011FBD}" type="slidenum">
              <a:rPr lang="en-US" smtClean="0"/>
              <a:t>21</a:t>
            </a:fld>
            <a:endParaRPr lang="en-US"/>
          </a:p>
        </p:txBody>
      </p:sp>
    </p:spTree>
    <p:extLst>
      <p:ext uri="{BB962C8B-B14F-4D97-AF65-F5344CB8AC3E}">
        <p14:creationId xmlns:p14="http://schemas.microsoft.com/office/powerpoint/2010/main" val="8240309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A8F48-D172-60F6-855D-5B492087D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579F7-431D-86BD-0A3D-2F033EC23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900FE2-C0C7-5CA4-B3B0-816FE9B4B4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3290E2-6F97-B8C0-AFD7-0391E28B3D34}"/>
              </a:ext>
            </a:extLst>
          </p:cNvPr>
          <p:cNvSpPr>
            <a:spLocks noGrp="1"/>
          </p:cNvSpPr>
          <p:nvPr>
            <p:ph type="sldNum" sz="quarter" idx="5"/>
          </p:nvPr>
        </p:nvSpPr>
        <p:spPr/>
        <p:txBody>
          <a:bodyPr/>
          <a:lstStyle/>
          <a:p>
            <a:fld id="{2E3DDFAF-7DD9-8E40-9CC4-B7911C011FBD}" type="slidenum">
              <a:rPr lang="en-US" smtClean="0"/>
              <a:t>22</a:t>
            </a:fld>
            <a:endParaRPr lang="en-US"/>
          </a:p>
        </p:txBody>
      </p:sp>
    </p:spTree>
    <p:extLst>
      <p:ext uri="{BB962C8B-B14F-4D97-AF65-F5344CB8AC3E}">
        <p14:creationId xmlns:p14="http://schemas.microsoft.com/office/powerpoint/2010/main" val="21545805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825BF-A521-CCBE-F10E-340F5AF045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4AACD-DFE0-4716-23D6-FB0DB7942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FCED6-163C-1BC7-7CF8-3C02D334B8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0272ED-BC00-A202-EC40-C04CA94E6293}"/>
              </a:ext>
            </a:extLst>
          </p:cNvPr>
          <p:cNvSpPr>
            <a:spLocks noGrp="1"/>
          </p:cNvSpPr>
          <p:nvPr>
            <p:ph type="sldNum" sz="quarter" idx="5"/>
          </p:nvPr>
        </p:nvSpPr>
        <p:spPr/>
        <p:txBody>
          <a:bodyPr/>
          <a:lstStyle/>
          <a:p>
            <a:fld id="{2E3DDFAF-7DD9-8E40-9CC4-B7911C011FBD}" type="slidenum">
              <a:rPr lang="en-US" smtClean="0"/>
              <a:t>23</a:t>
            </a:fld>
            <a:endParaRPr lang="en-US"/>
          </a:p>
        </p:txBody>
      </p:sp>
    </p:spTree>
    <p:extLst>
      <p:ext uri="{BB962C8B-B14F-4D97-AF65-F5344CB8AC3E}">
        <p14:creationId xmlns:p14="http://schemas.microsoft.com/office/powerpoint/2010/main" val="11957552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D5ECF-691D-BD84-74CE-05B93D4102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14D6E-7A60-B966-6D44-CFC57D8134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30E4F9-0F73-084E-10D3-DB2E770706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84FB7C-06FA-65C1-4574-E5E23C0F3CEB}"/>
              </a:ext>
            </a:extLst>
          </p:cNvPr>
          <p:cNvSpPr>
            <a:spLocks noGrp="1"/>
          </p:cNvSpPr>
          <p:nvPr>
            <p:ph type="sldNum" sz="quarter" idx="5"/>
          </p:nvPr>
        </p:nvSpPr>
        <p:spPr/>
        <p:txBody>
          <a:bodyPr/>
          <a:lstStyle/>
          <a:p>
            <a:fld id="{2E3DDFAF-7DD9-8E40-9CC4-B7911C011FBD}" type="slidenum">
              <a:rPr lang="en-US" smtClean="0"/>
              <a:t>24</a:t>
            </a:fld>
            <a:endParaRPr lang="en-US"/>
          </a:p>
        </p:txBody>
      </p:sp>
    </p:spTree>
    <p:extLst>
      <p:ext uri="{BB962C8B-B14F-4D97-AF65-F5344CB8AC3E}">
        <p14:creationId xmlns:p14="http://schemas.microsoft.com/office/powerpoint/2010/main" val="22338982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3F29E-9A7E-8873-049A-86715DE61E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285684-146B-A484-B177-79E8EB7EE3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3CBAB2-4B3D-A409-24E5-5742676450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28D3FD-21DC-4B75-2106-F52A61310F7F}"/>
              </a:ext>
            </a:extLst>
          </p:cNvPr>
          <p:cNvSpPr>
            <a:spLocks noGrp="1"/>
          </p:cNvSpPr>
          <p:nvPr>
            <p:ph type="sldNum" sz="quarter" idx="5"/>
          </p:nvPr>
        </p:nvSpPr>
        <p:spPr/>
        <p:txBody>
          <a:bodyPr/>
          <a:lstStyle/>
          <a:p>
            <a:fld id="{2E3DDFAF-7DD9-8E40-9CC4-B7911C011FBD}" type="slidenum">
              <a:rPr lang="en-US" smtClean="0"/>
              <a:t>25</a:t>
            </a:fld>
            <a:endParaRPr lang="en-US"/>
          </a:p>
        </p:txBody>
      </p:sp>
    </p:spTree>
    <p:extLst>
      <p:ext uri="{BB962C8B-B14F-4D97-AF65-F5344CB8AC3E}">
        <p14:creationId xmlns:p14="http://schemas.microsoft.com/office/powerpoint/2010/main" val="3749048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A6F561BD-66CC-1E4B-81C1-055DEFC834E3}"/>
              </a:ext>
            </a:extLst>
          </p:cNvPr>
          <p:cNvSpPr>
            <a:spLocks noGrp="1"/>
          </p:cNvSpPr>
          <p:nvPr>
            <p:ph type="body" sz="quarter" idx="10" hasCustomPrompt="1"/>
          </p:nvPr>
        </p:nvSpPr>
        <p:spPr>
          <a:xfrm>
            <a:off x="4431445" y="2952400"/>
            <a:ext cx="7090687" cy="510327"/>
          </a:xfrm>
          <a:prstGeom prst="rect">
            <a:avLst/>
          </a:prstGeom>
        </p:spPr>
        <p:txBody>
          <a:bodyPr/>
          <a:lstStyle>
            <a:lvl1pPr marL="0" indent="0">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12" name="Text Placeholder 4">
            <a:extLst>
              <a:ext uri="{FF2B5EF4-FFF2-40B4-BE49-F238E27FC236}">
                <a16:creationId xmlns:a16="http://schemas.microsoft.com/office/drawing/2014/main" id="{5D04E882-8A4A-2146-9EA0-F6E17AF1E7AB}"/>
              </a:ext>
            </a:extLst>
          </p:cNvPr>
          <p:cNvSpPr>
            <a:spLocks noGrp="1"/>
          </p:cNvSpPr>
          <p:nvPr>
            <p:ph type="body" sz="quarter" idx="11" hasCustomPrompt="1"/>
          </p:nvPr>
        </p:nvSpPr>
        <p:spPr>
          <a:xfrm>
            <a:off x="4431445" y="3462727"/>
            <a:ext cx="7090679" cy="451445"/>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cxnSp>
        <p:nvCxnSpPr>
          <p:cNvPr id="3" name="Straight Connector 2">
            <a:extLst>
              <a:ext uri="{FF2B5EF4-FFF2-40B4-BE49-F238E27FC236}">
                <a16:creationId xmlns:a16="http://schemas.microsoft.com/office/drawing/2014/main" id="{6B686245-579A-384D-B4F3-54028CD8C2C3}"/>
              </a:ext>
            </a:extLst>
          </p:cNvPr>
          <p:cNvCxnSpPr/>
          <p:nvPr userDrawn="1"/>
        </p:nvCxnSpPr>
        <p:spPr>
          <a:xfrm>
            <a:off x="3997843" y="2721935"/>
            <a:ext cx="0" cy="141413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descr="Text, logo&#10;&#10;Description automatically generated with medium confidence">
            <a:extLst>
              <a:ext uri="{FF2B5EF4-FFF2-40B4-BE49-F238E27FC236}">
                <a16:creationId xmlns:a16="http://schemas.microsoft.com/office/drawing/2014/main" id="{332770AC-1EC2-4D57-01D3-EB103EB9E36C}"/>
              </a:ext>
            </a:extLst>
          </p:cNvPr>
          <p:cNvPicPr>
            <a:picLocks noChangeAspect="1"/>
          </p:cNvPicPr>
          <p:nvPr userDrawn="1"/>
        </p:nvPicPr>
        <p:blipFill>
          <a:blip r:embed="rId2"/>
          <a:stretch>
            <a:fillRect/>
          </a:stretch>
        </p:blipFill>
        <p:spPr>
          <a:xfrm>
            <a:off x="333579" y="2764718"/>
            <a:ext cx="3579990" cy="1328564"/>
          </a:xfrm>
          <a:prstGeom prst="rect">
            <a:avLst/>
          </a:prstGeom>
        </p:spPr>
      </p:pic>
    </p:spTree>
    <p:extLst>
      <p:ext uri="{BB962C8B-B14F-4D97-AF65-F5344CB8AC3E}">
        <p14:creationId xmlns:p14="http://schemas.microsoft.com/office/powerpoint/2010/main" val="1288349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B686245-579A-384D-B4F3-54028CD8C2C3}"/>
              </a:ext>
            </a:extLst>
          </p:cNvPr>
          <p:cNvCxnSpPr/>
          <p:nvPr userDrawn="1"/>
        </p:nvCxnSpPr>
        <p:spPr>
          <a:xfrm>
            <a:off x="3997843" y="2721935"/>
            <a:ext cx="0" cy="141413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BA9845DE-E731-6340-9992-8BB901DA69ED}"/>
              </a:ext>
            </a:extLst>
          </p:cNvPr>
          <p:cNvSpPr>
            <a:spLocks noGrp="1"/>
          </p:cNvSpPr>
          <p:nvPr>
            <p:ph type="body" sz="quarter" idx="10" hasCustomPrompt="1"/>
          </p:nvPr>
        </p:nvSpPr>
        <p:spPr>
          <a:xfrm>
            <a:off x="4431445" y="2944905"/>
            <a:ext cx="7090687" cy="510327"/>
          </a:xfrm>
          <a:prstGeom prst="rect">
            <a:avLst/>
          </a:prstGeom>
        </p:spPr>
        <p:txBody>
          <a:bodyPr/>
          <a:lstStyle>
            <a:lvl1pPr marL="0" indent="0">
              <a:lnSpc>
                <a:spcPct val="100000"/>
              </a:lnSpc>
              <a:buNone/>
              <a:defRPr sz="35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9" name="Text Placeholder 4">
            <a:extLst>
              <a:ext uri="{FF2B5EF4-FFF2-40B4-BE49-F238E27FC236}">
                <a16:creationId xmlns:a16="http://schemas.microsoft.com/office/drawing/2014/main" id="{96BCAB1D-A078-3B44-8209-D10AAB1B4ECE}"/>
              </a:ext>
            </a:extLst>
          </p:cNvPr>
          <p:cNvSpPr>
            <a:spLocks noGrp="1"/>
          </p:cNvSpPr>
          <p:nvPr>
            <p:ph type="body" sz="quarter" idx="11" hasCustomPrompt="1"/>
          </p:nvPr>
        </p:nvSpPr>
        <p:spPr>
          <a:xfrm>
            <a:off x="4431445" y="3455232"/>
            <a:ext cx="7090679" cy="451445"/>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pic>
        <p:nvPicPr>
          <p:cNvPr id="10" name="Picture 9" descr="Logo&#10;&#10;Description automatically generated">
            <a:extLst>
              <a:ext uri="{FF2B5EF4-FFF2-40B4-BE49-F238E27FC236}">
                <a16:creationId xmlns:a16="http://schemas.microsoft.com/office/drawing/2014/main" id="{E0B177BC-29FF-52FA-7227-E8605AA7787D}"/>
              </a:ext>
            </a:extLst>
          </p:cNvPr>
          <p:cNvPicPr>
            <a:picLocks noChangeAspect="1"/>
          </p:cNvPicPr>
          <p:nvPr userDrawn="1"/>
        </p:nvPicPr>
        <p:blipFill>
          <a:blip r:embed="rId2"/>
          <a:stretch>
            <a:fillRect/>
          </a:stretch>
        </p:blipFill>
        <p:spPr>
          <a:xfrm>
            <a:off x="332073" y="2761691"/>
            <a:ext cx="3579992" cy="1328565"/>
          </a:xfrm>
          <a:prstGeom prst="rect">
            <a:avLst/>
          </a:prstGeom>
        </p:spPr>
      </p:pic>
    </p:spTree>
    <p:extLst>
      <p:ext uri="{BB962C8B-B14F-4D97-AF65-F5344CB8AC3E}">
        <p14:creationId xmlns:p14="http://schemas.microsoft.com/office/powerpoint/2010/main" val="3567854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967F320-5AE5-D042-86D8-CE794E5A0F25}"/>
              </a:ext>
            </a:extLst>
          </p:cNvPr>
          <p:cNvSpPr/>
          <p:nvPr userDrawn="1"/>
        </p:nvSpPr>
        <p:spPr>
          <a:xfrm>
            <a:off x="0" y="0"/>
            <a:ext cx="12192000" cy="68580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33333"/>
              </a:solidFill>
            </a:endParaRPr>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550657" y="2817566"/>
            <a:ext cx="7090687" cy="487766"/>
          </a:xfrm>
          <a:prstGeom prst="rect">
            <a:avLst/>
          </a:prstGeom>
        </p:spPr>
        <p:txBody>
          <a:bodyPr/>
          <a:lstStyle>
            <a:lvl1pPr marL="0" indent="0" algn="ctr">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CHAPTER SLIDE</a:t>
            </a:r>
          </a:p>
        </p:txBody>
      </p:sp>
      <p:sp>
        <p:nvSpPr>
          <p:cNvPr id="20" name="TextBox 19">
            <a:extLst>
              <a:ext uri="{FF2B5EF4-FFF2-40B4-BE49-F238E27FC236}">
                <a16:creationId xmlns:a16="http://schemas.microsoft.com/office/drawing/2014/main" id="{4784ECD9-B61F-784F-9770-D4B175D9C6CB}"/>
              </a:ext>
            </a:extLst>
          </p:cNvPr>
          <p:cNvSpPr txBox="1"/>
          <p:nvPr userDrawn="1"/>
        </p:nvSpPr>
        <p:spPr>
          <a:xfrm>
            <a:off x="10437105" y="6479331"/>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 name="Straight Connector 6">
            <a:extLst>
              <a:ext uri="{FF2B5EF4-FFF2-40B4-BE49-F238E27FC236}">
                <a16:creationId xmlns:a16="http://schemas.microsoft.com/office/drawing/2014/main" id="{CFA4392F-FF99-3544-85FD-8E529929B35B}"/>
              </a:ext>
            </a:extLst>
          </p:cNvPr>
          <p:cNvCxnSpPr>
            <a:cxnSpLocks/>
          </p:cNvCxnSpPr>
          <p:nvPr userDrawn="1"/>
        </p:nvCxnSpPr>
        <p:spPr>
          <a:xfrm flipH="1">
            <a:off x="5789167" y="3480245"/>
            <a:ext cx="604138" cy="0"/>
          </a:xfrm>
          <a:prstGeom prst="line">
            <a:avLst/>
          </a:prstGeom>
          <a:ln w="57150">
            <a:solidFill>
              <a:srgbClr val="23BDC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7932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967F320-5AE5-D042-86D8-CE794E5A0F25}"/>
              </a:ext>
            </a:extLst>
          </p:cNvPr>
          <p:cNvSpPr/>
          <p:nvPr userDrawn="1"/>
        </p:nvSpPr>
        <p:spPr>
          <a:xfrm>
            <a:off x="0" y="0"/>
            <a:ext cx="12192000" cy="6858000"/>
          </a:xfrm>
          <a:prstGeom prst="rect">
            <a:avLst/>
          </a:prstGeom>
          <a:solidFill>
            <a:srgbClr val="827B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550657" y="2817566"/>
            <a:ext cx="7090687" cy="487766"/>
          </a:xfrm>
          <a:prstGeom prst="rect">
            <a:avLst/>
          </a:prstGeom>
        </p:spPr>
        <p:txBody>
          <a:bodyPr/>
          <a:lstStyle>
            <a:lvl1pPr marL="0" indent="0" algn="ctr">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CHAPTER SLIDE</a:t>
            </a:r>
          </a:p>
        </p:txBody>
      </p:sp>
      <p:sp>
        <p:nvSpPr>
          <p:cNvPr id="20" name="TextBox 19">
            <a:extLst>
              <a:ext uri="{FF2B5EF4-FFF2-40B4-BE49-F238E27FC236}">
                <a16:creationId xmlns:a16="http://schemas.microsoft.com/office/drawing/2014/main" id="{4784ECD9-B61F-784F-9770-D4B175D9C6CB}"/>
              </a:ext>
            </a:extLst>
          </p:cNvPr>
          <p:cNvSpPr txBox="1"/>
          <p:nvPr userDrawn="1"/>
        </p:nvSpPr>
        <p:spPr>
          <a:xfrm>
            <a:off x="10437105" y="6479331"/>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 name="Straight Connector 6">
            <a:extLst>
              <a:ext uri="{FF2B5EF4-FFF2-40B4-BE49-F238E27FC236}">
                <a16:creationId xmlns:a16="http://schemas.microsoft.com/office/drawing/2014/main" id="{CFA4392F-FF99-3544-85FD-8E529929B35B}"/>
              </a:ext>
            </a:extLst>
          </p:cNvPr>
          <p:cNvCxnSpPr>
            <a:cxnSpLocks/>
          </p:cNvCxnSpPr>
          <p:nvPr userDrawn="1"/>
        </p:nvCxnSpPr>
        <p:spPr>
          <a:xfrm flipH="1">
            <a:off x="5789167" y="3480245"/>
            <a:ext cx="604138" cy="0"/>
          </a:xfrm>
          <a:prstGeom prst="line">
            <a:avLst/>
          </a:prstGeom>
          <a:ln w="57150">
            <a:solidFill>
              <a:srgbClr val="23BDC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8169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907113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5F4EEC9-319B-2B48-ACCF-4D84031B8D47}"/>
              </a:ext>
            </a:extLst>
          </p:cNvPr>
          <p:cNvSpPr/>
          <p:nvPr userDrawn="1"/>
        </p:nvSpPr>
        <p:spPr>
          <a:xfrm>
            <a:off x="0" y="0"/>
            <a:ext cx="5044190" cy="6865949"/>
          </a:xfrm>
          <a:prstGeom prst="rect">
            <a:avLst/>
          </a:prstGeom>
          <a:solidFill>
            <a:srgbClr val="F2ED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99803" y="2883831"/>
            <a:ext cx="4527030" cy="607686"/>
          </a:xfrm>
          <a:prstGeom prst="rect">
            <a:avLst/>
          </a:prstGeom>
        </p:spPr>
        <p:txBody>
          <a:bodyPr/>
          <a:lstStyle>
            <a:lvl1pPr marL="0" indent="0" algn="l">
              <a:lnSpc>
                <a:spcPct val="100000"/>
              </a:lnSpc>
              <a:buNone/>
              <a:defRPr sz="35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5" name="TextBox 4">
            <a:extLst>
              <a:ext uri="{FF2B5EF4-FFF2-40B4-BE49-F238E27FC236}">
                <a16:creationId xmlns:a16="http://schemas.microsoft.com/office/drawing/2014/main" id="{F448D0B5-4181-D043-A806-CC2429EDDAFF}"/>
              </a:ext>
            </a:extLst>
          </p:cNvPr>
          <p:cNvSpPr txBox="1"/>
          <p:nvPr userDrawn="1"/>
        </p:nvSpPr>
        <p:spPr>
          <a:xfrm>
            <a:off x="10437105" y="6479331"/>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Rectangle 5">
            <a:extLst>
              <a:ext uri="{FF2B5EF4-FFF2-40B4-BE49-F238E27FC236}">
                <a16:creationId xmlns:a16="http://schemas.microsoft.com/office/drawing/2014/main" id="{C9150272-1CCA-8449-9227-24DEC0FAB4B7}"/>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28FB7E7-D90F-2348-A4AE-5B0C5AFD2BA6}"/>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 Placeholder 2">
            <a:extLst>
              <a:ext uri="{FF2B5EF4-FFF2-40B4-BE49-F238E27FC236}">
                <a16:creationId xmlns:a16="http://schemas.microsoft.com/office/drawing/2014/main" id="{5BA10B5C-1A60-854F-A2BC-1DE16973237A}"/>
              </a:ext>
            </a:extLst>
          </p:cNvPr>
          <p:cNvSpPr>
            <a:spLocks noGrp="1"/>
          </p:cNvSpPr>
          <p:nvPr>
            <p:ph type="body" sz="quarter" idx="11"/>
          </p:nvPr>
        </p:nvSpPr>
        <p:spPr>
          <a:xfrm>
            <a:off x="5659438" y="958850"/>
            <a:ext cx="6048375" cy="4618038"/>
          </a:xfrm>
          <a:prstGeom prst="rect">
            <a:avLst/>
          </a:prstGeom>
        </p:spPr>
        <p:txBody>
          <a:bodyPr/>
          <a:lstStyle>
            <a:lvl1pPr>
              <a:defRPr sz="1400">
                <a:solidFill>
                  <a:srgbClr val="333333"/>
                </a:solidFill>
              </a:defRPr>
            </a:lvl1pPr>
            <a:lvl2pPr>
              <a:defRPr sz="1400">
                <a:solidFill>
                  <a:srgbClr val="333333"/>
                </a:solidFill>
              </a:defRPr>
            </a:lvl2pPr>
            <a:lvl3pPr>
              <a:defRPr sz="1400">
                <a:solidFill>
                  <a:srgbClr val="333333"/>
                </a:solidFill>
              </a:defRPr>
            </a:lvl3pPr>
            <a:lvl4pPr>
              <a:defRPr sz="1400">
                <a:solidFill>
                  <a:srgbClr val="333333"/>
                </a:solidFill>
              </a:defRPr>
            </a:lvl4pPr>
            <a:lvl5pPr>
              <a:defRPr sz="1400">
                <a:solidFill>
                  <a:srgbClr val="333333"/>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1" name="Picture 10" descr="Text, logo&#10;&#10;Description automatically generated with medium confidence">
            <a:extLst>
              <a:ext uri="{FF2B5EF4-FFF2-40B4-BE49-F238E27FC236}">
                <a16:creationId xmlns:a16="http://schemas.microsoft.com/office/drawing/2014/main" id="{7D161221-D47B-B4B2-CF3F-A4ED4C56F533}"/>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3784594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4C23AD14-46E2-1D4B-8A4B-409625035B3A}"/>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16" name="Text Placeholder 4">
            <a:extLst>
              <a:ext uri="{FF2B5EF4-FFF2-40B4-BE49-F238E27FC236}">
                <a16:creationId xmlns:a16="http://schemas.microsoft.com/office/drawing/2014/main" id="{529DEE64-287E-6645-B445-4B56A0B3EB92}"/>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19" name="Text Placeholder 4">
            <a:extLst>
              <a:ext uri="{FF2B5EF4-FFF2-40B4-BE49-F238E27FC236}">
                <a16:creationId xmlns:a16="http://schemas.microsoft.com/office/drawing/2014/main" id="{F4C3A522-6210-904D-83F1-7D21B01E8B13}"/>
              </a:ext>
            </a:extLst>
          </p:cNvPr>
          <p:cNvSpPr>
            <a:spLocks noGrp="1"/>
          </p:cNvSpPr>
          <p:nvPr>
            <p:ph type="body" sz="quarter" idx="13" hasCustomPrompt="1"/>
          </p:nvPr>
        </p:nvSpPr>
        <p:spPr>
          <a:xfrm>
            <a:off x="1482294" y="1787345"/>
            <a:ext cx="9440069" cy="1235091"/>
          </a:xfrm>
          <a:prstGeom prst="rect">
            <a:avLst/>
          </a:prstGeom>
        </p:spPr>
        <p:txBody>
          <a:bodyPr/>
          <a:lstStyle>
            <a:lvl1pPr marL="0" indent="0">
              <a:lnSpc>
                <a:spcPct val="150000"/>
              </a:lnSpc>
              <a:buNone/>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err="1"/>
              <a:t>Nequianihil</a:t>
            </a:r>
            <a:r>
              <a:rPr lang="en-US" dirty="0"/>
              <a:t> </a:t>
            </a:r>
            <a:r>
              <a:rPr lang="en-US" dirty="0" err="1"/>
              <a:t>eos</a:t>
            </a:r>
            <a:r>
              <a:rPr lang="en-US" dirty="0"/>
              <a:t> </a:t>
            </a:r>
            <a:r>
              <a:rPr lang="en-US" dirty="0" err="1"/>
              <a:t>aut</a:t>
            </a:r>
            <a:r>
              <a:rPr lang="en-US" dirty="0"/>
              <a:t> </a:t>
            </a:r>
            <a:r>
              <a:rPr lang="en-US" dirty="0" err="1"/>
              <a:t>hiligent</a:t>
            </a:r>
            <a:r>
              <a:rPr lang="en-US" dirty="0"/>
              <a:t> </a:t>
            </a:r>
            <a:r>
              <a:rPr lang="en-US" dirty="0" err="1"/>
              <a:t>fuga</a:t>
            </a:r>
            <a:r>
              <a:rPr lang="en-US" dirty="0"/>
              <a:t>. </a:t>
            </a:r>
            <a:r>
              <a:rPr lang="en-US" dirty="0" err="1"/>
              <a:t>Poressincti</a:t>
            </a:r>
            <a:r>
              <a:rPr lang="en-US" dirty="0"/>
              <a:t> </a:t>
            </a:r>
            <a:r>
              <a:rPr lang="en-US" dirty="0" err="1"/>
              <a:t>voluptatur</a:t>
            </a:r>
            <a:r>
              <a:rPr lang="en-US" dirty="0"/>
              <a:t>? 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utecten</a:t>
            </a:r>
            <a:r>
              <a:rPr lang="en-US" dirty="0"/>
              <a:t> </a:t>
            </a:r>
            <a:r>
              <a:rPr lang="en-US" dirty="0" err="1"/>
              <a:t>imaion</a:t>
            </a:r>
            <a:r>
              <a:rPr lang="en-US" dirty="0"/>
              <a:t> </a:t>
            </a:r>
            <a:r>
              <a:rPr lang="en-US" dirty="0" err="1"/>
              <a:t>nimil</a:t>
            </a:r>
            <a:r>
              <a:rPr lang="en-US" dirty="0"/>
              <a:t> is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p:txBody>
      </p:sp>
      <p:sp>
        <p:nvSpPr>
          <p:cNvPr id="12" name="Text Placeholder 4">
            <a:extLst>
              <a:ext uri="{FF2B5EF4-FFF2-40B4-BE49-F238E27FC236}">
                <a16:creationId xmlns:a16="http://schemas.microsoft.com/office/drawing/2014/main" id="{E9DB1872-B742-DB47-8D54-1CAE471D6158}"/>
              </a:ext>
            </a:extLst>
          </p:cNvPr>
          <p:cNvSpPr>
            <a:spLocks noGrp="1"/>
          </p:cNvSpPr>
          <p:nvPr>
            <p:ph type="body" sz="quarter" idx="14" hasCustomPrompt="1"/>
          </p:nvPr>
        </p:nvSpPr>
        <p:spPr>
          <a:xfrm>
            <a:off x="1954661" y="3194155"/>
            <a:ext cx="8855277" cy="1830514"/>
          </a:xfrm>
          <a:prstGeom prst="rect">
            <a:avLst/>
          </a:prstGeom>
        </p:spPr>
        <p:txBody>
          <a:bodyPr/>
          <a:lstStyle>
            <a:lvl1pPr marL="285750" indent="-285750">
              <a:lnSpc>
                <a:spcPct val="100000"/>
              </a:lnSpc>
              <a:buClr>
                <a:schemeClr val="bg1">
                  <a:lumMod val="65000"/>
                </a:schemeClr>
              </a:buClr>
              <a:buFont typeface="Arial" panose="020B0604020202020204" pitchFamily="34" charset="0"/>
              <a:buChar char="•"/>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lvl="0"/>
            <a:r>
              <a:rPr lang="en-US" dirty="0"/>
              <a:t>Bullet font &amp; style</a:t>
            </a:r>
          </a:p>
        </p:txBody>
      </p:sp>
      <p:sp>
        <p:nvSpPr>
          <p:cNvPr id="9" name="Rectangle 8">
            <a:extLst>
              <a:ext uri="{FF2B5EF4-FFF2-40B4-BE49-F238E27FC236}">
                <a16:creationId xmlns:a16="http://schemas.microsoft.com/office/drawing/2014/main" id="{3D0A4229-FF8F-9046-994A-DF523BB38772}"/>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A5B753B-3717-97EA-9FBC-46F61CA647C6}"/>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descr="Text, logo&#10;&#10;Description automatically generated with medium confidence">
            <a:extLst>
              <a:ext uri="{FF2B5EF4-FFF2-40B4-BE49-F238E27FC236}">
                <a16:creationId xmlns:a16="http://schemas.microsoft.com/office/drawing/2014/main" id="{FA25CD65-AEA4-4A70-EEE6-1024C217C17A}"/>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1093059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8" name="Text Placeholder 4">
            <a:extLst>
              <a:ext uri="{FF2B5EF4-FFF2-40B4-BE49-F238E27FC236}">
                <a16:creationId xmlns:a16="http://schemas.microsoft.com/office/drawing/2014/main" id="{B7199545-5A00-9E47-B070-8E3B44DC8F57}"/>
              </a:ext>
            </a:extLst>
          </p:cNvPr>
          <p:cNvSpPr>
            <a:spLocks noGrp="1"/>
          </p:cNvSpPr>
          <p:nvPr>
            <p:ph type="body" sz="quarter" idx="12" hasCustomPrompt="1"/>
          </p:nvPr>
        </p:nvSpPr>
        <p:spPr>
          <a:xfrm>
            <a:off x="1482295" y="1920541"/>
            <a:ext cx="9227410" cy="418612"/>
          </a:xfrm>
          <a:prstGeom prst="rect">
            <a:avLst/>
          </a:prstGeom>
        </p:spPr>
        <p:txBody>
          <a:bodyPr/>
          <a:lstStyle>
            <a:lvl1pPr marL="0" indent="0">
              <a:lnSpc>
                <a:spcPct val="100000"/>
              </a:lnSpc>
              <a:buNone/>
              <a:defRPr sz="18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Subtitle</a:t>
            </a:r>
          </a:p>
        </p:txBody>
      </p:sp>
      <p:sp>
        <p:nvSpPr>
          <p:cNvPr id="19" name="Text Placeholder 4">
            <a:extLst>
              <a:ext uri="{FF2B5EF4-FFF2-40B4-BE49-F238E27FC236}">
                <a16:creationId xmlns:a16="http://schemas.microsoft.com/office/drawing/2014/main" id="{F4C3A522-6210-904D-83F1-7D21B01E8B13}"/>
              </a:ext>
            </a:extLst>
          </p:cNvPr>
          <p:cNvSpPr>
            <a:spLocks noGrp="1"/>
          </p:cNvSpPr>
          <p:nvPr>
            <p:ph type="body" sz="quarter" idx="13" hasCustomPrompt="1"/>
          </p:nvPr>
        </p:nvSpPr>
        <p:spPr>
          <a:xfrm>
            <a:off x="1482295" y="2358704"/>
            <a:ext cx="9227410" cy="2373542"/>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err="1"/>
              <a:t>Nequianihil</a:t>
            </a:r>
            <a:r>
              <a:rPr lang="en-US" dirty="0"/>
              <a:t> </a:t>
            </a:r>
            <a:r>
              <a:rPr lang="en-US" dirty="0" err="1"/>
              <a:t>eos</a:t>
            </a:r>
            <a:r>
              <a:rPr lang="en-US" dirty="0"/>
              <a:t> </a:t>
            </a:r>
            <a:r>
              <a:rPr lang="en-US" dirty="0" err="1"/>
              <a:t>aut</a:t>
            </a:r>
            <a:r>
              <a:rPr lang="en-US" dirty="0"/>
              <a:t> </a:t>
            </a:r>
            <a:r>
              <a:rPr lang="en-US" dirty="0" err="1"/>
              <a:t>hiligent</a:t>
            </a:r>
            <a:r>
              <a:rPr lang="en-US" dirty="0"/>
              <a:t> </a:t>
            </a:r>
            <a:r>
              <a:rPr lang="en-US" dirty="0" err="1"/>
              <a:t>fuga</a:t>
            </a:r>
            <a:r>
              <a:rPr lang="en-US" dirty="0"/>
              <a:t>. </a:t>
            </a:r>
            <a:r>
              <a:rPr lang="en-US" dirty="0" err="1"/>
              <a:t>Poressincti</a:t>
            </a:r>
            <a:r>
              <a:rPr lang="en-US" dirty="0"/>
              <a:t> </a:t>
            </a:r>
            <a:r>
              <a:rPr lang="en-US" dirty="0" err="1"/>
              <a:t>voluptatur</a:t>
            </a:r>
            <a:r>
              <a:rPr lang="en-US" dirty="0"/>
              <a:t>? 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utecten</a:t>
            </a:r>
            <a:r>
              <a:rPr lang="en-US" dirty="0"/>
              <a:t> </a:t>
            </a:r>
            <a:r>
              <a:rPr lang="en-US" dirty="0" err="1"/>
              <a:t>imaion</a:t>
            </a:r>
            <a:r>
              <a:rPr lang="en-US" dirty="0"/>
              <a:t> </a:t>
            </a:r>
            <a:r>
              <a:rPr lang="en-US" dirty="0" err="1"/>
              <a:t>nimil</a:t>
            </a:r>
            <a:r>
              <a:rPr lang="en-US" dirty="0"/>
              <a:t> is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a:t> </a:t>
            </a:r>
            <a:r>
              <a:rPr lang="en-US" dirty="0" err="1"/>
              <a:t>Nequianihil</a:t>
            </a:r>
            <a:r>
              <a:rPr lang="en-US" dirty="0"/>
              <a:t> </a:t>
            </a:r>
            <a:r>
              <a:rPr lang="en-US" dirty="0" err="1"/>
              <a:t>eos</a:t>
            </a:r>
            <a:r>
              <a:rPr lang="en-US" dirty="0"/>
              <a:t> </a:t>
            </a:r>
            <a:r>
              <a:rPr lang="en-US" dirty="0" err="1"/>
              <a:t>aut</a:t>
            </a:r>
            <a:r>
              <a:rPr lang="en-US" dirty="0"/>
              <a:t> </a:t>
            </a:r>
            <a:r>
              <a:rPr lang="en-US" dirty="0" err="1"/>
              <a:t>hiligent</a:t>
            </a:r>
            <a:r>
              <a:rPr lang="en-US" dirty="0"/>
              <a:t> </a:t>
            </a:r>
            <a:r>
              <a:rPr lang="en-US" dirty="0" err="1"/>
              <a:t>fuga</a:t>
            </a:r>
            <a:r>
              <a:rPr lang="en-US" dirty="0"/>
              <a:t>. </a:t>
            </a:r>
            <a:r>
              <a:rPr lang="en-US" dirty="0" err="1"/>
              <a:t>Poressincti</a:t>
            </a:r>
            <a:r>
              <a:rPr lang="en-US" dirty="0"/>
              <a:t> </a:t>
            </a:r>
            <a:r>
              <a:rPr lang="en-US" dirty="0" err="1"/>
              <a:t>voluptatur</a:t>
            </a:r>
            <a:r>
              <a:rPr lang="en-US" dirty="0"/>
              <a:t>? 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utecten</a:t>
            </a:r>
            <a:r>
              <a:rPr lang="en-US" dirty="0"/>
              <a:t> </a:t>
            </a:r>
            <a:r>
              <a:rPr lang="en-US" dirty="0" err="1"/>
              <a:t>imaion</a:t>
            </a:r>
            <a:r>
              <a:rPr lang="en-US" dirty="0"/>
              <a:t> </a:t>
            </a:r>
            <a:r>
              <a:rPr lang="en-US" dirty="0" err="1"/>
              <a:t>nimil</a:t>
            </a:r>
            <a:r>
              <a:rPr lang="en-US" dirty="0"/>
              <a:t> is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a:p>
            <a:pPr lvl="0"/>
            <a:endParaRPr lang="en-US" dirty="0"/>
          </a:p>
        </p:txBody>
      </p:sp>
      <p:sp>
        <p:nvSpPr>
          <p:cNvPr id="13" name="Text Placeholder 4">
            <a:extLst>
              <a:ext uri="{FF2B5EF4-FFF2-40B4-BE49-F238E27FC236}">
                <a16:creationId xmlns:a16="http://schemas.microsoft.com/office/drawing/2014/main" id="{E67B1BB2-660D-E148-A6EE-55FD142ABF71}"/>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20" name="Text Placeholder 4">
            <a:extLst>
              <a:ext uri="{FF2B5EF4-FFF2-40B4-BE49-F238E27FC236}">
                <a16:creationId xmlns:a16="http://schemas.microsoft.com/office/drawing/2014/main" id="{2739A6D5-0DEE-DA49-9CB1-48D3360FC306}"/>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9" name="Rectangle 8">
            <a:extLst>
              <a:ext uri="{FF2B5EF4-FFF2-40B4-BE49-F238E27FC236}">
                <a16:creationId xmlns:a16="http://schemas.microsoft.com/office/drawing/2014/main" id="{D35D78C4-7EE3-B7E2-0E2B-67CA9980C975}"/>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D8BDB6E-E454-6585-DB7B-846C32CA6225}"/>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descr="Text, logo&#10;&#10;Description automatically generated with medium confidence">
            <a:extLst>
              <a:ext uri="{FF2B5EF4-FFF2-40B4-BE49-F238E27FC236}">
                <a16:creationId xmlns:a16="http://schemas.microsoft.com/office/drawing/2014/main" id="{4C008AC3-6217-FA54-905D-3F94AE47611C}"/>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4072820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ED238C3E-378B-9A4D-BC39-006D2B017B8E}"/>
              </a:ext>
            </a:extLst>
          </p:cNvPr>
          <p:cNvSpPr>
            <a:spLocks noGrp="1"/>
          </p:cNvSpPr>
          <p:nvPr>
            <p:ph type="body" sz="quarter" idx="14" hasCustomPrompt="1"/>
          </p:nvPr>
        </p:nvSpPr>
        <p:spPr>
          <a:xfrm>
            <a:off x="1482295" y="2513743"/>
            <a:ext cx="9440069" cy="1830514"/>
          </a:xfrm>
          <a:prstGeom prst="rect">
            <a:avLst/>
          </a:prstGeom>
        </p:spPr>
        <p:txBody>
          <a:bodyPr/>
          <a:lstStyle>
            <a:lvl1pPr marL="285750" indent="-285750">
              <a:lnSpc>
                <a:spcPct val="100000"/>
              </a:lnSpc>
              <a:buClr>
                <a:schemeClr val="bg1">
                  <a:lumMod val="65000"/>
                </a:schemeClr>
              </a:buClr>
              <a:buFont typeface="Arial" panose="020B0604020202020204" pitchFamily="34" charset="0"/>
              <a:buChar char="•"/>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lvl="0"/>
            <a:r>
              <a:rPr lang="en-US" dirty="0"/>
              <a:t>Bullet font &amp; style</a:t>
            </a:r>
          </a:p>
        </p:txBody>
      </p:sp>
      <p:sp>
        <p:nvSpPr>
          <p:cNvPr id="22" name="Text Placeholder 4">
            <a:extLst>
              <a:ext uri="{FF2B5EF4-FFF2-40B4-BE49-F238E27FC236}">
                <a16:creationId xmlns:a16="http://schemas.microsoft.com/office/drawing/2014/main" id="{4DFCCEE5-FDE9-6343-AD3D-69929C473F32}"/>
              </a:ext>
            </a:extLst>
          </p:cNvPr>
          <p:cNvSpPr>
            <a:spLocks noGrp="1"/>
          </p:cNvSpPr>
          <p:nvPr>
            <p:ph type="body" sz="quarter" idx="12" hasCustomPrompt="1"/>
          </p:nvPr>
        </p:nvSpPr>
        <p:spPr>
          <a:xfrm>
            <a:off x="1482294" y="2095131"/>
            <a:ext cx="9440069" cy="418612"/>
          </a:xfrm>
          <a:prstGeom prst="rect">
            <a:avLst/>
          </a:prstGeom>
        </p:spPr>
        <p:txBody>
          <a:bodyPr/>
          <a:lstStyle>
            <a:lvl1pPr marL="0" indent="0">
              <a:lnSpc>
                <a:spcPct val="100000"/>
              </a:lnSpc>
              <a:buNone/>
              <a:defRPr sz="18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Subtitle</a:t>
            </a:r>
          </a:p>
        </p:txBody>
      </p:sp>
      <p:sp>
        <p:nvSpPr>
          <p:cNvPr id="19" name="Text Placeholder 4">
            <a:extLst>
              <a:ext uri="{FF2B5EF4-FFF2-40B4-BE49-F238E27FC236}">
                <a16:creationId xmlns:a16="http://schemas.microsoft.com/office/drawing/2014/main" id="{3BA43D8B-7DAF-B848-8B71-944C89C1F0F6}"/>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23" name="Text Placeholder 4">
            <a:extLst>
              <a:ext uri="{FF2B5EF4-FFF2-40B4-BE49-F238E27FC236}">
                <a16:creationId xmlns:a16="http://schemas.microsoft.com/office/drawing/2014/main" id="{BBD1B11C-9EF3-864D-A5AD-5E531D2EF372}"/>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9" name="Rectangle 8">
            <a:extLst>
              <a:ext uri="{FF2B5EF4-FFF2-40B4-BE49-F238E27FC236}">
                <a16:creationId xmlns:a16="http://schemas.microsoft.com/office/drawing/2014/main" id="{5FFB9C9F-CA81-F85E-CC19-D6BA73ECADE1}"/>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9BD1351-CB47-C714-9B0E-D2BF4D506BDD}"/>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descr="Text, logo&#10;&#10;Description automatically generated with medium confidence">
            <a:extLst>
              <a:ext uri="{FF2B5EF4-FFF2-40B4-BE49-F238E27FC236}">
                <a16:creationId xmlns:a16="http://schemas.microsoft.com/office/drawing/2014/main" id="{97CEAAFD-21A6-58FE-BF67-563183020A7C}"/>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1253695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E9F87B-916F-C84A-BAA3-66B0FA036B8F}"/>
              </a:ext>
            </a:extLst>
          </p:cNvPr>
          <p:cNvCxnSpPr>
            <a:cxnSpLocks/>
          </p:cNvCxnSpPr>
          <p:nvPr userDrawn="1"/>
        </p:nvCxnSpPr>
        <p:spPr>
          <a:xfrm>
            <a:off x="6326377" y="2314478"/>
            <a:ext cx="0" cy="22596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 Placeholder 4">
            <a:extLst>
              <a:ext uri="{FF2B5EF4-FFF2-40B4-BE49-F238E27FC236}">
                <a16:creationId xmlns:a16="http://schemas.microsoft.com/office/drawing/2014/main" id="{8D272A65-5E8D-9E4F-B01B-E2B4B581CA5E}"/>
              </a:ext>
            </a:extLst>
          </p:cNvPr>
          <p:cNvSpPr>
            <a:spLocks noGrp="1"/>
          </p:cNvSpPr>
          <p:nvPr>
            <p:ph type="body" sz="quarter" idx="13" hasCustomPrompt="1"/>
          </p:nvPr>
        </p:nvSpPr>
        <p:spPr>
          <a:xfrm>
            <a:off x="1482295" y="2743642"/>
            <a:ext cx="4489660" cy="1830514"/>
          </a:xfrm>
          <a:prstGeom prst="rect">
            <a:avLst/>
          </a:prstGeom>
        </p:spPr>
        <p:txBody>
          <a:bodyPr anchor="t"/>
          <a:lstStyle>
            <a:lvl1pPr marL="0" indent="0">
              <a:lnSpc>
                <a:spcPct val="150000"/>
              </a:lnSpc>
              <a:buNone/>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p:txBody>
      </p:sp>
      <p:sp>
        <p:nvSpPr>
          <p:cNvPr id="23" name="Text Placeholder 4">
            <a:extLst>
              <a:ext uri="{FF2B5EF4-FFF2-40B4-BE49-F238E27FC236}">
                <a16:creationId xmlns:a16="http://schemas.microsoft.com/office/drawing/2014/main" id="{976561D9-84EF-F640-911A-48E5A5825EC9}"/>
              </a:ext>
            </a:extLst>
          </p:cNvPr>
          <p:cNvSpPr>
            <a:spLocks noGrp="1"/>
          </p:cNvSpPr>
          <p:nvPr>
            <p:ph type="body" sz="quarter" idx="14" hasCustomPrompt="1"/>
          </p:nvPr>
        </p:nvSpPr>
        <p:spPr>
          <a:xfrm>
            <a:off x="6677249" y="2314477"/>
            <a:ext cx="4245114" cy="2259677"/>
          </a:xfrm>
          <a:prstGeom prst="rect">
            <a:avLst/>
          </a:prstGeom>
        </p:spPr>
        <p:txBody>
          <a:bodyPr/>
          <a:lstStyle>
            <a:lvl1pPr marL="285750" marR="0" indent="-285750" algn="l" defTabSz="914400" rtl="0" eaLnBrk="1" fontAlgn="auto" latinLnBrk="0" hangingPunct="1">
              <a:lnSpc>
                <a:spcPct val="100000"/>
              </a:lnSpc>
              <a:spcBef>
                <a:spcPts val="1000"/>
              </a:spcBef>
              <a:spcAft>
                <a:spcPts val="0"/>
              </a:spcAft>
              <a:buClr>
                <a:schemeClr val="bg1">
                  <a:lumMod val="65000"/>
                </a:schemeClr>
              </a:buClr>
              <a:buSzTx/>
              <a:buFont typeface="Arial" panose="020B0604020202020204" pitchFamily="34" charset="0"/>
              <a:buChar char="•"/>
              <a:tabLst/>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marL="285750" marR="0" lvl="0" indent="-285750" algn="l" defTabSz="914400" rtl="0" eaLnBrk="1" fontAlgn="auto" latinLnBrk="0" hangingPunct="1">
              <a:lnSpc>
                <a:spcPct val="100000"/>
              </a:lnSpc>
              <a:spcBef>
                <a:spcPts val="1000"/>
              </a:spcBef>
              <a:spcAft>
                <a:spcPts val="0"/>
              </a:spcAft>
              <a:buClr>
                <a:schemeClr val="bg1">
                  <a:lumMod val="65000"/>
                </a:schemeClr>
              </a:buClr>
              <a:buSzTx/>
              <a:buFont typeface="Arial" panose="020B0604020202020204" pitchFamily="34" charset="0"/>
              <a:buChar char="•"/>
              <a:tabLst/>
              <a:defRPr/>
            </a:pPr>
            <a:r>
              <a:rPr lang="en-US" dirty="0"/>
              <a:t>Bullet font &amp; style</a:t>
            </a:r>
          </a:p>
          <a:p>
            <a:pPr lvl="0"/>
            <a:endParaRPr lang="en-US" dirty="0"/>
          </a:p>
        </p:txBody>
      </p:sp>
      <p:sp>
        <p:nvSpPr>
          <p:cNvPr id="24" name="Text Placeholder 4">
            <a:extLst>
              <a:ext uri="{FF2B5EF4-FFF2-40B4-BE49-F238E27FC236}">
                <a16:creationId xmlns:a16="http://schemas.microsoft.com/office/drawing/2014/main" id="{B81FE41B-EBBD-6041-9A4C-F9A9B7F3BEE5}"/>
              </a:ext>
            </a:extLst>
          </p:cNvPr>
          <p:cNvSpPr>
            <a:spLocks noGrp="1"/>
          </p:cNvSpPr>
          <p:nvPr>
            <p:ph type="body" sz="quarter" idx="12" hasCustomPrompt="1"/>
          </p:nvPr>
        </p:nvSpPr>
        <p:spPr>
          <a:xfrm>
            <a:off x="1482295" y="2314478"/>
            <a:ext cx="4489660" cy="418612"/>
          </a:xfrm>
          <a:prstGeom prst="rect">
            <a:avLst/>
          </a:prstGeom>
        </p:spPr>
        <p:txBody>
          <a:bodyPr/>
          <a:lstStyle>
            <a:lvl1pPr marL="0" indent="0">
              <a:lnSpc>
                <a:spcPct val="100000"/>
              </a:lnSpc>
              <a:buNone/>
              <a:defRPr sz="18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Subtitle</a:t>
            </a:r>
          </a:p>
        </p:txBody>
      </p:sp>
      <p:sp>
        <p:nvSpPr>
          <p:cNvPr id="15" name="Text Placeholder 4">
            <a:extLst>
              <a:ext uri="{FF2B5EF4-FFF2-40B4-BE49-F238E27FC236}">
                <a16:creationId xmlns:a16="http://schemas.microsoft.com/office/drawing/2014/main" id="{A1D62A33-FB6C-D743-A9CC-BE967541A576}"/>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16" name="Text Placeholder 4">
            <a:extLst>
              <a:ext uri="{FF2B5EF4-FFF2-40B4-BE49-F238E27FC236}">
                <a16:creationId xmlns:a16="http://schemas.microsoft.com/office/drawing/2014/main" id="{724D97CF-DB1F-6B4F-A197-B37FD3B90852}"/>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11" name="Rectangle 10">
            <a:extLst>
              <a:ext uri="{FF2B5EF4-FFF2-40B4-BE49-F238E27FC236}">
                <a16:creationId xmlns:a16="http://schemas.microsoft.com/office/drawing/2014/main" id="{070EE1B7-D461-EF44-CDFE-AD435E0CE69F}"/>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CC92C76-90ED-9584-0DA9-217CD4F241C4}"/>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3" name="Picture 12" descr="Text, logo&#10;&#10;Description automatically generated with medium confidence">
            <a:extLst>
              <a:ext uri="{FF2B5EF4-FFF2-40B4-BE49-F238E27FC236}">
                <a16:creationId xmlns:a16="http://schemas.microsoft.com/office/drawing/2014/main" id="{4EBB3FB3-6F68-B815-C404-B1E6E95B3E66}"/>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2002356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E8A1558-176E-2E42-AE01-B08F9313D8B2}"/>
              </a:ext>
            </a:extLst>
          </p:cNvPr>
          <p:cNvPicPr>
            <a:picLocks noChangeAspect="1"/>
          </p:cNvPicPr>
          <p:nvPr userDrawn="1"/>
        </p:nvPicPr>
        <p:blipFill rotWithShape="1">
          <a:blip r:embed="rId2"/>
          <a:srcRect b="17209"/>
          <a:stretch/>
        </p:blipFill>
        <p:spPr>
          <a:xfrm>
            <a:off x="200215" y="6464476"/>
            <a:ext cx="1071993" cy="312345"/>
          </a:xfrm>
          <a:prstGeom prst="rect">
            <a:avLst/>
          </a:prstGeom>
        </p:spPr>
      </p:pic>
      <p:sp>
        <p:nvSpPr>
          <p:cNvPr id="5" name="Rectangle 4">
            <a:extLst>
              <a:ext uri="{FF2B5EF4-FFF2-40B4-BE49-F238E27FC236}">
                <a16:creationId xmlns:a16="http://schemas.microsoft.com/office/drawing/2014/main" id="{43A5B29B-4F8E-8386-47A1-B21CC1B1FB88}"/>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2D5E85C-6D63-3FAC-EB1F-1CB7E90C7E53}"/>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7" name="Picture 6" descr="Text, logo&#10;&#10;Description automatically generated with medium confidence">
            <a:extLst>
              <a:ext uri="{FF2B5EF4-FFF2-40B4-BE49-F238E27FC236}">
                <a16:creationId xmlns:a16="http://schemas.microsoft.com/office/drawing/2014/main" id="{2F0AE2D1-FEB9-29BA-9BC1-7268C71AB389}"/>
              </a:ext>
            </a:extLst>
          </p:cNvPr>
          <p:cNvPicPr>
            <a:picLocks noChangeAspect="1"/>
          </p:cNvPicPr>
          <p:nvPr userDrawn="1"/>
        </p:nvPicPr>
        <p:blipFill>
          <a:blip r:embed="rId3"/>
          <a:stretch>
            <a:fillRect/>
          </a:stretch>
        </p:blipFill>
        <p:spPr>
          <a:xfrm>
            <a:off x="54615" y="6381370"/>
            <a:ext cx="1317688" cy="489005"/>
          </a:xfrm>
          <a:prstGeom prst="rect">
            <a:avLst/>
          </a:prstGeom>
        </p:spPr>
      </p:pic>
    </p:spTree>
    <p:extLst>
      <p:ext uri="{BB962C8B-B14F-4D97-AF65-F5344CB8AC3E}">
        <p14:creationId xmlns:p14="http://schemas.microsoft.com/office/powerpoint/2010/main" val="268065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5F4EEC9-319B-2B48-ACCF-4D84031B8D47}"/>
              </a:ext>
            </a:extLst>
          </p:cNvPr>
          <p:cNvSpPr/>
          <p:nvPr userDrawn="1"/>
        </p:nvSpPr>
        <p:spPr>
          <a:xfrm>
            <a:off x="0" y="0"/>
            <a:ext cx="12192000" cy="6858000"/>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550657" y="3019933"/>
            <a:ext cx="7090687" cy="607686"/>
          </a:xfrm>
          <a:prstGeom prst="rect">
            <a:avLst/>
          </a:prstGeom>
        </p:spPr>
        <p:txBody>
          <a:bodyPr/>
          <a:lstStyle>
            <a:lvl1pPr marL="0" indent="0" algn="ctr">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THANK  YOU.</a:t>
            </a:r>
          </a:p>
        </p:txBody>
      </p:sp>
    </p:spTree>
    <p:extLst>
      <p:ext uri="{BB962C8B-B14F-4D97-AF65-F5344CB8AC3E}">
        <p14:creationId xmlns:p14="http://schemas.microsoft.com/office/powerpoint/2010/main" val="1659442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35491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rgbClr val="003A92"/>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A6F561BD-66CC-1E4B-81C1-055DEFC834E3}"/>
              </a:ext>
            </a:extLst>
          </p:cNvPr>
          <p:cNvSpPr>
            <a:spLocks noGrp="1"/>
          </p:cNvSpPr>
          <p:nvPr>
            <p:ph type="body" sz="quarter" idx="10" hasCustomPrompt="1"/>
          </p:nvPr>
        </p:nvSpPr>
        <p:spPr>
          <a:xfrm>
            <a:off x="4431445" y="2952400"/>
            <a:ext cx="7090687" cy="510327"/>
          </a:xfrm>
          <a:prstGeom prst="rect">
            <a:avLst/>
          </a:prstGeom>
        </p:spPr>
        <p:txBody>
          <a:bodyPr/>
          <a:lstStyle>
            <a:lvl1pPr marL="0" indent="0">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12" name="Text Placeholder 4">
            <a:extLst>
              <a:ext uri="{FF2B5EF4-FFF2-40B4-BE49-F238E27FC236}">
                <a16:creationId xmlns:a16="http://schemas.microsoft.com/office/drawing/2014/main" id="{5D04E882-8A4A-2146-9EA0-F6E17AF1E7AB}"/>
              </a:ext>
            </a:extLst>
          </p:cNvPr>
          <p:cNvSpPr>
            <a:spLocks noGrp="1"/>
          </p:cNvSpPr>
          <p:nvPr>
            <p:ph type="body" sz="quarter" idx="11" hasCustomPrompt="1"/>
          </p:nvPr>
        </p:nvSpPr>
        <p:spPr>
          <a:xfrm>
            <a:off x="4431445" y="3462727"/>
            <a:ext cx="7090679" cy="451445"/>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cxnSp>
        <p:nvCxnSpPr>
          <p:cNvPr id="3" name="Straight Connector 2">
            <a:extLst>
              <a:ext uri="{FF2B5EF4-FFF2-40B4-BE49-F238E27FC236}">
                <a16:creationId xmlns:a16="http://schemas.microsoft.com/office/drawing/2014/main" id="{6B686245-579A-384D-B4F3-54028CD8C2C3}"/>
              </a:ext>
            </a:extLst>
          </p:cNvPr>
          <p:cNvCxnSpPr/>
          <p:nvPr userDrawn="1"/>
        </p:nvCxnSpPr>
        <p:spPr>
          <a:xfrm>
            <a:off x="3997843" y="2721935"/>
            <a:ext cx="0" cy="141413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descr="Text, logo&#10;&#10;Description automatically generated with medium confidence">
            <a:extLst>
              <a:ext uri="{FF2B5EF4-FFF2-40B4-BE49-F238E27FC236}">
                <a16:creationId xmlns:a16="http://schemas.microsoft.com/office/drawing/2014/main" id="{332770AC-1EC2-4D57-01D3-EB103EB9E36C}"/>
              </a:ext>
            </a:extLst>
          </p:cNvPr>
          <p:cNvPicPr>
            <a:picLocks noChangeAspect="1"/>
          </p:cNvPicPr>
          <p:nvPr userDrawn="1"/>
        </p:nvPicPr>
        <p:blipFill>
          <a:blip r:embed="rId2"/>
          <a:stretch>
            <a:fillRect/>
          </a:stretch>
        </p:blipFill>
        <p:spPr>
          <a:xfrm>
            <a:off x="333579" y="2764718"/>
            <a:ext cx="3579990" cy="1328564"/>
          </a:xfrm>
          <a:prstGeom prst="rect">
            <a:avLst/>
          </a:prstGeom>
        </p:spPr>
      </p:pic>
    </p:spTree>
    <p:extLst>
      <p:ext uri="{BB962C8B-B14F-4D97-AF65-F5344CB8AC3E}">
        <p14:creationId xmlns:p14="http://schemas.microsoft.com/office/powerpoint/2010/main" val="18691581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B686245-579A-384D-B4F3-54028CD8C2C3}"/>
              </a:ext>
            </a:extLst>
          </p:cNvPr>
          <p:cNvCxnSpPr/>
          <p:nvPr userDrawn="1"/>
        </p:nvCxnSpPr>
        <p:spPr>
          <a:xfrm>
            <a:off x="3997843" y="2721935"/>
            <a:ext cx="0" cy="141413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BA9845DE-E731-6340-9992-8BB901DA69ED}"/>
              </a:ext>
            </a:extLst>
          </p:cNvPr>
          <p:cNvSpPr>
            <a:spLocks noGrp="1"/>
          </p:cNvSpPr>
          <p:nvPr>
            <p:ph type="body" sz="quarter" idx="10" hasCustomPrompt="1"/>
          </p:nvPr>
        </p:nvSpPr>
        <p:spPr>
          <a:xfrm>
            <a:off x="4431445" y="2944905"/>
            <a:ext cx="7090687" cy="510327"/>
          </a:xfrm>
          <a:prstGeom prst="rect">
            <a:avLst/>
          </a:prstGeom>
        </p:spPr>
        <p:txBody>
          <a:bodyPr/>
          <a:lstStyle>
            <a:lvl1pPr marL="0" indent="0">
              <a:lnSpc>
                <a:spcPct val="100000"/>
              </a:lnSpc>
              <a:buNone/>
              <a:defRPr sz="35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9" name="Text Placeholder 4">
            <a:extLst>
              <a:ext uri="{FF2B5EF4-FFF2-40B4-BE49-F238E27FC236}">
                <a16:creationId xmlns:a16="http://schemas.microsoft.com/office/drawing/2014/main" id="{96BCAB1D-A078-3B44-8209-D10AAB1B4ECE}"/>
              </a:ext>
            </a:extLst>
          </p:cNvPr>
          <p:cNvSpPr>
            <a:spLocks noGrp="1"/>
          </p:cNvSpPr>
          <p:nvPr>
            <p:ph type="body" sz="quarter" idx="11" hasCustomPrompt="1"/>
          </p:nvPr>
        </p:nvSpPr>
        <p:spPr>
          <a:xfrm>
            <a:off x="4431445" y="3455232"/>
            <a:ext cx="7090679" cy="451445"/>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pic>
        <p:nvPicPr>
          <p:cNvPr id="10" name="Picture 9" descr="Logo&#10;&#10;Description automatically generated">
            <a:extLst>
              <a:ext uri="{FF2B5EF4-FFF2-40B4-BE49-F238E27FC236}">
                <a16:creationId xmlns:a16="http://schemas.microsoft.com/office/drawing/2014/main" id="{E0B177BC-29FF-52FA-7227-E8605AA7787D}"/>
              </a:ext>
            </a:extLst>
          </p:cNvPr>
          <p:cNvPicPr>
            <a:picLocks noChangeAspect="1"/>
          </p:cNvPicPr>
          <p:nvPr userDrawn="1"/>
        </p:nvPicPr>
        <p:blipFill>
          <a:blip r:embed="rId2"/>
          <a:stretch>
            <a:fillRect/>
          </a:stretch>
        </p:blipFill>
        <p:spPr>
          <a:xfrm>
            <a:off x="332073" y="2761691"/>
            <a:ext cx="3579992" cy="1328565"/>
          </a:xfrm>
          <a:prstGeom prst="rect">
            <a:avLst/>
          </a:prstGeom>
        </p:spPr>
      </p:pic>
    </p:spTree>
    <p:extLst>
      <p:ext uri="{BB962C8B-B14F-4D97-AF65-F5344CB8AC3E}">
        <p14:creationId xmlns:p14="http://schemas.microsoft.com/office/powerpoint/2010/main" val="456493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967F320-5AE5-D042-86D8-CE794E5A0F25}"/>
              </a:ext>
            </a:extLst>
          </p:cNvPr>
          <p:cNvSpPr/>
          <p:nvPr userDrawn="1"/>
        </p:nvSpPr>
        <p:spPr>
          <a:xfrm>
            <a:off x="0" y="0"/>
            <a:ext cx="12192000" cy="68580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33333"/>
              </a:solidFill>
            </a:endParaRPr>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550657" y="2817566"/>
            <a:ext cx="7090687" cy="487766"/>
          </a:xfrm>
          <a:prstGeom prst="rect">
            <a:avLst/>
          </a:prstGeom>
        </p:spPr>
        <p:txBody>
          <a:bodyPr/>
          <a:lstStyle>
            <a:lvl1pPr marL="0" indent="0" algn="ctr">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CHAPTER SLIDE</a:t>
            </a:r>
          </a:p>
        </p:txBody>
      </p:sp>
      <p:sp>
        <p:nvSpPr>
          <p:cNvPr id="20" name="TextBox 19">
            <a:extLst>
              <a:ext uri="{FF2B5EF4-FFF2-40B4-BE49-F238E27FC236}">
                <a16:creationId xmlns:a16="http://schemas.microsoft.com/office/drawing/2014/main" id="{4784ECD9-B61F-784F-9770-D4B175D9C6CB}"/>
              </a:ext>
            </a:extLst>
          </p:cNvPr>
          <p:cNvSpPr txBox="1"/>
          <p:nvPr userDrawn="1"/>
        </p:nvSpPr>
        <p:spPr>
          <a:xfrm>
            <a:off x="10437105" y="6479331"/>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 name="Straight Connector 6">
            <a:extLst>
              <a:ext uri="{FF2B5EF4-FFF2-40B4-BE49-F238E27FC236}">
                <a16:creationId xmlns:a16="http://schemas.microsoft.com/office/drawing/2014/main" id="{CFA4392F-FF99-3544-85FD-8E529929B35B}"/>
              </a:ext>
            </a:extLst>
          </p:cNvPr>
          <p:cNvCxnSpPr>
            <a:cxnSpLocks/>
          </p:cNvCxnSpPr>
          <p:nvPr userDrawn="1"/>
        </p:nvCxnSpPr>
        <p:spPr>
          <a:xfrm flipH="1">
            <a:off x="5789167" y="3480245"/>
            <a:ext cx="604138" cy="0"/>
          </a:xfrm>
          <a:prstGeom prst="line">
            <a:avLst/>
          </a:prstGeom>
          <a:ln w="57150">
            <a:solidFill>
              <a:srgbClr val="23BDC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56011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967F320-5AE5-D042-86D8-CE794E5A0F25}"/>
              </a:ext>
            </a:extLst>
          </p:cNvPr>
          <p:cNvSpPr/>
          <p:nvPr userDrawn="1"/>
        </p:nvSpPr>
        <p:spPr>
          <a:xfrm>
            <a:off x="0" y="0"/>
            <a:ext cx="12192000" cy="6858000"/>
          </a:xfrm>
          <a:prstGeom prst="rect">
            <a:avLst/>
          </a:prstGeom>
          <a:solidFill>
            <a:srgbClr val="827B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550657" y="2817566"/>
            <a:ext cx="7090687" cy="487766"/>
          </a:xfrm>
          <a:prstGeom prst="rect">
            <a:avLst/>
          </a:prstGeom>
        </p:spPr>
        <p:txBody>
          <a:bodyPr/>
          <a:lstStyle>
            <a:lvl1pPr marL="0" indent="0" algn="ctr">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CHAPTER SLIDE</a:t>
            </a:r>
          </a:p>
        </p:txBody>
      </p:sp>
      <p:sp>
        <p:nvSpPr>
          <p:cNvPr id="20" name="TextBox 19">
            <a:extLst>
              <a:ext uri="{FF2B5EF4-FFF2-40B4-BE49-F238E27FC236}">
                <a16:creationId xmlns:a16="http://schemas.microsoft.com/office/drawing/2014/main" id="{4784ECD9-B61F-784F-9770-D4B175D9C6CB}"/>
              </a:ext>
            </a:extLst>
          </p:cNvPr>
          <p:cNvSpPr txBox="1"/>
          <p:nvPr userDrawn="1"/>
        </p:nvSpPr>
        <p:spPr>
          <a:xfrm>
            <a:off x="10437105" y="6479331"/>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 name="Straight Connector 6">
            <a:extLst>
              <a:ext uri="{FF2B5EF4-FFF2-40B4-BE49-F238E27FC236}">
                <a16:creationId xmlns:a16="http://schemas.microsoft.com/office/drawing/2014/main" id="{CFA4392F-FF99-3544-85FD-8E529929B35B}"/>
              </a:ext>
            </a:extLst>
          </p:cNvPr>
          <p:cNvCxnSpPr>
            <a:cxnSpLocks/>
          </p:cNvCxnSpPr>
          <p:nvPr userDrawn="1"/>
        </p:nvCxnSpPr>
        <p:spPr>
          <a:xfrm flipH="1">
            <a:off x="5789167" y="3480245"/>
            <a:ext cx="604138" cy="0"/>
          </a:xfrm>
          <a:prstGeom prst="line">
            <a:avLst/>
          </a:prstGeom>
          <a:ln w="57150">
            <a:solidFill>
              <a:srgbClr val="23BDC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14962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55642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5F4EEC9-319B-2B48-ACCF-4D84031B8D47}"/>
              </a:ext>
            </a:extLst>
          </p:cNvPr>
          <p:cNvSpPr/>
          <p:nvPr userDrawn="1"/>
        </p:nvSpPr>
        <p:spPr>
          <a:xfrm>
            <a:off x="0" y="0"/>
            <a:ext cx="5044190" cy="6865949"/>
          </a:xfrm>
          <a:prstGeom prst="rect">
            <a:avLst/>
          </a:prstGeom>
          <a:solidFill>
            <a:srgbClr val="F2ED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99803" y="2883831"/>
            <a:ext cx="4527030" cy="607686"/>
          </a:xfrm>
          <a:prstGeom prst="rect">
            <a:avLst/>
          </a:prstGeom>
        </p:spPr>
        <p:txBody>
          <a:bodyPr/>
          <a:lstStyle>
            <a:lvl1pPr marL="0" indent="0" algn="l">
              <a:lnSpc>
                <a:spcPct val="100000"/>
              </a:lnSpc>
              <a:buNone/>
              <a:defRPr sz="35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5" name="TextBox 4">
            <a:extLst>
              <a:ext uri="{FF2B5EF4-FFF2-40B4-BE49-F238E27FC236}">
                <a16:creationId xmlns:a16="http://schemas.microsoft.com/office/drawing/2014/main" id="{F448D0B5-4181-D043-A806-CC2429EDDAFF}"/>
              </a:ext>
            </a:extLst>
          </p:cNvPr>
          <p:cNvSpPr txBox="1"/>
          <p:nvPr userDrawn="1"/>
        </p:nvSpPr>
        <p:spPr>
          <a:xfrm>
            <a:off x="10437105" y="6479331"/>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Rectangle 5">
            <a:extLst>
              <a:ext uri="{FF2B5EF4-FFF2-40B4-BE49-F238E27FC236}">
                <a16:creationId xmlns:a16="http://schemas.microsoft.com/office/drawing/2014/main" id="{C9150272-1CCA-8449-9227-24DEC0FAB4B7}"/>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28FB7E7-D90F-2348-A4AE-5B0C5AFD2BA6}"/>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 Placeholder 2">
            <a:extLst>
              <a:ext uri="{FF2B5EF4-FFF2-40B4-BE49-F238E27FC236}">
                <a16:creationId xmlns:a16="http://schemas.microsoft.com/office/drawing/2014/main" id="{5BA10B5C-1A60-854F-A2BC-1DE16973237A}"/>
              </a:ext>
            </a:extLst>
          </p:cNvPr>
          <p:cNvSpPr>
            <a:spLocks noGrp="1"/>
          </p:cNvSpPr>
          <p:nvPr>
            <p:ph type="body" sz="quarter" idx="11"/>
          </p:nvPr>
        </p:nvSpPr>
        <p:spPr>
          <a:xfrm>
            <a:off x="5659438" y="958850"/>
            <a:ext cx="6048375" cy="4618038"/>
          </a:xfrm>
          <a:prstGeom prst="rect">
            <a:avLst/>
          </a:prstGeom>
        </p:spPr>
        <p:txBody>
          <a:bodyPr/>
          <a:lstStyle>
            <a:lvl1pPr>
              <a:defRPr sz="1400">
                <a:solidFill>
                  <a:srgbClr val="333333"/>
                </a:solidFill>
              </a:defRPr>
            </a:lvl1pPr>
            <a:lvl2pPr>
              <a:defRPr sz="1400">
                <a:solidFill>
                  <a:srgbClr val="333333"/>
                </a:solidFill>
              </a:defRPr>
            </a:lvl2pPr>
            <a:lvl3pPr>
              <a:defRPr sz="1400">
                <a:solidFill>
                  <a:srgbClr val="333333"/>
                </a:solidFill>
              </a:defRPr>
            </a:lvl3pPr>
            <a:lvl4pPr>
              <a:defRPr sz="1400">
                <a:solidFill>
                  <a:srgbClr val="333333"/>
                </a:solidFill>
              </a:defRPr>
            </a:lvl4pPr>
            <a:lvl5pPr>
              <a:defRPr sz="1400">
                <a:solidFill>
                  <a:srgbClr val="333333"/>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1" name="Picture 10" descr="Text, logo&#10;&#10;Description automatically generated with medium confidence">
            <a:extLst>
              <a:ext uri="{FF2B5EF4-FFF2-40B4-BE49-F238E27FC236}">
                <a16:creationId xmlns:a16="http://schemas.microsoft.com/office/drawing/2014/main" id="{7D161221-D47B-B4B2-CF3F-A4ED4C56F533}"/>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26914027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4C23AD14-46E2-1D4B-8A4B-409625035B3A}"/>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16" name="Text Placeholder 4">
            <a:extLst>
              <a:ext uri="{FF2B5EF4-FFF2-40B4-BE49-F238E27FC236}">
                <a16:creationId xmlns:a16="http://schemas.microsoft.com/office/drawing/2014/main" id="{529DEE64-287E-6645-B445-4B56A0B3EB92}"/>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19" name="Text Placeholder 4">
            <a:extLst>
              <a:ext uri="{FF2B5EF4-FFF2-40B4-BE49-F238E27FC236}">
                <a16:creationId xmlns:a16="http://schemas.microsoft.com/office/drawing/2014/main" id="{F4C3A522-6210-904D-83F1-7D21B01E8B13}"/>
              </a:ext>
            </a:extLst>
          </p:cNvPr>
          <p:cNvSpPr>
            <a:spLocks noGrp="1"/>
          </p:cNvSpPr>
          <p:nvPr>
            <p:ph type="body" sz="quarter" idx="13" hasCustomPrompt="1"/>
          </p:nvPr>
        </p:nvSpPr>
        <p:spPr>
          <a:xfrm>
            <a:off x="1482294" y="1787345"/>
            <a:ext cx="9440069" cy="1235091"/>
          </a:xfrm>
          <a:prstGeom prst="rect">
            <a:avLst/>
          </a:prstGeom>
        </p:spPr>
        <p:txBody>
          <a:bodyPr/>
          <a:lstStyle>
            <a:lvl1pPr marL="0" indent="0">
              <a:lnSpc>
                <a:spcPct val="150000"/>
              </a:lnSpc>
              <a:buNone/>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err="1"/>
              <a:t>Nequianihil</a:t>
            </a:r>
            <a:r>
              <a:rPr lang="en-US" dirty="0"/>
              <a:t> </a:t>
            </a:r>
            <a:r>
              <a:rPr lang="en-US" dirty="0" err="1"/>
              <a:t>eos</a:t>
            </a:r>
            <a:r>
              <a:rPr lang="en-US" dirty="0"/>
              <a:t> </a:t>
            </a:r>
            <a:r>
              <a:rPr lang="en-US" dirty="0" err="1"/>
              <a:t>aut</a:t>
            </a:r>
            <a:r>
              <a:rPr lang="en-US" dirty="0"/>
              <a:t> </a:t>
            </a:r>
            <a:r>
              <a:rPr lang="en-US" dirty="0" err="1"/>
              <a:t>hiligent</a:t>
            </a:r>
            <a:r>
              <a:rPr lang="en-US" dirty="0"/>
              <a:t> </a:t>
            </a:r>
            <a:r>
              <a:rPr lang="en-US" dirty="0" err="1"/>
              <a:t>fuga</a:t>
            </a:r>
            <a:r>
              <a:rPr lang="en-US" dirty="0"/>
              <a:t>. </a:t>
            </a:r>
            <a:r>
              <a:rPr lang="en-US" dirty="0" err="1"/>
              <a:t>Poressincti</a:t>
            </a:r>
            <a:r>
              <a:rPr lang="en-US" dirty="0"/>
              <a:t> </a:t>
            </a:r>
            <a:r>
              <a:rPr lang="en-US" dirty="0" err="1"/>
              <a:t>voluptatur</a:t>
            </a:r>
            <a:r>
              <a:rPr lang="en-US" dirty="0"/>
              <a:t>? 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utecten</a:t>
            </a:r>
            <a:r>
              <a:rPr lang="en-US" dirty="0"/>
              <a:t> </a:t>
            </a:r>
            <a:r>
              <a:rPr lang="en-US" dirty="0" err="1"/>
              <a:t>imaion</a:t>
            </a:r>
            <a:r>
              <a:rPr lang="en-US" dirty="0"/>
              <a:t> </a:t>
            </a:r>
            <a:r>
              <a:rPr lang="en-US" dirty="0" err="1"/>
              <a:t>nimil</a:t>
            </a:r>
            <a:r>
              <a:rPr lang="en-US" dirty="0"/>
              <a:t> is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p:txBody>
      </p:sp>
      <p:sp>
        <p:nvSpPr>
          <p:cNvPr id="12" name="Text Placeholder 4">
            <a:extLst>
              <a:ext uri="{FF2B5EF4-FFF2-40B4-BE49-F238E27FC236}">
                <a16:creationId xmlns:a16="http://schemas.microsoft.com/office/drawing/2014/main" id="{E9DB1872-B742-DB47-8D54-1CAE471D6158}"/>
              </a:ext>
            </a:extLst>
          </p:cNvPr>
          <p:cNvSpPr>
            <a:spLocks noGrp="1"/>
          </p:cNvSpPr>
          <p:nvPr>
            <p:ph type="body" sz="quarter" idx="14" hasCustomPrompt="1"/>
          </p:nvPr>
        </p:nvSpPr>
        <p:spPr>
          <a:xfrm>
            <a:off x="1954661" y="3194155"/>
            <a:ext cx="8855277" cy="1830514"/>
          </a:xfrm>
          <a:prstGeom prst="rect">
            <a:avLst/>
          </a:prstGeom>
        </p:spPr>
        <p:txBody>
          <a:bodyPr/>
          <a:lstStyle>
            <a:lvl1pPr marL="285750" indent="-285750">
              <a:lnSpc>
                <a:spcPct val="100000"/>
              </a:lnSpc>
              <a:buClr>
                <a:schemeClr val="bg1">
                  <a:lumMod val="65000"/>
                </a:schemeClr>
              </a:buClr>
              <a:buFont typeface="Arial" panose="020B0604020202020204" pitchFamily="34" charset="0"/>
              <a:buChar char="•"/>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lvl="0"/>
            <a:r>
              <a:rPr lang="en-US" dirty="0"/>
              <a:t>Bullet font &amp; style</a:t>
            </a:r>
          </a:p>
        </p:txBody>
      </p:sp>
      <p:sp>
        <p:nvSpPr>
          <p:cNvPr id="9" name="Rectangle 8">
            <a:extLst>
              <a:ext uri="{FF2B5EF4-FFF2-40B4-BE49-F238E27FC236}">
                <a16:creationId xmlns:a16="http://schemas.microsoft.com/office/drawing/2014/main" id="{3D0A4229-FF8F-9046-994A-DF523BB38772}"/>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A5B753B-3717-97EA-9FBC-46F61CA647C6}"/>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descr="Text, logo&#10;&#10;Description automatically generated with medium confidence">
            <a:extLst>
              <a:ext uri="{FF2B5EF4-FFF2-40B4-BE49-F238E27FC236}">
                <a16:creationId xmlns:a16="http://schemas.microsoft.com/office/drawing/2014/main" id="{FA25CD65-AEA4-4A70-EEE6-1024C217C17A}"/>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23673279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8" name="Text Placeholder 4">
            <a:extLst>
              <a:ext uri="{FF2B5EF4-FFF2-40B4-BE49-F238E27FC236}">
                <a16:creationId xmlns:a16="http://schemas.microsoft.com/office/drawing/2014/main" id="{B7199545-5A00-9E47-B070-8E3B44DC8F57}"/>
              </a:ext>
            </a:extLst>
          </p:cNvPr>
          <p:cNvSpPr>
            <a:spLocks noGrp="1"/>
          </p:cNvSpPr>
          <p:nvPr>
            <p:ph type="body" sz="quarter" idx="12" hasCustomPrompt="1"/>
          </p:nvPr>
        </p:nvSpPr>
        <p:spPr>
          <a:xfrm>
            <a:off x="1482295" y="1920541"/>
            <a:ext cx="9227410" cy="418612"/>
          </a:xfrm>
          <a:prstGeom prst="rect">
            <a:avLst/>
          </a:prstGeom>
        </p:spPr>
        <p:txBody>
          <a:bodyPr/>
          <a:lstStyle>
            <a:lvl1pPr marL="0" indent="0">
              <a:lnSpc>
                <a:spcPct val="100000"/>
              </a:lnSpc>
              <a:buNone/>
              <a:defRPr sz="18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Subtitle</a:t>
            </a:r>
          </a:p>
        </p:txBody>
      </p:sp>
      <p:sp>
        <p:nvSpPr>
          <p:cNvPr id="19" name="Text Placeholder 4">
            <a:extLst>
              <a:ext uri="{FF2B5EF4-FFF2-40B4-BE49-F238E27FC236}">
                <a16:creationId xmlns:a16="http://schemas.microsoft.com/office/drawing/2014/main" id="{F4C3A522-6210-904D-83F1-7D21B01E8B13}"/>
              </a:ext>
            </a:extLst>
          </p:cNvPr>
          <p:cNvSpPr>
            <a:spLocks noGrp="1"/>
          </p:cNvSpPr>
          <p:nvPr>
            <p:ph type="body" sz="quarter" idx="13" hasCustomPrompt="1"/>
          </p:nvPr>
        </p:nvSpPr>
        <p:spPr>
          <a:xfrm>
            <a:off x="1482295" y="2358704"/>
            <a:ext cx="9227410" cy="2373542"/>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err="1"/>
              <a:t>Nequianihil</a:t>
            </a:r>
            <a:r>
              <a:rPr lang="en-US" dirty="0"/>
              <a:t> </a:t>
            </a:r>
            <a:r>
              <a:rPr lang="en-US" dirty="0" err="1"/>
              <a:t>eos</a:t>
            </a:r>
            <a:r>
              <a:rPr lang="en-US" dirty="0"/>
              <a:t> </a:t>
            </a:r>
            <a:r>
              <a:rPr lang="en-US" dirty="0" err="1"/>
              <a:t>aut</a:t>
            </a:r>
            <a:r>
              <a:rPr lang="en-US" dirty="0"/>
              <a:t> </a:t>
            </a:r>
            <a:r>
              <a:rPr lang="en-US" dirty="0" err="1"/>
              <a:t>hiligent</a:t>
            </a:r>
            <a:r>
              <a:rPr lang="en-US" dirty="0"/>
              <a:t> </a:t>
            </a:r>
            <a:r>
              <a:rPr lang="en-US" dirty="0" err="1"/>
              <a:t>fuga</a:t>
            </a:r>
            <a:r>
              <a:rPr lang="en-US" dirty="0"/>
              <a:t>. </a:t>
            </a:r>
            <a:r>
              <a:rPr lang="en-US" dirty="0" err="1"/>
              <a:t>Poressincti</a:t>
            </a:r>
            <a:r>
              <a:rPr lang="en-US" dirty="0"/>
              <a:t> </a:t>
            </a:r>
            <a:r>
              <a:rPr lang="en-US" dirty="0" err="1"/>
              <a:t>voluptatur</a:t>
            </a:r>
            <a:r>
              <a:rPr lang="en-US" dirty="0"/>
              <a:t>? 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utecten</a:t>
            </a:r>
            <a:r>
              <a:rPr lang="en-US" dirty="0"/>
              <a:t> </a:t>
            </a:r>
            <a:r>
              <a:rPr lang="en-US" dirty="0" err="1"/>
              <a:t>imaion</a:t>
            </a:r>
            <a:r>
              <a:rPr lang="en-US" dirty="0"/>
              <a:t> </a:t>
            </a:r>
            <a:r>
              <a:rPr lang="en-US" dirty="0" err="1"/>
              <a:t>nimil</a:t>
            </a:r>
            <a:r>
              <a:rPr lang="en-US" dirty="0"/>
              <a:t> is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a:t> </a:t>
            </a:r>
            <a:r>
              <a:rPr lang="en-US" dirty="0" err="1"/>
              <a:t>Nequianihil</a:t>
            </a:r>
            <a:r>
              <a:rPr lang="en-US" dirty="0"/>
              <a:t> </a:t>
            </a:r>
            <a:r>
              <a:rPr lang="en-US" dirty="0" err="1"/>
              <a:t>eos</a:t>
            </a:r>
            <a:r>
              <a:rPr lang="en-US" dirty="0"/>
              <a:t> </a:t>
            </a:r>
            <a:r>
              <a:rPr lang="en-US" dirty="0" err="1"/>
              <a:t>aut</a:t>
            </a:r>
            <a:r>
              <a:rPr lang="en-US" dirty="0"/>
              <a:t> </a:t>
            </a:r>
            <a:r>
              <a:rPr lang="en-US" dirty="0" err="1"/>
              <a:t>hiligent</a:t>
            </a:r>
            <a:r>
              <a:rPr lang="en-US" dirty="0"/>
              <a:t> </a:t>
            </a:r>
            <a:r>
              <a:rPr lang="en-US" dirty="0" err="1"/>
              <a:t>fuga</a:t>
            </a:r>
            <a:r>
              <a:rPr lang="en-US" dirty="0"/>
              <a:t>. </a:t>
            </a:r>
            <a:r>
              <a:rPr lang="en-US" dirty="0" err="1"/>
              <a:t>Poressincti</a:t>
            </a:r>
            <a:r>
              <a:rPr lang="en-US" dirty="0"/>
              <a:t> </a:t>
            </a:r>
            <a:r>
              <a:rPr lang="en-US" dirty="0" err="1"/>
              <a:t>voluptatur</a:t>
            </a:r>
            <a:r>
              <a:rPr lang="en-US" dirty="0"/>
              <a:t>? 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utecten</a:t>
            </a:r>
            <a:r>
              <a:rPr lang="en-US" dirty="0"/>
              <a:t> </a:t>
            </a:r>
            <a:r>
              <a:rPr lang="en-US" dirty="0" err="1"/>
              <a:t>imaion</a:t>
            </a:r>
            <a:r>
              <a:rPr lang="en-US" dirty="0"/>
              <a:t> </a:t>
            </a:r>
            <a:r>
              <a:rPr lang="en-US" dirty="0" err="1"/>
              <a:t>nimil</a:t>
            </a:r>
            <a:r>
              <a:rPr lang="en-US" dirty="0"/>
              <a:t> is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a:p>
            <a:pPr lvl="0"/>
            <a:endParaRPr lang="en-US" dirty="0"/>
          </a:p>
        </p:txBody>
      </p:sp>
      <p:sp>
        <p:nvSpPr>
          <p:cNvPr id="13" name="Text Placeholder 4">
            <a:extLst>
              <a:ext uri="{FF2B5EF4-FFF2-40B4-BE49-F238E27FC236}">
                <a16:creationId xmlns:a16="http://schemas.microsoft.com/office/drawing/2014/main" id="{E67B1BB2-660D-E148-A6EE-55FD142ABF71}"/>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20" name="Text Placeholder 4">
            <a:extLst>
              <a:ext uri="{FF2B5EF4-FFF2-40B4-BE49-F238E27FC236}">
                <a16:creationId xmlns:a16="http://schemas.microsoft.com/office/drawing/2014/main" id="{2739A6D5-0DEE-DA49-9CB1-48D3360FC306}"/>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9" name="Rectangle 8">
            <a:extLst>
              <a:ext uri="{FF2B5EF4-FFF2-40B4-BE49-F238E27FC236}">
                <a16:creationId xmlns:a16="http://schemas.microsoft.com/office/drawing/2014/main" id="{D35D78C4-7EE3-B7E2-0E2B-67CA9980C975}"/>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D8BDB6E-E454-6585-DB7B-846C32CA6225}"/>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descr="Text, logo&#10;&#10;Description automatically generated with medium confidence">
            <a:extLst>
              <a:ext uri="{FF2B5EF4-FFF2-40B4-BE49-F238E27FC236}">
                <a16:creationId xmlns:a16="http://schemas.microsoft.com/office/drawing/2014/main" id="{4C008AC3-6217-FA54-905D-3F94AE47611C}"/>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37506953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ED238C3E-378B-9A4D-BC39-006D2B017B8E}"/>
              </a:ext>
            </a:extLst>
          </p:cNvPr>
          <p:cNvSpPr>
            <a:spLocks noGrp="1"/>
          </p:cNvSpPr>
          <p:nvPr>
            <p:ph type="body" sz="quarter" idx="14" hasCustomPrompt="1"/>
          </p:nvPr>
        </p:nvSpPr>
        <p:spPr>
          <a:xfrm>
            <a:off x="1482295" y="2513743"/>
            <a:ext cx="9440069" cy="1830514"/>
          </a:xfrm>
          <a:prstGeom prst="rect">
            <a:avLst/>
          </a:prstGeom>
        </p:spPr>
        <p:txBody>
          <a:bodyPr/>
          <a:lstStyle>
            <a:lvl1pPr marL="285750" indent="-285750">
              <a:lnSpc>
                <a:spcPct val="100000"/>
              </a:lnSpc>
              <a:buClr>
                <a:schemeClr val="bg1">
                  <a:lumMod val="65000"/>
                </a:schemeClr>
              </a:buClr>
              <a:buFont typeface="Arial" panose="020B0604020202020204" pitchFamily="34" charset="0"/>
              <a:buChar char="•"/>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lvl="0"/>
            <a:r>
              <a:rPr lang="en-US" dirty="0"/>
              <a:t>Bullet font &amp; style</a:t>
            </a:r>
          </a:p>
        </p:txBody>
      </p:sp>
      <p:sp>
        <p:nvSpPr>
          <p:cNvPr id="22" name="Text Placeholder 4">
            <a:extLst>
              <a:ext uri="{FF2B5EF4-FFF2-40B4-BE49-F238E27FC236}">
                <a16:creationId xmlns:a16="http://schemas.microsoft.com/office/drawing/2014/main" id="{4DFCCEE5-FDE9-6343-AD3D-69929C473F32}"/>
              </a:ext>
            </a:extLst>
          </p:cNvPr>
          <p:cNvSpPr>
            <a:spLocks noGrp="1"/>
          </p:cNvSpPr>
          <p:nvPr>
            <p:ph type="body" sz="quarter" idx="12" hasCustomPrompt="1"/>
          </p:nvPr>
        </p:nvSpPr>
        <p:spPr>
          <a:xfrm>
            <a:off x="1482294" y="2095131"/>
            <a:ext cx="9440069" cy="418612"/>
          </a:xfrm>
          <a:prstGeom prst="rect">
            <a:avLst/>
          </a:prstGeom>
        </p:spPr>
        <p:txBody>
          <a:bodyPr/>
          <a:lstStyle>
            <a:lvl1pPr marL="0" indent="0">
              <a:lnSpc>
                <a:spcPct val="100000"/>
              </a:lnSpc>
              <a:buNone/>
              <a:defRPr sz="18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Subtitle</a:t>
            </a:r>
          </a:p>
        </p:txBody>
      </p:sp>
      <p:sp>
        <p:nvSpPr>
          <p:cNvPr id="19" name="Text Placeholder 4">
            <a:extLst>
              <a:ext uri="{FF2B5EF4-FFF2-40B4-BE49-F238E27FC236}">
                <a16:creationId xmlns:a16="http://schemas.microsoft.com/office/drawing/2014/main" id="{3BA43D8B-7DAF-B848-8B71-944C89C1F0F6}"/>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23" name="Text Placeholder 4">
            <a:extLst>
              <a:ext uri="{FF2B5EF4-FFF2-40B4-BE49-F238E27FC236}">
                <a16:creationId xmlns:a16="http://schemas.microsoft.com/office/drawing/2014/main" id="{BBD1B11C-9EF3-864D-A5AD-5E531D2EF372}"/>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9" name="Rectangle 8">
            <a:extLst>
              <a:ext uri="{FF2B5EF4-FFF2-40B4-BE49-F238E27FC236}">
                <a16:creationId xmlns:a16="http://schemas.microsoft.com/office/drawing/2014/main" id="{5FFB9C9F-CA81-F85E-CC19-D6BA73ECADE1}"/>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9BD1351-CB47-C714-9B0E-D2BF4D506BDD}"/>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descr="Text, logo&#10;&#10;Description automatically generated with medium confidence">
            <a:extLst>
              <a:ext uri="{FF2B5EF4-FFF2-40B4-BE49-F238E27FC236}">
                <a16:creationId xmlns:a16="http://schemas.microsoft.com/office/drawing/2014/main" id="{97CEAAFD-21A6-58FE-BF67-563183020A7C}"/>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22163820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E9F87B-916F-C84A-BAA3-66B0FA036B8F}"/>
              </a:ext>
            </a:extLst>
          </p:cNvPr>
          <p:cNvCxnSpPr>
            <a:cxnSpLocks/>
          </p:cNvCxnSpPr>
          <p:nvPr userDrawn="1"/>
        </p:nvCxnSpPr>
        <p:spPr>
          <a:xfrm>
            <a:off x="6326377" y="2314478"/>
            <a:ext cx="0" cy="22596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 Placeholder 4">
            <a:extLst>
              <a:ext uri="{FF2B5EF4-FFF2-40B4-BE49-F238E27FC236}">
                <a16:creationId xmlns:a16="http://schemas.microsoft.com/office/drawing/2014/main" id="{8D272A65-5E8D-9E4F-B01B-E2B4B581CA5E}"/>
              </a:ext>
            </a:extLst>
          </p:cNvPr>
          <p:cNvSpPr>
            <a:spLocks noGrp="1"/>
          </p:cNvSpPr>
          <p:nvPr>
            <p:ph type="body" sz="quarter" idx="13" hasCustomPrompt="1"/>
          </p:nvPr>
        </p:nvSpPr>
        <p:spPr>
          <a:xfrm>
            <a:off x="1482295" y="2743642"/>
            <a:ext cx="4489660" cy="1830514"/>
          </a:xfrm>
          <a:prstGeom prst="rect">
            <a:avLst/>
          </a:prstGeom>
        </p:spPr>
        <p:txBody>
          <a:bodyPr anchor="t"/>
          <a:lstStyle>
            <a:lvl1pPr marL="0" indent="0">
              <a:lnSpc>
                <a:spcPct val="150000"/>
              </a:lnSpc>
              <a:buNone/>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p:txBody>
      </p:sp>
      <p:sp>
        <p:nvSpPr>
          <p:cNvPr id="23" name="Text Placeholder 4">
            <a:extLst>
              <a:ext uri="{FF2B5EF4-FFF2-40B4-BE49-F238E27FC236}">
                <a16:creationId xmlns:a16="http://schemas.microsoft.com/office/drawing/2014/main" id="{976561D9-84EF-F640-911A-48E5A5825EC9}"/>
              </a:ext>
            </a:extLst>
          </p:cNvPr>
          <p:cNvSpPr>
            <a:spLocks noGrp="1"/>
          </p:cNvSpPr>
          <p:nvPr>
            <p:ph type="body" sz="quarter" idx="14" hasCustomPrompt="1"/>
          </p:nvPr>
        </p:nvSpPr>
        <p:spPr>
          <a:xfrm>
            <a:off x="6677249" y="2314477"/>
            <a:ext cx="4245114" cy="2259677"/>
          </a:xfrm>
          <a:prstGeom prst="rect">
            <a:avLst/>
          </a:prstGeom>
        </p:spPr>
        <p:txBody>
          <a:bodyPr/>
          <a:lstStyle>
            <a:lvl1pPr marL="285750" marR="0" indent="-285750" algn="l" defTabSz="914400" rtl="0" eaLnBrk="1" fontAlgn="auto" latinLnBrk="0" hangingPunct="1">
              <a:lnSpc>
                <a:spcPct val="100000"/>
              </a:lnSpc>
              <a:spcBef>
                <a:spcPts val="1000"/>
              </a:spcBef>
              <a:spcAft>
                <a:spcPts val="0"/>
              </a:spcAft>
              <a:buClr>
                <a:schemeClr val="bg1">
                  <a:lumMod val="65000"/>
                </a:schemeClr>
              </a:buClr>
              <a:buSzTx/>
              <a:buFont typeface="Arial" panose="020B0604020202020204" pitchFamily="34" charset="0"/>
              <a:buChar char="•"/>
              <a:tabLst/>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marL="285750" marR="0" lvl="0" indent="-285750" algn="l" defTabSz="914400" rtl="0" eaLnBrk="1" fontAlgn="auto" latinLnBrk="0" hangingPunct="1">
              <a:lnSpc>
                <a:spcPct val="100000"/>
              </a:lnSpc>
              <a:spcBef>
                <a:spcPts val="1000"/>
              </a:spcBef>
              <a:spcAft>
                <a:spcPts val="0"/>
              </a:spcAft>
              <a:buClr>
                <a:schemeClr val="bg1">
                  <a:lumMod val="65000"/>
                </a:schemeClr>
              </a:buClr>
              <a:buSzTx/>
              <a:buFont typeface="Arial" panose="020B0604020202020204" pitchFamily="34" charset="0"/>
              <a:buChar char="•"/>
              <a:tabLst/>
              <a:defRPr/>
            </a:pPr>
            <a:r>
              <a:rPr lang="en-US" dirty="0"/>
              <a:t>Bullet font &amp; style</a:t>
            </a:r>
          </a:p>
          <a:p>
            <a:pPr lvl="0"/>
            <a:endParaRPr lang="en-US" dirty="0"/>
          </a:p>
        </p:txBody>
      </p:sp>
      <p:sp>
        <p:nvSpPr>
          <p:cNvPr id="24" name="Text Placeholder 4">
            <a:extLst>
              <a:ext uri="{FF2B5EF4-FFF2-40B4-BE49-F238E27FC236}">
                <a16:creationId xmlns:a16="http://schemas.microsoft.com/office/drawing/2014/main" id="{B81FE41B-EBBD-6041-9A4C-F9A9B7F3BEE5}"/>
              </a:ext>
            </a:extLst>
          </p:cNvPr>
          <p:cNvSpPr>
            <a:spLocks noGrp="1"/>
          </p:cNvSpPr>
          <p:nvPr>
            <p:ph type="body" sz="quarter" idx="12" hasCustomPrompt="1"/>
          </p:nvPr>
        </p:nvSpPr>
        <p:spPr>
          <a:xfrm>
            <a:off x="1482295" y="2314478"/>
            <a:ext cx="4489660" cy="418612"/>
          </a:xfrm>
          <a:prstGeom prst="rect">
            <a:avLst/>
          </a:prstGeom>
        </p:spPr>
        <p:txBody>
          <a:bodyPr/>
          <a:lstStyle>
            <a:lvl1pPr marL="0" indent="0">
              <a:lnSpc>
                <a:spcPct val="100000"/>
              </a:lnSpc>
              <a:buNone/>
              <a:defRPr sz="18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Subtitle</a:t>
            </a:r>
          </a:p>
        </p:txBody>
      </p:sp>
      <p:sp>
        <p:nvSpPr>
          <p:cNvPr id="15" name="Text Placeholder 4">
            <a:extLst>
              <a:ext uri="{FF2B5EF4-FFF2-40B4-BE49-F238E27FC236}">
                <a16:creationId xmlns:a16="http://schemas.microsoft.com/office/drawing/2014/main" id="{A1D62A33-FB6C-D743-A9CC-BE967541A576}"/>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16" name="Text Placeholder 4">
            <a:extLst>
              <a:ext uri="{FF2B5EF4-FFF2-40B4-BE49-F238E27FC236}">
                <a16:creationId xmlns:a16="http://schemas.microsoft.com/office/drawing/2014/main" id="{724D97CF-DB1F-6B4F-A197-B37FD3B90852}"/>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11" name="Rectangle 10">
            <a:extLst>
              <a:ext uri="{FF2B5EF4-FFF2-40B4-BE49-F238E27FC236}">
                <a16:creationId xmlns:a16="http://schemas.microsoft.com/office/drawing/2014/main" id="{070EE1B7-D461-EF44-CDFE-AD435E0CE69F}"/>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CC92C76-90ED-9584-0DA9-217CD4F241C4}"/>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3" name="Picture 12" descr="Text, logo&#10;&#10;Description automatically generated with medium confidence">
            <a:extLst>
              <a:ext uri="{FF2B5EF4-FFF2-40B4-BE49-F238E27FC236}">
                <a16:creationId xmlns:a16="http://schemas.microsoft.com/office/drawing/2014/main" id="{4EBB3FB3-6F68-B815-C404-B1E6E95B3E66}"/>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9497823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E8A1558-176E-2E42-AE01-B08F9313D8B2}"/>
              </a:ext>
            </a:extLst>
          </p:cNvPr>
          <p:cNvPicPr>
            <a:picLocks noChangeAspect="1"/>
          </p:cNvPicPr>
          <p:nvPr userDrawn="1"/>
        </p:nvPicPr>
        <p:blipFill rotWithShape="1">
          <a:blip r:embed="rId2"/>
          <a:srcRect b="17209"/>
          <a:stretch/>
        </p:blipFill>
        <p:spPr>
          <a:xfrm>
            <a:off x="200215" y="6464476"/>
            <a:ext cx="1071993" cy="312345"/>
          </a:xfrm>
          <a:prstGeom prst="rect">
            <a:avLst/>
          </a:prstGeom>
        </p:spPr>
      </p:pic>
      <p:sp>
        <p:nvSpPr>
          <p:cNvPr id="5" name="Rectangle 4">
            <a:extLst>
              <a:ext uri="{FF2B5EF4-FFF2-40B4-BE49-F238E27FC236}">
                <a16:creationId xmlns:a16="http://schemas.microsoft.com/office/drawing/2014/main" id="{43A5B29B-4F8E-8386-47A1-B21CC1B1FB88}"/>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2D5E85C-6D63-3FAC-EB1F-1CB7E90C7E53}"/>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7" name="Picture 6" descr="Text, logo&#10;&#10;Description automatically generated with medium confidence">
            <a:extLst>
              <a:ext uri="{FF2B5EF4-FFF2-40B4-BE49-F238E27FC236}">
                <a16:creationId xmlns:a16="http://schemas.microsoft.com/office/drawing/2014/main" id="{2F0AE2D1-FEB9-29BA-9BC1-7268C71AB389}"/>
              </a:ext>
            </a:extLst>
          </p:cNvPr>
          <p:cNvPicPr>
            <a:picLocks noChangeAspect="1"/>
          </p:cNvPicPr>
          <p:nvPr userDrawn="1"/>
        </p:nvPicPr>
        <p:blipFill>
          <a:blip r:embed="rId3"/>
          <a:stretch>
            <a:fillRect/>
          </a:stretch>
        </p:blipFill>
        <p:spPr>
          <a:xfrm>
            <a:off x="54615" y="6381370"/>
            <a:ext cx="1317688" cy="489005"/>
          </a:xfrm>
          <a:prstGeom prst="rect">
            <a:avLst/>
          </a:prstGeom>
        </p:spPr>
      </p:pic>
    </p:spTree>
    <p:extLst>
      <p:ext uri="{BB962C8B-B14F-4D97-AF65-F5344CB8AC3E}">
        <p14:creationId xmlns:p14="http://schemas.microsoft.com/office/powerpoint/2010/main" val="27795852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ank You ">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5F4EEC9-319B-2B48-ACCF-4D84031B8D47}"/>
              </a:ext>
            </a:extLst>
          </p:cNvPr>
          <p:cNvSpPr/>
          <p:nvPr userDrawn="1"/>
        </p:nvSpPr>
        <p:spPr>
          <a:xfrm>
            <a:off x="0" y="0"/>
            <a:ext cx="12192000" cy="6858000"/>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550657" y="3019933"/>
            <a:ext cx="7090687" cy="607686"/>
          </a:xfrm>
          <a:prstGeom prst="rect">
            <a:avLst/>
          </a:prstGeom>
        </p:spPr>
        <p:txBody>
          <a:bodyPr/>
          <a:lstStyle>
            <a:lvl1pPr marL="0" indent="0" algn="ctr">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THANK  YOU.</a:t>
            </a:r>
          </a:p>
        </p:txBody>
      </p:sp>
    </p:spTree>
    <p:extLst>
      <p:ext uri="{BB962C8B-B14F-4D97-AF65-F5344CB8AC3E}">
        <p14:creationId xmlns:p14="http://schemas.microsoft.com/office/powerpoint/2010/main" val="25234353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445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12755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351822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hyperlink" Target="https://doi.org/10.1016/j.future.2021.08.004" TargetMode="External"/><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hyperlink" Target="https://doi.org/10.3390/math11112530"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1080/00207543.2021.1976859" TargetMode="External"/><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17632/8gx2fvg2k6.5" TargetMode="External"/><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hyperlink" Target="https://doi.org/10.1177/00131644231163813"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002/j.2158-1592.2001.tb00001.x" TargetMode="External"/><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hyperlink" Target="http://docs.pytorch.org/tutorials/intermediate/reinforcement_ppo.html"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007/s11042-024-18426-2" TargetMode="External"/><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080/00207543.2021.1930234" TargetMode="External"/><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hyperlink" Target="https://doi.org/10.1016/j.ssresearch.2022.102817" TargetMode="External"/><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hyperlink" Target="https://doi.org/10.3390/su14084862"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doi.org/10.1016/j.tre.2021.102553" TargetMode="External"/><Relationship Id="rId2" Type="http://schemas.openxmlformats.org/officeDocument/2006/relationships/notesSlide" Target="../notesSlides/notesSlide25.xml"/><Relationship Id="rId1" Type="http://schemas.openxmlformats.org/officeDocument/2006/relationships/slideLayout" Target="../slideLayouts/slideLayout11.xml"/><Relationship Id="rId4" Type="http://schemas.openxmlformats.org/officeDocument/2006/relationships/hyperlink" Target="https://doi.org/10.1145/355139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55D0F34-5A8A-4237-9F79-75F6B4350D8D}"/>
              </a:ext>
            </a:extLst>
          </p:cNvPr>
          <p:cNvSpPr txBox="1">
            <a:spLocks/>
          </p:cNvSpPr>
          <p:nvPr/>
        </p:nvSpPr>
        <p:spPr>
          <a:xfrm>
            <a:off x="3101009" y="1823514"/>
            <a:ext cx="7270656" cy="833378"/>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chemeClr val="bg1"/>
                </a:solidFill>
                <a:latin typeface="+mn-lt"/>
                <a:ea typeface="Charter Roman" charset="0"/>
                <a:cs typeface="Charter Roman" charset="0"/>
              </a:rPr>
              <a:t>Supply Chain Profit and On-Time Delivery Improvement Using Reinforcement Learning</a:t>
            </a:r>
            <a:endParaRPr lang="en-US" sz="2800" b="1" dirty="0">
              <a:solidFill>
                <a:srgbClr val="FDA31B"/>
              </a:solidFill>
              <a:latin typeface="+mn-lt"/>
              <a:ea typeface="Charter Roman" charset="0"/>
              <a:cs typeface="Charter Roman" charset="0"/>
            </a:endParaRPr>
          </a:p>
        </p:txBody>
      </p:sp>
      <p:sp>
        <p:nvSpPr>
          <p:cNvPr id="5" name="Subtitle 2">
            <a:extLst>
              <a:ext uri="{FF2B5EF4-FFF2-40B4-BE49-F238E27FC236}">
                <a16:creationId xmlns:a16="http://schemas.microsoft.com/office/drawing/2014/main" id="{7FA28609-0567-4BCD-B4B6-84863B70E0F6}"/>
              </a:ext>
            </a:extLst>
          </p:cNvPr>
          <p:cNvSpPr txBox="1">
            <a:spLocks/>
          </p:cNvSpPr>
          <p:nvPr/>
        </p:nvSpPr>
        <p:spPr>
          <a:xfrm>
            <a:off x="4405015" y="2773541"/>
            <a:ext cx="7527155" cy="2192785"/>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bg1"/>
                </a:solidFill>
              </a:rPr>
              <a:t>Jason C Miller</a:t>
            </a:r>
          </a:p>
          <a:p>
            <a:r>
              <a:rPr lang="en-US" dirty="0">
                <a:solidFill>
                  <a:schemeClr val="bg1"/>
                </a:solidFill>
              </a:rPr>
              <a:t>National University</a:t>
            </a:r>
          </a:p>
          <a:p>
            <a:endParaRPr lang="en-US" dirty="0">
              <a:solidFill>
                <a:schemeClr val="bg1"/>
              </a:solidFill>
            </a:endParaRPr>
          </a:p>
          <a:p>
            <a:r>
              <a:rPr lang="en-US" dirty="0">
                <a:solidFill>
                  <a:schemeClr val="bg1"/>
                </a:solidFill>
              </a:rPr>
              <a:t>Dissertation Chair: Dr. Mohamed Nabeel</a:t>
            </a:r>
          </a:p>
          <a:p>
            <a:r>
              <a:rPr lang="en-US" dirty="0">
                <a:solidFill>
                  <a:schemeClr val="bg1"/>
                </a:solidFill>
              </a:rPr>
              <a:t>Subject Matter Expert: Dr. Amir Schur</a:t>
            </a:r>
          </a:p>
          <a:p>
            <a:r>
              <a:rPr lang="en-US" dirty="0">
                <a:solidFill>
                  <a:schemeClr val="bg1"/>
                </a:solidFill>
              </a:rPr>
              <a:t>Academic Reader: Dr. Hamzah Al-Najada</a:t>
            </a:r>
          </a:p>
        </p:txBody>
      </p:sp>
    </p:spTree>
    <p:extLst>
      <p:ext uri="{BB962C8B-B14F-4D97-AF65-F5344CB8AC3E}">
        <p14:creationId xmlns:p14="http://schemas.microsoft.com/office/powerpoint/2010/main" val="1364591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015991-E20A-64C0-2DF3-1380557A1E14}"/>
              </a:ext>
            </a:extLst>
          </p:cNvPr>
          <p:cNvSpPr txBox="1"/>
          <p:nvPr/>
        </p:nvSpPr>
        <p:spPr>
          <a:xfrm>
            <a:off x="738583" y="1725353"/>
            <a:ext cx="10638084" cy="3416320"/>
          </a:xfrm>
          <a:prstGeom prst="rect">
            <a:avLst/>
          </a:prstGeom>
          <a:noFill/>
        </p:spPr>
        <p:txBody>
          <a:bodyPr wrap="square">
            <a:spAutoFit/>
          </a:bodyPr>
          <a:lstStyle/>
          <a:p>
            <a:pPr marL="914400" lvl="1" indent="-457200">
              <a:buFont typeface="Arial" panose="020B0604020202020204" pitchFamily="34" charset="0"/>
              <a:buChar char="•"/>
            </a:pPr>
            <a:r>
              <a:rPr lang="en-US" sz="2400" dirty="0">
                <a:latin typeface="Times" panose="02020603050405020304" pitchFamily="18" charset="0"/>
                <a:cs typeface="Times" panose="02020603050405020304" pitchFamily="18" charset="0"/>
              </a:rPr>
              <a:t>Big Data and Supply Chain Uncertainty (Chen et al., 2023). </a:t>
            </a:r>
          </a:p>
          <a:p>
            <a:pPr marL="914400" lvl="1" indent="-457200">
              <a:buFont typeface="Arial" panose="020B0604020202020204" pitchFamily="34" charset="0"/>
              <a:buChar char="•"/>
            </a:pPr>
            <a:r>
              <a:rPr lang="en-US" sz="2400" dirty="0">
                <a:latin typeface="Times" panose="02020603050405020304" pitchFamily="18" charset="0"/>
                <a:cs typeface="Times" panose="02020603050405020304" pitchFamily="18" charset="0"/>
              </a:rPr>
              <a:t>Current Models are Lacking in quick response(Chen et al., 2023; de Lima et al., 2022).</a:t>
            </a:r>
          </a:p>
          <a:p>
            <a:pPr marL="914400" lvl="1" indent="-457200">
              <a:buFont typeface="Arial" panose="020B0604020202020204" pitchFamily="34" charset="0"/>
              <a:buChar char="•"/>
            </a:pPr>
            <a:r>
              <a:rPr lang="en-US" sz="2400" dirty="0">
                <a:latin typeface="Times" panose="02020603050405020304" pitchFamily="18" charset="0"/>
                <a:cs typeface="Times" panose="02020603050405020304" pitchFamily="18" charset="0"/>
              </a:rPr>
              <a:t>AI and Machine Learning have proven effective (Maheshwari et al., 2021; Mentzer et al., 2011). </a:t>
            </a:r>
          </a:p>
          <a:p>
            <a:pPr marL="914400" lvl="1" indent="-457200">
              <a:buFont typeface="Arial" panose="020B0604020202020204" pitchFamily="34" charset="0"/>
              <a:buChar char="•"/>
            </a:pPr>
            <a:r>
              <a:rPr lang="en-US" sz="2400" dirty="0">
                <a:latin typeface="Times" panose="02020603050405020304" pitchFamily="18" charset="0"/>
                <a:cs typeface="Times" panose="02020603050405020304" pitchFamily="18" charset="0"/>
              </a:rPr>
              <a:t>Data-centric methods have also proven effective in optimization (de Lima et al., 2022; </a:t>
            </a:r>
            <a:r>
              <a:rPr lang="en-US" sz="2400" dirty="0" err="1">
                <a:latin typeface="Times" panose="02020603050405020304" pitchFamily="18" charset="0"/>
                <a:cs typeface="Times" panose="02020603050405020304" pitchFamily="18" charset="0"/>
              </a:rPr>
              <a:t>Suryawanshi</a:t>
            </a:r>
            <a:r>
              <a:rPr lang="en-US" sz="2400" dirty="0">
                <a:latin typeface="Times" panose="02020603050405020304" pitchFamily="18" charset="0"/>
                <a:cs typeface="Times" panose="02020603050405020304" pitchFamily="18" charset="0"/>
              </a:rPr>
              <a:t> &amp; Dutta, 2022). </a:t>
            </a:r>
          </a:p>
          <a:p>
            <a:pPr marL="914400" lvl="1" indent="-457200">
              <a:buFont typeface="Arial" panose="020B0604020202020204" pitchFamily="34" charset="0"/>
              <a:buChar char="•"/>
            </a:pPr>
            <a:r>
              <a:rPr lang="en-US" sz="2400" dirty="0">
                <a:latin typeface="Times" panose="02020603050405020304" pitchFamily="18" charset="0"/>
                <a:cs typeface="Times" panose="02020603050405020304" pitchFamily="18" charset="0"/>
              </a:rPr>
              <a:t>Reinforcement Learning may advance response and optimization (</a:t>
            </a:r>
            <a:r>
              <a:rPr lang="en-US" sz="2400" dirty="0" err="1">
                <a:latin typeface="Times" panose="02020603050405020304" pitchFamily="18" charset="0"/>
                <a:cs typeface="Times" panose="02020603050405020304" pitchFamily="18" charset="0"/>
              </a:rPr>
              <a:t>Aboutorab</a:t>
            </a:r>
            <a:r>
              <a:rPr lang="en-US" sz="2400" dirty="0">
                <a:latin typeface="Times" panose="02020603050405020304" pitchFamily="18" charset="0"/>
                <a:cs typeface="Times" panose="02020603050405020304" pitchFamily="18" charset="0"/>
              </a:rPr>
              <a:t> et al., 2022). </a:t>
            </a:r>
          </a:p>
        </p:txBody>
      </p:sp>
      <p:sp>
        <p:nvSpPr>
          <p:cNvPr id="4" name="TextBox 3">
            <a:extLst>
              <a:ext uri="{FF2B5EF4-FFF2-40B4-BE49-F238E27FC236}">
                <a16:creationId xmlns:a16="http://schemas.microsoft.com/office/drawing/2014/main" id="{68E147C7-91FD-55FB-4ACC-DA52D8C9A733}"/>
              </a:ext>
            </a:extLst>
          </p:cNvPr>
          <p:cNvSpPr txBox="1"/>
          <p:nvPr/>
        </p:nvSpPr>
        <p:spPr>
          <a:xfrm>
            <a:off x="621615" y="210247"/>
            <a:ext cx="8413824" cy="630942"/>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INTRODUCTION</a:t>
            </a:r>
          </a:p>
        </p:txBody>
      </p:sp>
    </p:spTree>
    <p:extLst>
      <p:ext uri="{BB962C8B-B14F-4D97-AF65-F5344CB8AC3E}">
        <p14:creationId xmlns:p14="http://schemas.microsoft.com/office/powerpoint/2010/main" val="3979389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2329D3-4F9F-4417-B37A-6D0774C91608}"/>
              </a:ext>
            </a:extLst>
          </p:cNvPr>
          <p:cNvSpPr txBox="1"/>
          <p:nvPr/>
        </p:nvSpPr>
        <p:spPr>
          <a:xfrm>
            <a:off x="621615" y="494040"/>
            <a:ext cx="8413824" cy="630942"/>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PROBLEM &amp; PURPOSE STATEMENTS</a:t>
            </a:r>
          </a:p>
        </p:txBody>
      </p:sp>
      <p:sp>
        <p:nvSpPr>
          <p:cNvPr id="7" name="Content Placeholder 2">
            <a:extLst>
              <a:ext uri="{FF2B5EF4-FFF2-40B4-BE49-F238E27FC236}">
                <a16:creationId xmlns:a16="http://schemas.microsoft.com/office/drawing/2014/main" id="{6478FB27-128C-41F1-B314-C8CB5665C7ED}"/>
              </a:ext>
            </a:extLst>
          </p:cNvPr>
          <p:cNvSpPr txBox="1">
            <a:spLocks/>
          </p:cNvSpPr>
          <p:nvPr/>
        </p:nvSpPr>
        <p:spPr>
          <a:xfrm>
            <a:off x="621615" y="1274980"/>
            <a:ext cx="11053061" cy="4894954"/>
          </a:xfrm>
          <a:prstGeom prst="rect">
            <a:avLst/>
          </a:prstGeom>
        </p:spPr>
        <p:txBody>
          <a:bodyPr vert="horz" lIns="91440" tIns="45720" rIns="91440" bIns="45720" rtlCol="0">
            <a:normAutofit/>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defRPr/>
            </a:pPr>
            <a:r>
              <a:rPr lang="en-US" sz="2000" dirty="0">
                <a:latin typeface="Times" panose="02020603050405020304" pitchFamily="18" charset="0"/>
                <a:cs typeface="Times" panose="02020603050405020304" pitchFamily="18" charset="0"/>
              </a:rPr>
              <a:t>	</a:t>
            </a:r>
            <a:r>
              <a:rPr lang="en-US" sz="2400" dirty="0">
                <a:latin typeface="Times" panose="02020603050405020304" pitchFamily="18" charset="0"/>
                <a:cs typeface="Times" panose="02020603050405020304" pitchFamily="18" charset="0"/>
              </a:rPr>
              <a:t>The problem to be addressed in this study is the lack of current data-centric models available to address the increase of uncertainty in the supply chain due to changes in the current environment, such as cost increases, material shortages, and delivery issues (Dubey et al., 2021; Guerra et al., 2024; </a:t>
            </a:r>
            <a:r>
              <a:rPr lang="en-US" sz="2400" dirty="0" err="1">
                <a:latin typeface="Times" panose="02020603050405020304" pitchFamily="18" charset="0"/>
                <a:cs typeface="Times" panose="02020603050405020304" pitchFamily="18" charset="0"/>
              </a:rPr>
              <a:t>Shekarabi</a:t>
            </a:r>
            <a:r>
              <a:rPr lang="en-US" sz="2400" dirty="0">
                <a:latin typeface="Times" panose="02020603050405020304" pitchFamily="18" charset="0"/>
                <a:cs typeface="Times" panose="02020603050405020304" pitchFamily="18" charset="0"/>
              </a:rPr>
              <a:t> &amp; </a:t>
            </a:r>
            <a:r>
              <a:rPr lang="en-US" sz="2400" dirty="0" err="1">
                <a:latin typeface="Times" panose="02020603050405020304" pitchFamily="18" charset="0"/>
                <a:cs typeface="Times" panose="02020603050405020304" pitchFamily="18" charset="0"/>
              </a:rPr>
              <a:t>Mozdgir</a:t>
            </a:r>
            <a:r>
              <a:rPr lang="en-US" sz="2400" dirty="0">
                <a:latin typeface="Times" panose="02020603050405020304" pitchFamily="18" charset="0"/>
                <a:cs typeface="Times" panose="02020603050405020304" pitchFamily="18" charset="0"/>
              </a:rPr>
              <a:t>, 2025). </a:t>
            </a:r>
          </a:p>
          <a:p>
            <a:pPr marL="0" lvl="0" indent="0">
              <a:buNone/>
              <a:defRPr/>
            </a:pPr>
            <a:endParaRPr kumimoji="0" lang="en-US" sz="2400" b="0" i="0" u="none" strike="noStrike" kern="1200" cap="none" spc="0" normalizeH="0" baseline="0" noProof="0" dirty="0">
              <a:ln>
                <a:noFill/>
              </a:ln>
              <a:solidFill>
                <a:sysClr val="windowText" lastClr="000000">
                  <a:lumMod val="85000"/>
                  <a:lumOff val="15000"/>
                </a:sysClr>
              </a:solidFill>
              <a:effectLst/>
              <a:uLnTx/>
              <a:uFillTx/>
              <a:latin typeface="Times" panose="02020603050405020304" pitchFamily="18" charset="0"/>
              <a:cs typeface="Times" panose="02020603050405020304" pitchFamily="18" charset="0"/>
            </a:endParaRPr>
          </a:p>
          <a:p>
            <a:pPr marL="0" lvl="0" indent="0">
              <a:buNone/>
              <a:defRPr/>
            </a:pPr>
            <a:r>
              <a:rPr lang="en-US" sz="2400" dirty="0">
                <a:latin typeface="Times" panose="02020603050405020304" pitchFamily="18" charset="0"/>
                <a:cs typeface="Times" panose="02020603050405020304" pitchFamily="18" charset="0"/>
              </a:rPr>
              <a:t>	The purpose of this quantitative, experimental, study is to explore reinforcement learning (RL), to increase the resilience of the supply chain through a dual-goal approach. The focus will be on two performance indicators: profit increase and on-time delivery.</a:t>
            </a:r>
            <a:endParaRPr kumimoji="0" lang="en-US" sz="2400" b="0" i="0" u="none" strike="noStrike" kern="1200" cap="none" spc="0" normalizeH="0" baseline="0" noProof="0" dirty="0">
              <a:ln>
                <a:noFill/>
              </a:ln>
              <a:solidFill>
                <a:sysClr val="windowText" lastClr="000000">
                  <a:lumMod val="85000"/>
                  <a:lumOff val="15000"/>
                </a:sysClr>
              </a:solidFill>
              <a:effectLst/>
              <a:uLnTx/>
              <a:uFillTx/>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948186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B45E25-F7AE-4E8E-A288-C7CE9574E59C}"/>
              </a:ext>
            </a:extLst>
          </p:cNvPr>
          <p:cNvSpPr txBox="1"/>
          <p:nvPr/>
        </p:nvSpPr>
        <p:spPr>
          <a:xfrm>
            <a:off x="621614" y="494040"/>
            <a:ext cx="11166433" cy="630942"/>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RESEARCH QUESTIONS &amp; HYPOTHESES</a:t>
            </a:r>
          </a:p>
        </p:txBody>
      </p:sp>
      <p:sp>
        <p:nvSpPr>
          <p:cNvPr id="5" name="Content Placeholder 2">
            <a:extLst>
              <a:ext uri="{FF2B5EF4-FFF2-40B4-BE49-F238E27FC236}">
                <a16:creationId xmlns:a16="http://schemas.microsoft.com/office/drawing/2014/main" id="{8DBA5DAC-EF2B-4991-8535-A69C9A96B3F2}"/>
              </a:ext>
            </a:extLst>
          </p:cNvPr>
          <p:cNvSpPr txBox="1">
            <a:spLocks/>
          </p:cNvSpPr>
          <p:nvPr/>
        </p:nvSpPr>
        <p:spPr>
          <a:xfrm>
            <a:off x="621615" y="1385332"/>
            <a:ext cx="11035229" cy="38778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3600" dirty="0"/>
          </a:p>
        </p:txBody>
      </p:sp>
      <p:sp>
        <p:nvSpPr>
          <p:cNvPr id="8" name="Content Placeholder 2">
            <a:extLst>
              <a:ext uri="{FF2B5EF4-FFF2-40B4-BE49-F238E27FC236}">
                <a16:creationId xmlns:a16="http://schemas.microsoft.com/office/drawing/2014/main" id="{E0B00C9B-278A-4C01-8516-E2BC920B46CB}"/>
              </a:ext>
            </a:extLst>
          </p:cNvPr>
          <p:cNvSpPr txBox="1">
            <a:spLocks/>
          </p:cNvSpPr>
          <p:nvPr/>
        </p:nvSpPr>
        <p:spPr>
          <a:xfrm>
            <a:off x="621615" y="1251717"/>
            <a:ext cx="11163988" cy="4894954"/>
          </a:xfrm>
          <a:prstGeom prst="rect">
            <a:avLst/>
          </a:prstGeom>
        </p:spPr>
        <p:txBody>
          <a:bodyPr vert="horz" lIns="91440" tIns="45720" rIns="91440" bIns="45720" rtlCol="0">
            <a:normAutofit fontScale="92500" lnSpcReduction="10000"/>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r>
              <a:rPr lang="en-US" sz="2400" b="1" dirty="0">
                <a:latin typeface="Times" panose="02020603050405020304" pitchFamily="18" charset="0"/>
                <a:cs typeface="Times" panose="02020603050405020304" pitchFamily="18" charset="0"/>
              </a:rPr>
              <a:t> RQ1.</a:t>
            </a:r>
            <a:r>
              <a:rPr lang="en-US" sz="2400" dirty="0">
                <a:latin typeface="Times" panose="02020603050405020304" pitchFamily="18" charset="0"/>
                <a:cs typeface="Times" panose="02020603050405020304" pitchFamily="18" charset="0"/>
              </a:rPr>
              <a:t> To what extent can a Reinforcement Learning model be applied to the complexities of the supply chain in order to optimize profit and on-time delivery?</a:t>
            </a:r>
          </a:p>
          <a:p>
            <a:pPr marL="747713" lvl="2" indent="-457200">
              <a:buFont typeface="Arial" panose="020B0604020202020204" pitchFamily="34" charset="0"/>
              <a:buChar char="•"/>
            </a:pPr>
            <a:r>
              <a:rPr lang="en-US" sz="2400" b="1" dirty="0">
                <a:latin typeface="Times" panose="02020603050405020304" pitchFamily="18" charset="0"/>
                <a:cs typeface="Times" panose="02020603050405020304" pitchFamily="18" charset="0"/>
              </a:rPr>
              <a:t>H1</a:t>
            </a:r>
            <a:r>
              <a:rPr lang="en-US" sz="2400" b="1" baseline="-25000" dirty="0">
                <a:latin typeface="Times" panose="02020603050405020304" pitchFamily="18" charset="0"/>
                <a:cs typeface="Times" panose="02020603050405020304" pitchFamily="18" charset="0"/>
              </a:rPr>
              <a:t>o   </a:t>
            </a:r>
            <a:r>
              <a:rPr lang="en-US" sz="2400" dirty="0">
                <a:latin typeface="Times" panose="02020603050405020304" pitchFamily="18" charset="0"/>
                <a:cs typeface="Times" panose="02020603050405020304" pitchFamily="18" charset="0"/>
              </a:rPr>
              <a:t>A Reinforcement Learning model cannot be applied to the complexities of the supply chain in order to optimize profits and on-time delivery.</a:t>
            </a:r>
            <a:endParaRPr lang="en-US" sz="2400" b="1" baseline="-25000" dirty="0">
              <a:latin typeface="Times" panose="02020603050405020304" pitchFamily="18" charset="0"/>
              <a:cs typeface="Times" panose="02020603050405020304" pitchFamily="18" charset="0"/>
            </a:endParaRPr>
          </a:p>
          <a:p>
            <a:pPr marL="747713" lvl="2" indent="-457200">
              <a:buFont typeface="Arial" panose="020B0604020202020204" pitchFamily="34" charset="0"/>
              <a:buChar char="•"/>
            </a:pPr>
            <a:r>
              <a:rPr lang="en-US" sz="2400" b="1" dirty="0">
                <a:latin typeface="Times" panose="02020603050405020304" pitchFamily="18" charset="0"/>
                <a:cs typeface="Times" panose="02020603050405020304" pitchFamily="18" charset="0"/>
              </a:rPr>
              <a:t>H1</a:t>
            </a:r>
            <a:r>
              <a:rPr lang="en-US" sz="2400" b="1" baseline="-25000" dirty="0">
                <a:latin typeface="Times" panose="02020603050405020304" pitchFamily="18" charset="0"/>
                <a:cs typeface="Times" panose="02020603050405020304" pitchFamily="18" charset="0"/>
              </a:rPr>
              <a:t>a </a:t>
            </a:r>
            <a:r>
              <a:rPr lang="en-US" sz="2400" dirty="0">
                <a:latin typeface="Times" panose="02020603050405020304" pitchFamily="18" charset="0"/>
                <a:cs typeface="Times" panose="02020603050405020304" pitchFamily="18" charset="0"/>
              </a:rPr>
              <a:t>A Reinforcement Learning model can be applied to the complexities of the supply chain in order to optimize profits and on-time delivery.</a:t>
            </a:r>
          </a:p>
          <a:p>
            <a:pPr marL="290513" lvl="2" indent="0">
              <a:buNone/>
            </a:pPr>
            <a:endParaRPr lang="en-US" sz="2400" b="1" baseline="-25000" dirty="0">
              <a:latin typeface="Times" panose="02020603050405020304" pitchFamily="18" charset="0"/>
              <a:cs typeface="Times" panose="02020603050405020304" pitchFamily="18" charset="0"/>
            </a:endParaRPr>
          </a:p>
          <a:p>
            <a:pPr marL="747713" lvl="2" indent="-457200">
              <a:buFont typeface="Arial" panose="020B0604020202020204" pitchFamily="34" charset="0"/>
              <a:buChar char="•"/>
            </a:pPr>
            <a:endParaRPr lang="en-US" sz="2400" b="1" baseline="-25000" dirty="0">
              <a:latin typeface="Times" panose="02020603050405020304" pitchFamily="18" charset="0"/>
              <a:cs typeface="Times" panose="02020603050405020304" pitchFamily="18" charset="0"/>
            </a:endParaRPr>
          </a:p>
          <a:p>
            <a:pPr marL="457200" indent="-457200"/>
            <a:r>
              <a:rPr lang="en-US" sz="2400" b="1" dirty="0">
                <a:latin typeface="Times" panose="02020603050405020304" pitchFamily="18" charset="0"/>
                <a:cs typeface="Times" panose="02020603050405020304" pitchFamily="18" charset="0"/>
              </a:rPr>
              <a:t> RQ2.  </a:t>
            </a:r>
            <a:r>
              <a:rPr lang="en-US" sz="2400" dirty="0">
                <a:latin typeface="Times" panose="02020603050405020304" pitchFamily="18" charset="0"/>
                <a:cs typeface="Times" panose="02020603050405020304" pitchFamily="18" charset="0"/>
              </a:rPr>
              <a:t>Is one method of Reinforcement Learning better suited to optimizing the Supply Chain process than others (e.g. Q-learning or SARSA)?</a:t>
            </a:r>
          </a:p>
          <a:p>
            <a:pPr marL="747713" lvl="2" indent="-457200">
              <a:buFont typeface="Arial" panose="020B0604020202020204" pitchFamily="34" charset="0"/>
              <a:buChar char="•"/>
            </a:pPr>
            <a:r>
              <a:rPr lang="en-US" sz="2400" b="1" dirty="0">
                <a:latin typeface="Times" panose="02020603050405020304" pitchFamily="18" charset="0"/>
                <a:cs typeface="Times" panose="02020603050405020304" pitchFamily="18" charset="0"/>
              </a:rPr>
              <a:t>H2</a:t>
            </a:r>
            <a:r>
              <a:rPr lang="en-US" sz="2400" b="1" baseline="-25000" dirty="0">
                <a:latin typeface="Times" panose="02020603050405020304" pitchFamily="18" charset="0"/>
                <a:cs typeface="Times" panose="02020603050405020304" pitchFamily="18" charset="0"/>
              </a:rPr>
              <a:t>o  </a:t>
            </a:r>
            <a:r>
              <a:rPr lang="en-US" sz="2400" dirty="0">
                <a:latin typeface="Times" panose="02020603050405020304" pitchFamily="18" charset="0"/>
                <a:cs typeface="Times" panose="02020603050405020304" pitchFamily="18" charset="0"/>
              </a:rPr>
              <a:t>There is no one method of Reinforcement Learning that is better suited to optimizing the Supply Chain process than others.</a:t>
            </a:r>
            <a:endParaRPr lang="en-US" sz="2400" b="1" baseline="-25000" dirty="0">
              <a:latin typeface="Times" panose="02020603050405020304" pitchFamily="18" charset="0"/>
              <a:cs typeface="Times" panose="02020603050405020304" pitchFamily="18" charset="0"/>
            </a:endParaRPr>
          </a:p>
          <a:p>
            <a:pPr marL="747713" lvl="2" indent="-457200">
              <a:buFont typeface="Arial" panose="020B0604020202020204" pitchFamily="34" charset="0"/>
              <a:buChar char="•"/>
            </a:pPr>
            <a:r>
              <a:rPr lang="en-US" sz="2400" b="1" dirty="0">
                <a:latin typeface="Times" panose="02020603050405020304" pitchFamily="18" charset="0"/>
                <a:cs typeface="Times" panose="02020603050405020304" pitchFamily="18" charset="0"/>
              </a:rPr>
              <a:t>H2</a:t>
            </a:r>
            <a:r>
              <a:rPr lang="en-US" sz="2400" b="1" baseline="-25000" dirty="0">
                <a:latin typeface="Times" panose="02020603050405020304" pitchFamily="18" charset="0"/>
                <a:cs typeface="Times" panose="02020603050405020304" pitchFamily="18" charset="0"/>
              </a:rPr>
              <a:t>a  </a:t>
            </a:r>
            <a:r>
              <a:rPr lang="en-US" sz="2400" dirty="0">
                <a:latin typeface="Times" panose="02020603050405020304" pitchFamily="18" charset="0"/>
                <a:cs typeface="Times" panose="02020603050405020304" pitchFamily="18" charset="0"/>
              </a:rPr>
              <a:t>There is one method of Reinforcement Learning that is better suited to optimizing the Supply Chain process than others.</a:t>
            </a:r>
          </a:p>
          <a:p>
            <a:pPr marL="747713" lvl="2" indent="-457200">
              <a:buFont typeface="Arial" panose="020B0604020202020204" pitchFamily="34" charset="0"/>
              <a:buChar char="•"/>
            </a:pPr>
            <a:endParaRPr lang="en-US" sz="20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117861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9B27D-85FA-0C52-727D-6E25B7B50DB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59EB910-07E3-C8B5-EB03-5C730DB7E77D}"/>
              </a:ext>
            </a:extLst>
          </p:cNvPr>
          <p:cNvSpPr txBox="1"/>
          <p:nvPr/>
        </p:nvSpPr>
        <p:spPr>
          <a:xfrm>
            <a:off x="621614" y="494040"/>
            <a:ext cx="11166433" cy="630942"/>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RESEARCH QUESTIONS &amp; HYPOTHESES</a:t>
            </a:r>
          </a:p>
        </p:txBody>
      </p:sp>
      <p:sp>
        <p:nvSpPr>
          <p:cNvPr id="5" name="Content Placeholder 2">
            <a:extLst>
              <a:ext uri="{FF2B5EF4-FFF2-40B4-BE49-F238E27FC236}">
                <a16:creationId xmlns:a16="http://schemas.microsoft.com/office/drawing/2014/main" id="{5D48C910-04C0-B6B1-BAF7-4D9B8F7B82D4}"/>
              </a:ext>
            </a:extLst>
          </p:cNvPr>
          <p:cNvSpPr txBox="1">
            <a:spLocks/>
          </p:cNvSpPr>
          <p:nvPr/>
        </p:nvSpPr>
        <p:spPr>
          <a:xfrm>
            <a:off x="621615" y="1385332"/>
            <a:ext cx="11035229" cy="38778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3600" dirty="0"/>
          </a:p>
        </p:txBody>
      </p:sp>
      <p:sp>
        <p:nvSpPr>
          <p:cNvPr id="8" name="Content Placeholder 2">
            <a:extLst>
              <a:ext uri="{FF2B5EF4-FFF2-40B4-BE49-F238E27FC236}">
                <a16:creationId xmlns:a16="http://schemas.microsoft.com/office/drawing/2014/main" id="{5F69A96E-509B-57BA-3ABC-77F7F5A413B1}"/>
              </a:ext>
            </a:extLst>
          </p:cNvPr>
          <p:cNvSpPr txBox="1">
            <a:spLocks/>
          </p:cNvSpPr>
          <p:nvPr/>
        </p:nvSpPr>
        <p:spPr>
          <a:xfrm>
            <a:off x="621615" y="1251717"/>
            <a:ext cx="11163988" cy="4894954"/>
          </a:xfrm>
          <a:prstGeom prst="rect">
            <a:avLst/>
          </a:prstGeom>
        </p:spPr>
        <p:txBody>
          <a:bodyPr vert="horz" lIns="91440" tIns="45720" rIns="91440" bIns="45720" rtlCol="0">
            <a:normAutofit fontScale="92500" lnSpcReduction="20000"/>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r>
              <a:rPr lang="en-US" sz="2600" b="1" dirty="0">
                <a:latin typeface="Times" panose="02020603050405020304" pitchFamily="18" charset="0"/>
                <a:cs typeface="Times" panose="02020603050405020304" pitchFamily="18" charset="0"/>
              </a:rPr>
              <a:t> RQ3.</a:t>
            </a:r>
            <a:r>
              <a:rPr lang="en-US" sz="2600" dirty="0">
                <a:latin typeface="Times" panose="02020603050405020304" pitchFamily="18" charset="0"/>
                <a:cs typeface="Times" panose="02020603050405020304" pitchFamily="18" charset="0"/>
              </a:rPr>
              <a:t> Can different reward options improve the increase in profit or increase in on-time deliveries?</a:t>
            </a:r>
          </a:p>
          <a:p>
            <a:pPr marL="747713" lvl="2" indent="-457200">
              <a:buFont typeface="Arial" panose="020B0604020202020204" pitchFamily="34" charset="0"/>
              <a:buChar char="•"/>
            </a:pPr>
            <a:r>
              <a:rPr lang="en-US" sz="2600" b="1" dirty="0">
                <a:latin typeface="Times" panose="02020603050405020304" pitchFamily="18" charset="0"/>
                <a:cs typeface="Times" panose="02020603050405020304" pitchFamily="18" charset="0"/>
              </a:rPr>
              <a:t>H3</a:t>
            </a:r>
            <a:r>
              <a:rPr lang="en-US" sz="2600" b="1" baseline="-25000" dirty="0">
                <a:latin typeface="Times" panose="02020603050405020304" pitchFamily="18" charset="0"/>
                <a:cs typeface="Times" panose="02020603050405020304" pitchFamily="18" charset="0"/>
              </a:rPr>
              <a:t>o </a:t>
            </a:r>
            <a:r>
              <a:rPr lang="en-US" sz="2600" dirty="0">
                <a:latin typeface="Times" panose="02020603050405020304" pitchFamily="18" charset="0"/>
                <a:cs typeface="Times" panose="02020603050405020304" pitchFamily="18" charset="0"/>
              </a:rPr>
              <a:t>Different reward options cannot improve the increase in profits or increase in on-time deliveries.</a:t>
            </a:r>
            <a:endParaRPr lang="en-US" sz="2600" b="1" baseline="-25000" dirty="0">
              <a:latin typeface="Times" panose="02020603050405020304" pitchFamily="18" charset="0"/>
              <a:cs typeface="Times" panose="02020603050405020304" pitchFamily="18" charset="0"/>
            </a:endParaRPr>
          </a:p>
          <a:p>
            <a:pPr marL="747713" lvl="2" indent="-457200">
              <a:buFont typeface="Arial" panose="020B0604020202020204" pitchFamily="34" charset="0"/>
              <a:buChar char="•"/>
            </a:pPr>
            <a:r>
              <a:rPr lang="en-US" sz="2600" b="1" dirty="0">
                <a:latin typeface="Times" panose="02020603050405020304" pitchFamily="18" charset="0"/>
                <a:cs typeface="Times" panose="02020603050405020304" pitchFamily="18" charset="0"/>
              </a:rPr>
              <a:t>H3</a:t>
            </a:r>
            <a:r>
              <a:rPr lang="en-US" sz="2600" b="1" baseline="-25000" dirty="0">
                <a:latin typeface="Times" panose="02020603050405020304" pitchFamily="18" charset="0"/>
                <a:cs typeface="Times" panose="02020603050405020304" pitchFamily="18" charset="0"/>
              </a:rPr>
              <a:t>a </a:t>
            </a:r>
            <a:r>
              <a:rPr lang="en-US" sz="2600" dirty="0">
                <a:latin typeface="Times" panose="02020603050405020304" pitchFamily="18" charset="0"/>
                <a:cs typeface="Times" panose="02020603050405020304" pitchFamily="18" charset="0"/>
              </a:rPr>
              <a:t>Different reward options can improve the increase in profits or increase in on-time deliveries.</a:t>
            </a:r>
          </a:p>
          <a:p>
            <a:pPr marL="290513" lvl="2" indent="0">
              <a:buNone/>
            </a:pPr>
            <a:endParaRPr lang="en-US" sz="2600" b="1" baseline="-25000" dirty="0">
              <a:latin typeface="Times" panose="02020603050405020304" pitchFamily="18" charset="0"/>
              <a:cs typeface="Times" panose="02020603050405020304" pitchFamily="18" charset="0"/>
            </a:endParaRPr>
          </a:p>
          <a:p>
            <a:pPr marL="747713" lvl="2" indent="-457200">
              <a:buFont typeface="Arial" panose="020B0604020202020204" pitchFamily="34" charset="0"/>
              <a:buChar char="•"/>
            </a:pPr>
            <a:endParaRPr lang="en-US" sz="2600" b="1" baseline="-25000" dirty="0">
              <a:latin typeface="Times" panose="02020603050405020304" pitchFamily="18" charset="0"/>
              <a:cs typeface="Times" panose="02020603050405020304" pitchFamily="18" charset="0"/>
            </a:endParaRPr>
          </a:p>
          <a:p>
            <a:pPr marL="457200" indent="-457200"/>
            <a:r>
              <a:rPr lang="en-US" sz="2600" b="1" dirty="0">
                <a:latin typeface="Times" panose="02020603050405020304" pitchFamily="18" charset="0"/>
                <a:cs typeface="Times" panose="02020603050405020304" pitchFamily="18" charset="0"/>
              </a:rPr>
              <a:t> RQ4. </a:t>
            </a:r>
            <a:r>
              <a:rPr lang="en-US" sz="2600" dirty="0">
                <a:latin typeface="Times" panose="02020603050405020304" pitchFamily="18" charset="0"/>
                <a:cs typeface="Times" panose="02020603050405020304" pitchFamily="18" charset="0"/>
              </a:rPr>
              <a:t>Can a Reinforcement Learning model be applied to increase profits by at least 10% and increase on-time deliveries by at least 20%?</a:t>
            </a:r>
          </a:p>
          <a:p>
            <a:pPr marL="747713" lvl="2" indent="-457200">
              <a:buFont typeface="Arial" panose="020B0604020202020204" pitchFamily="34" charset="0"/>
              <a:buChar char="•"/>
            </a:pPr>
            <a:r>
              <a:rPr lang="en-US" sz="2600" b="1" dirty="0">
                <a:latin typeface="Times" panose="02020603050405020304" pitchFamily="18" charset="0"/>
                <a:cs typeface="Times" panose="02020603050405020304" pitchFamily="18" charset="0"/>
              </a:rPr>
              <a:t>H4</a:t>
            </a:r>
            <a:r>
              <a:rPr lang="en-US" sz="2600" b="1" baseline="-25000" dirty="0">
                <a:latin typeface="Times" panose="02020603050405020304" pitchFamily="18" charset="0"/>
                <a:cs typeface="Times" panose="02020603050405020304" pitchFamily="18" charset="0"/>
              </a:rPr>
              <a:t>o </a:t>
            </a:r>
            <a:r>
              <a:rPr lang="en-US" sz="2600" dirty="0">
                <a:latin typeface="Times" panose="02020603050405020304" pitchFamily="18" charset="0"/>
                <a:cs typeface="Times" panose="02020603050405020304" pitchFamily="18" charset="0"/>
              </a:rPr>
              <a:t>A Reinforcement Learning model cannot be applied to increase profits by at least 10%, increase on-time deliveries by at least 20%.</a:t>
            </a:r>
            <a:endParaRPr lang="en-US" sz="2600" b="1" baseline="-25000" dirty="0">
              <a:latin typeface="Times" panose="02020603050405020304" pitchFamily="18" charset="0"/>
              <a:cs typeface="Times" panose="02020603050405020304" pitchFamily="18" charset="0"/>
            </a:endParaRPr>
          </a:p>
          <a:p>
            <a:pPr marL="747713" lvl="2" indent="-457200">
              <a:buFont typeface="Arial" panose="020B0604020202020204" pitchFamily="34" charset="0"/>
              <a:buChar char="•"/>
            </a:pPr>
            <a:r>
              <a:rPr lang="en-US" sz="2600" b="1" dirty="0">
                <a:latin typeface="Times" panose="02020603050405020304" pitchFamily="18" charset="0"/>
                <a:cs typeface="Times" panose="02020603050405020304" pitchFamily="18" charset="0"/>
              </a:rPr>
              <a:t>H4</a:t>
            </a:r>
            <a:r>
              <a:rPr lang="en-US" sz="2600" b="1" baseline="-25000" dirty="0">
                <a:latin typeface="Times" panose="02020603050405020304" pitchFamily="18" charset="0"/>
                <a:cs typeface="Times" panose="02020603050405020304" pitchFamily="18" charset="0"/>
              </a:rPr>
              <a:t>a </a:t>
            </a:r>
            <a:r>
              <a:rPr lang="en-US" sz="2600" dirty="0">
                <a:latin typeface="Times" panose="02020603050405020304" pitchFamily="18" charset="0"/>
                <a:cs typeface="Times" panose="02020603050405020304" pitchFamily="18" charset="0"/>
              </a:rPr>
              <a:t>A Reinforcement Learning model can be applied to increase profits by at least 10%, increase on-time deliveries by at least 20%.</a:t>
            </a:r>
          </a:p>
          <a:p>
            <a:pPr marL="747713" lvl="2" indent="-457200">
              <a:buFont typeface="Arial" panose="020B0604020202020204" pitchFamily="34" charset="0"/>
              <a:buChar char="•"/>
            </a:pPr>
            <a:endParaRPr lang="en-US" sz="20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86950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455E48-AC35-4512-9853-517C76454931}"/>
              </a:ext>
            </a:extLst>
          </p:cNvPr>
          <p:cNvSpPr txBox="1"/>
          <p:nvPr/>
        </p:nvSpPr>
        <p:spPr>
          <a:xfrm>
            <a:off x="621614" y="494040"/>
            <a:ext cx="11166433" cy="630942"/>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FRAMEWORK</a:t>
            </a:r>
          </a:p>
        </p:txBody>
      </p:sp>
      <p:sp>
        <p:nvSpPr>
          <p:cNvPr id="3" name="Rectangle 2">
            <a:extLst>
              <a:ext uri="{FF2B5EF4-FFF2-40B4-BE49-F238E27FC236}">
                <a16:creationId xmlns:a16="http://schemas.microsoft.com/office/drawing/2014/main" id="{9D7D3653-9B3B-4232-96CD-E174B2007D80}"/>
              </a:ext>
            </a:extLst>
          </p:cNvPr>
          <p:cNvSpPr/>
          <p:nvPr/>
        </p:nvSpPr>
        <p:spPr>
          <a:xfrm>
            <a:off x="621615" y="1274980"/>
            <a:ext cx="10954678" cy="3256276"/>
          </a:xfrm>
          <a:prstGeom prst="rect">
            <a:avLst/>
          </a:prstGeom>
        </p:spPr>
        <p:txBody>
          <a:bodyPr wrap="square" lIns="91440" tIns="45720" rIns="91440" bIns="45720" anchor="t">
            <a:spAutoFit/>
          </a:bodyPr>
          <a:lstStyle/>
          <a:p>
            <a:pPr marL="457200" indent="-457200">
              <a:buFont typeface="Wingdings" panose="05000000000000000000" pitchFamily="2" charset="2"/>
              <a:buChar char="§"/>
            </a:pPr>
            <a:r>
              <a:rPr lang="en-US" sz="2400" dirty="0">
                <a:latin typeface="Times" panose="02020603050405020304" pitchFamily="18" charset="0"/>
                <a:cs typeface="Times" panose="02020603050405020304" pitchFamily="18" charset="0"/>
              </a:rPr>
              <a:t>The Cross Industry Standard Process for Data Mining (CRISP-DM) is the foundational framework. </a:t>
            </a:r>
          </a:p>
          <a:p>
            <a:pPr marL="457200" indent="-457200">
              <a:buFont typeface="Wingdings" panose="05000000000000000000" pitchFamily="2" charset="2"/>
              <a:buChar char="§"/>
            </a:pPr>
            <a:r>
              <a:rPr lang="en-US" sz="2400" dirty="0">
                <a:latin typeface="Times" panose="02020603050405020304" pitchFamily="18" charset="0"/>
                <a:cs typeface="Times" panose="02020603050405020304" pitchFamily="18" charset="0"/>
              </a:rPr>
              <a:t>The A-Priori Framework is a complimentary framework.</a:t>
            </a:r>
          </a:p>
          <a:p>
            <a:pPr marL="457200" indent="-457200">
              <a:buFont typeface="Wingdings" panose="05000000000000000000" pitchFamily="2" charset="2"/>
              <a:buChar char="§"/>
            </a:pPr>
            <a:r>
              <a:rPr lang="en-US" sz="2400" dirty="0">
                <a:latin typeface="Times" panose="02020603050405020304" pitchFamily="18" charset="0"/>
                <a:cs typeface="Times" panose="02020603050405020304" pitchFamily="18" charset="0"/>
              </a:rPr>
              <a:t>The Supply Chain Assessment Framework by </a:t>
            </a:r>
            <a:r>
              <a:rPr lang="en-US" sz="2400" dirty="0" err="1">
                <a:latin typeface="Times" panose="02020603050405020304" pitchFamily="18" charset="0"/>
                <a:cs typeface="Times" panose="02020603050405020304" pitchFamily="18" charset="0"/>
              </a:rPr>
              <a:t>Stroumpoulis</a:t>
            </a:r>
            <a:r>
              <a:rPr lang="en-US" sz="2400" dirty="0">
                <a:latin typeface="Times" panose="02020603050405020304" pitchFamily="18" charset="0"/>
                <a:cs typeface="Times" panose="02020603050405020304" pitchFamily="18" charset="0"/>
              </a:rPr>
              <a:t> &amp; </a:t>
            </a:r>
            <a:r>
              <a:rPr lang="en-US" sz="2400" dirty="0" err="1">
                <a:latin typeface="Times" panose="02020603050405020304" pitchFamily="18" charset="0"/>
                <a:cs typeface="Times" panose="02020603050405020304" pitchFamily="18" charset="0"/>
              </a:rPr>
              <a:t>Kopanaki</a:t>
            </a:r>
            <a:r>
              <a:rPr lang="en-US" sz="2400" dirty="0">
                <a:latin typeface="Times" panose="02020603050405020304" pitchFamily="18" charset="0"/>
                <a:cs typeface="Times" panose="02020603050405020304" pitchFamily="18" charset="0"/>
              </a:rPr>
              <a:t> (2022) is also used.</a:t>
            </a:r>
          </a:p>
          <a:p>
            <a:pPr marL="342900" indent="-342900">
              <a:buFont typeface="Wingdings" panose="05000000000000000000" pitchFamily="2" charset="2"/>
              <a:buChar char="§"/>
            </a:pPr>
            <a:r>
              <a:rPr lang="en-US" sz="2400" dirty="0">
                <a:latin typeface="Times" panose="02020603050405020304" pitchFamily="18" charset="0"/>
                <a:cs typeface="Times" panose="02020603050405020304" pitchFamily="18" charset="0"/>
              </a:rPr>
              <a:t>  Three frameworks can be complicated, but necessary.</a:t>
            </a:r>
          </a:p>
          <a:p>
            <a:endParaRPr lang="en-US" sz="2800" dirty="0"/>
          </a:p>
          <a:p>
            <a:pPr marL="290195" marR="0" lvl="1" defTabSz="457200" eaLnBrk="1" fontAlgn="auto" latinLnBrk="0" hangingPunct="1">
              <a:lnSpc>
                <a:spcPct val="100000"/>
              </a:lnSpc>
              <a:spcBef>
                <a:spcPct val="20000"/>
              </a:spcBef>
              <a:spcAft>
                <a:spcPts val="0"/>
              </a:spcAft>
              <a:buClrTx/>
              <a:buSzTx/>
              <a:tabLst/>
              <a:defRPr/>
            </a:pPr>
            <a:endParaRPr lang="en-US" sz="2800" b="0" i="0" u="none" strike="noStrike" kern="0" cap="none" spc="0" normalizeH="0" baseline="0" noProof="0" dirty="0">
              <a:ln>
                <a:noFill/>
              </a:ln>
              <a:solidFill>
                <a:prstClr val="black">
                  <a:lumMod val="85000"/>
                  <a:lumOff val="15000"/>
                </a:prstClr>
              </a:solidFill>
              <a:effectLst/>
              <a:uLnTx/>
              <a:uFillTx/>
            </a:endParaRPr>
          </a:p>
        </p:txBody>
      </p:sp>
    </p:spTree>
    <p:extLst>
      <p:ext uri="{BB962C8B-B14F-4D97-AF65-F5344CB8AC3E}">
        <p14:creationId xmlns:p14="http://schemas.microsoft.com/office/powerpoint/2010/main" val="3620812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F21C05-5651-4DE4-8EA8-5767B0EA3A4E}"/>
              </a:ext>
            </a:extLst>
          </p:cNvPr>
          <p:cNvSpPr txBox="1"/>
          <p:nvPr/>
        </p:nvSpPr>
        <p:spPr>
          <a:xfrm>
            <a:off x="621614" y="494040"/>
            <a:ext cx="11166433" cy="630942"/>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REVIEW OF THE LITERATURE</a:t>
            </a:r>
          </a:p>
        </p:txBody>
      </p:sp>
      <p:sp>
        <p:nvSpPr>
          <p:cNvPr id="3" name="Content Placeholder 2">
            <a:extLst>
              <a:ext uri="{FF2B5EF4-FFF2-40B4-BE49-F238E27FC236}">
                <a16:creationId xmlns:a16="http://schemas.microsoft.com/office/drawing/2014/main" id="{65092119-8CB3-4E76-B7EF-0D3151B3D623}"/>
              </a:ext>
            </a:extLst>
          </p:cNvPr>
          <p:cNvSpPr txBox="1">
            <a:spLocks/>
          </p:cNvSpPr>
          <p:nvPr/>
        </p:nvSpPr>
        <p:spPr>
          <a:xfrm>
            <a:off x="621615" y="1385332"/>
            <a:ext cx="11035229" cy="38778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3600" dirty="0"/>
          </a:p>
        </p:txBody>
      </p:sp>
      <p:sp>
        <p:nvSpPr>
          <p:cNvPr id="4" name="Text Placeholder 2">
            <a:extLst>
              <a:ext uri="{FF2B5EF4-FFF2-40B4-BE49-F238E27FC236}">
                <a16:creationId xmlns:a16="http://schemas.microsoft.com/office/drawing/2014/main" id="{9363D748-6604-472B-8974-CF152F9C547A}"/>
              </a:ext>
            </a:extLst>
          </p:cNvPr>
          <p:cNvSpPr txBox="1">
            <a:spLocks/>
          </p:cNvSpPr>
          <p:nvPr/>
        </p:nvSpPr>
        <p:spPr>
          <a:xfrm>
            <a:off x="584603" y="1274980"/>
            <a:ext cx="11389745" cy="4525963"/>
          </a:xfrm>
          <a:prstGeom prst="rect">
            <a:avLst/>
          </a:prstGeom>
        </p:spPr>
        <p:txBody>
          <a:bodyPr vert="horz" lIns="91440" tIns="45720" rIns="91440" bIns="45720" rtlCol="0">
            <a:normAutofit/>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r>
              <a:rPr lang="en-US" sz="2400" dirty="0">
                <a:latin typeface="Times" panose="02020603050405020304" pitchFamily="18" charset="0"/>
                <a:cs typeface="Times" panose="02020603050405020304" pitchFamily="18" charset="0"/>
              </a:rPr>
              <a:t>Supply Chain Development and Design</a:t>
            </a:r>
          </a:p>
          <a:p>
            <a:pPr marL="457200" indent="-457200"/>
            <a:r>
              <a:rPr lang="en-US" sz="2400" dirty="0">
                <a:latin typeface="Times" panose="02020603050405020304" pitchFamily="18" charset="0"/>
                <a:cs typeface="Times" panose="02020603050405020304" pitchFamily="18" charset="0"/>
              </a:rPr>
              <a:t>Big Data Evolution and Use in the Supply Chain</a:t>
            </a:r>
          </a:p>
          <a:p>
            <a:pPr marL="457200" indent="-457200"/>
            <a:r>
              <a:rPr lang="en-US" sz="2400" dirty="0">
                <a:latin typeface="Times" panose="02020603050405020304" pitchFamily="18" charset="0"/>
                <a:cs typeface="Times" panose="02020603050405020304" pitchFamily="18" charset="0"/>
              </a:rPr>
              <a:t>Artificial Intelligence Increase in Usage</a:t>
            </a:r>
          </a:p>
          <a:p>
            <a:pPr marL="457200" indent="-457200"/>
            <a:r>
              <a:rPr lang="en-US" sz="2400" dirty="0">
                <a:latin typeface="Times" panose="02020603050405020304" pitchFamily="18" charset="0"/>
                <a:cs typeface="Times" panose="02020603050405020304" pitchFamily="18" charset="0"/>
              </a:rPr>
              <a:t>Reinforcement Learning Growth and Design for Supply Chain</a:t>
            </a:r>
          </a:p>
          <a:p>
            <a:pPr marL="0" marR="0" lvl="0" indent="0" algn="l" defTabSz="457200" rtl="0" eaLnBrk="1" fontAlgn="auto" latinLnBrk="0" hangingPunct="1">
              <a:lnSpc>
                <a:spcPct val="100000"/>
              </a:lnSpc>
              <a:spcBef>
                <a:spcPct val="20000"/>
              </a:spcBef>
              <a:spcAft>
                <a:spcPts val="0"/>
              </a:spcAft>
              <a:buClrTx/>
              <a:buSzTx/>
              <a:buNone/>
              <a:tabLst/>
              <a:defRPr/>
            </a:pPr>
            <a:endParaRPr kumimoji="0" lang="en-US" sz="2800" b="0" i="0" u="none" strike="noStrike" kern="1200" cap="none" spc="0" normalizeH="0" baseline="0" noProof="0" dirty="0">
              <a:ln>
                <a:noFill/>
              </a:ln>
              <a:solidFill>
                <a:sysClr val="windowText" lastClr="000000">
                  <a:lumMod val="85000"/>
                  <a:lumOff val="15000"/>
                </a:sysClr>
              </a:solidFill>
              <a:effectLst/>
              <a:uLnTx/>
              <a:uFillTx/>
              <a:latin typeface="Calibri"/>
              <a:ea typeface="+mn-ea"/>
              <a:cs typeface="+mn-cs"/>
            </a:endParaRPr>
          </a:p>
        </p:txBody>
      </p:sp>
    </p:spTree>
    <p:extLst>
      <p:ext uri="{BB962C8B-B14F-4D97-AF65-F5344CB8AC3E}">
        <p14:creationId xmlns:p14="http://schemas.microsoft.com/office/powerpoint/2010/main" val="996385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FB657A-3C0B-4922-8CD2-76BD3F421BA9}"/>
              </a:ext>
            </a:extLst>
          </p:cNvPr>
          <p:cNvSpPr txBox="1"/>
          <p:nvPr/>
        </p:nvSpPr>
        <p:spPr>
          <a:xfrm>
            <a:off x="621613" y="494040"/>
            <a:ext cx="11166433" cy="630942"/>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RESEARCH METHODOLOGY &amp; DESIGN</a:t>
            </a:r>
          </a:p>
        </p:txBody>
      </p:sp>
      <p:sp>
        <p:nvSpPr>
          <p:cNvPr id="3" name="Text Placeholder 2">
            <a:extLst>
              <a:ext uri="{FF2B5EF4-FFF2-40B4-BE49-F238E27FC236}">
                <a16:creationId xmlns:a16="http://schemas.microsoft.com/office/drawing/2014/main" id="{92787CB5-C598-4775-9A51-E7609A884547}"/>
              </a:ext>
            </a:extLst>
          </p:cNvPr>
          <p:cNvSpPr txBox="1">
            <a:spLocks/>
          </p:cNvSpPr>
          <p:nvPr/>
        </p:nvSpPr>
        <p:spPr>
          <a:xfrm>
            <a:off x="621613" y="1273026"/>
            <a:ext cx="11166433" cy="4910449"/>
          </a:xfrm>
          <a:prstGeom prst="rect">
            <a:avLst/>
          </a:prstGeom>
        </p:spPr>
        <p:txBody>
          <a:bodyPr vert="horz" lIns="91440" tIns="45720" rIns="91440" bIns="45720" rtlCol="0" anchor="t">
            <a:normAutofit/>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r>
              <a:rPr lang="en-US" sz="2400" dirty="0">
                <a:latin typeface="Times" panose="02020603050405020304" pitchFamily="18" charset="0"/>
                <a:cs typeface="Times" panose="02020603050405020304" pitchFamily="18" charset="0"/>
              </a:rPr>
              <a:t>The Methodology is Quantitative.</a:t>
            </a:r>
          </a:p>
          <a:p>
            <a:pPr marL="457200" indent="-457200"/>
            <a:r>
              <a:rPr lang="en-US" sz="2400" dirty="0">
                <a:latin typeface="Times" panose="02020603050405020304" pitchFamily="18" charset="0"/>
                <a:cs typeface="Times" panose="02020603050405020304" pitchFamily="18" charset="0"/>
              </a:rPr>
              <a:t> The Design is Experimental.   </a:t>
            </a:r>
          </a:p>
          <a:p>
            <a:pPr marL="457200" indent="-457200"/>
            <a:r>
              <a:rPr lang="en-US" sz="2400" dirty="0">
                <a:latin typeface="Times" panose="02020603050405020304" pitchFamily="18" charset="0"/>
                <a:cs typeface="Times" panose="02020603050405020304" pitchFamily="18" charset="0"/>
              </a:rPr>
              <a:t>Reinforcement Learning (RL) is the Analytical Choice.</a:t>
            </a:r>
          </a:p>
        </p:txBody>
      </p:sp>
    </p:spTree>
    <p:extLst>
      <p:ext uri="{BB962C8B-B14F-4D97-AF65-F5344CB8AC3E}">
        <p14:creationId xmlns:p14="http://schemas.microsoft.com/office/powerpoint/2010/main" val="2365958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711678-2EF6-4623-82A0-B1BFC0890895}"/>
              </a:ext>
            </a:extLst>
          </p:cNvPr>
          <p:cNvSpPr txBox="1"/>
          <p:nvPr/>
        </p:nvSpPr>
        <p:spPr>
          <a:xfrm>
            <a:off x="621614" y="494040"/>
            <a:ext cx="11166433" cy="630942"/>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POPULATION &amp; SAMPLE</a:t>
            </a:r>
          </a:p>
        </p:txBody>
      </p:sp>
      <p:sp>
        <p:nvSpPr>
          <p:cNvPr id="3" name="Text Placeholder 2">
            <a:extLst>
              <a:ext uri="{FF2B5EF4-FFF2-40B4-BE49-F238E27FC236}">
                <a16:creationId xmlns:a16="http://schemas.microsoft.com/office/drawing/2014/main" id="{94ED5D32-6DD5-454C-B2C6-4CF765A34525}"/>
              </a:ext>
            </a:extLst>
          </p:cNvPr>
          <p:cNvSpPr txBox="1">
            <a:spLocks/>
          </p:cNvSpPr>
          <p:nvPr/>
        </p:nvSpPr>
        <p:spPr>
          <a:xfrm>
            <a:off x="621614" y="1251717"/>
            <a:ext cx="11166433" cy="4894954"/>
          </a:xfrm>
          <a:prstGeom prst="rect">
            <a:avLst/>
          </a:prstGeom>
        </p:spPr>
        <p:txBody>
          <a:bodyPr vert="horz" lIns="91440" tIns="45720" rIns="91440" bIns="45720" rtlCol="0">
            <a:noAutofit/>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r>
              <a:rPr lang="en-US" sz="2400" dirty="0" err="1">
                <a:latin typeface="Times" panose="02020603050405020304" pitchFamily="18" charset="0"/>
                <a:cs typeface="Times" panose="02020603050405020304" pitchFamily="18" charset="0"/>
              </a:rPr>
              <a:t>DataCo</a:t>
            </a:r>
            <a:r>
              <a:rPr lang="en-US" sz="2400" dirty="0">
                <a:latin typeface="Times" panose="02020603050405020304" pitchFamily="18" charset="0"/>
                <a:cs typeface="Times" panose="02020603050405020304" pitchFamily="18" charset="0"/>
              </a:rPr>
              <a:t> Global Company Dataset</a:t>
            </a:r>
          </a:p>
          <a:p>
            <a:pPr marL="457200" indent="-457200"/>
            <a:r>
              <a:rPr lang="en-US" sz="2400" dirty="0">
                <a:latin typeface="Times" panose="02020603050405020304" pitchFamily="18" charset="0"/>
                <a:cs typeface="Times" panose="02020603050405020304" pitchFamily="18" charset="0"/>
              </a:rPr>
              <a:t>180,520 entries </a:t>
            </a:r>
          </a:p>
          <a:p>
            <a:pPr marL="457200" indent="-457200"/>
            <a:r>
              <a:rPr lang="en-US" sz="2400" dirty="0">
                <a:latin typeface="Times" panose="02020603050405020304" pitchFamily="18" charset="0"/>
                <a:cs typeface="Times" panose="02020603050405020304" pitchFamily="18" charset="0"/>
              </a:rPr>
              <a:t>53 columns of data</a:t>
            </a:r>
          </a:p>
          <a:p>
            <a:pPr marL="457200" indent="-457200"/>
            <a:r>
              <a:rPr lang="en-US" sz="2400" dirty="0">
                <a:latin typeface="Times" panose="02020603050405020304" pitchFamily="18" charset="0"/>
                <a:cs typeface="Times" panose="02020603050405020304" pitchFamily="18" charset="0"/>
              </a:rPr>
              <a:t>The columns represent order information.</a:t>
            </a:r>
          </a:p>
          <a:p>
            <a:pPr marL="457200" indent="-457200"/>
            <a:r>
              <a:rPr lang="en-US" sz="2400" dirty="0">
                <a:latin typeface="Times" panose="02020603050405020304" pitchFamily="18" charset="0"/>
                <a:cs typeface="Times" panose="02020603050405020304" pitchFamily="18" charset="0"/>
              </a:rPr>
              <a:t>Only data relevant to profit, geography, pricing and profit will be used.</a:t>
            </a:r>
          </a:p>
        </p:txBody>
      </p:sp>
    </p:spTree>
    <p:extLst>
      <p:ext uri="{BB962C8B-B14F-4D97-AF65-F5344CB8AC3E}">
        <p14:creationId xmlns:p14="http://schemas.microsoft.com/office/powerpoint/2010/main" val="3773563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DD3157-830E-496A-AADA-009628BB5BB0}"/>
              </a:ext>
            </a:extLst>
          </p:cNvPr>
          <p:cNvSpPr txBox="1"/>
          <p:nvPr/>
        </p:nvSpPr>
        <p:spPr>
          <a:xfrm>
            <a:off x="512783" y="494040"/>
            <a:ext cx="11166433" cy="630942"/>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INSTRUMENTATION</a:t>
            </a:r>
          </a:p>
        </p:txBody>
      </p:sp>
      <p:sp>
        <p:nvSpPr>
          <p:cNvPr id="3" name="Text Placeholder 2">
            <a:extLst>
              <a:ext uri="{FF2B5EF4-FFF2-40B4-BE49-F238E27FC236}">
                <a16:creationId xmlns:a16="http://schemas.microsoft.com/office/drawing/2014/main" id="{D9D3B57C-0D85-415A-A156-247F10BD3F2F}"/>
              </a:ext>
            </a:extLst>
          </p:cNvPr>
          <p:cNvSpPr txBox="1">
            <a:spLocks/>
          </p:cNvSpPr>
          <p:nvPr/>
        </p:nvSpPr>
        <p:spPr>
          <a:xfrm>
            <a:off x="621614" y="1222345"/>
            <a:ext cx="11035230" cy="4894954"/>
          </a:xfrm>
          <a:prstGeom prst="rect">
            <a:avLst/>
          </a:prstGeom>
        </p:spPr>
        <p:txBody>
          <a:bodyPr vert="horz" lIns="91440" tIns="45720" rIns="91440" bIns="45720" rtlCol="0">
            <a:normAutofit/>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r>
              <a:rPr lang="en-US" sz="2400" dirty="0" err="1">
                <a:latin typeface="Times" panose="02020603050405020304" pitchFamily="18" charset="0"/>
                <a:cs typeface="Times" panose="02020603050405020304" pitchFamily="18" charset="0"/>
              </a:rPr>
              <a:t>Jupyter</a:t>
            </a:r>
            <a:r>
              <a:rPr lang="en-US" sz="2400" dirty="0">
                <a:latin typeface="Times" panose="02020603050405020304" pitchFamily="18" charset="0"/>
                <a:cs typeface="Times" panose="02020603050405020304" pitchFamily="18" charset="0"/>
              </a:rPr>
              <a:t> and </a:t>
            </a:r>
            <a:r>
              <a:rPr lang="en-US" sz="2400" dirty="0" err="1">
                <a:latin typeface="Times" panose="02020603050405020304" pitchFamily="18" charset="0"/>
                <a:cs typeface="Times" panose="02020603050405020304" pitchFamily="18" charset="0"/>
              </a:rPr>
              <a:t>Jupyter</a:t>
            </a:r>
            <a:r>
              <a:rPr lang="en-US" sz="2400" dirty="0">
                <a:latin typeface="Times" panose="02020603050405020304" pitchFamily="18" charset="0"/>
                <a:cs typeface="Times" panose="02020603050405020304" pitchFamily="18" charset="0"/>
              </a:rPr>
              <a:t> Notebook Using Python</a:t>
            </a:r>
          </a:p>
          <a:p>
            <a:pPr marL="457200" indent="-457200"/>
            <a:r>
              <a:rPr lang="en-US" sz="2400" dirty="0" err="1">
                <a:latin typeface="Times" panose="02020603050405020304" pitchFamily="18" charset="0"/>
                <a:cs typeface="Times" panose="02020603050405020304" pitchFamily="18" charset="0"/>
              </a:rPr>
              <a:t>Pytorch</a:t>
            </a:r>
            <a:endParaRPr lang="en-US" sz="2400" dirty="0">
              <a:latin typeface="Times" panose="02020603050405020304" pitchFamily="18" charset="0"/>
              <a:cs typeface="Times" panose="02020603050405020304" pitchFamily="18" charset="0"/>
            </a:endParaRPr>
          </a:p>
          <a:p>
            <a:pPr marL="457200" indent="-457200"/>
            <a:r>
              <a:rPr lang="en-US" sz="2400" dirty="0">
                <a:latin typeface="Times" panose="02020603050405020304" pitchFamily="18" charset="0"/>
                <a:cs typeface="Times" panose="02020603050405020304" pitchFamily="18" charset="0"/>
              </a:rPr>
              <a:t>OpenAI Gym (</a:t>
            </a:r>
            <a:r>
              <a:rPr lang="en-US" sz="2400" dirty="0" err="1">
                <a:latin typeface="Times" panose="02020603050405020304" pitchFamily="18" charset="0"/>
                <a:cs typeface="Times" panose="02020603050405020304" pitchFamily="18" charset="0"/>
              </a:rPr>
              <a:t>CartPole</a:t>
            </a:r>
            <a:r>
              <a:rPr lang="en-US" sz="2400" dirty="0">
                <a:latin typeface="Times" panose="02020603050405020304" pitchFamily="18" charset="0"/>
                <a:cs typeface="Times" panose="02020603050405020304" pitchFamily="18" charset="0"/>
              </a:rPr>
              <a:t>)</a:t>
            </a:r>
          </a:p>
          <a:p>
            <a:pPr marL="457200" indent="-457200"/>
            <a:r>
              <a:rPr lang="en-US" sz="2400" dirty="0" err="1">
                <a:latin typeface="Times" panose="02020603050405020304" pitchFamily="18" charset="0"/>
                <a:cs typeface="Times" panose="02020603050405020304" pitchFamily="18" charset="0"/>
              </a:rPr>
              <a:t>Numpy</a:t>
            </a:r>
            <a:r>
              <a:rPr lang="en-US" sz="2400" dirty="0">
                <a:latin typeface="Times" panose="02020603050405020304" pitchFamily="18" charset="0"/>
                <a:cs typeface="Times" panose="02020603050405020304" pitchFamily="18" charset="0"/>
              </a:rPr>
              <a:t>, Torch, and Matplotlib</a:t>
            </a:r>
          </a:p>
        </p:txBody>
      </p:sp>
    </p:spTree>
    <p:extLst>
      <p:ext uri="{BB962C8B-B14F-4D97-AF65-F5344CB8AC3E}">
        <p14:creationId xmlns:p14="http://schemas.microsoft.com/office/powerpoint/2010/main" val="3076598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FD26E9-6C08-4B5C-818D-A1D03AD21EDF}"/>
              </a:ext>
            </a:extLst>
          </p:cNvPr>
          <p:cNvSpPr txBox="1"/>
          <p:nvPr/>
        </p:nvSpPr>
        <p:spPr>
          <a:xfrm>
            <a:off x="621614" y="494040"/>
            <a:ext cx="11166433" cy="630942"/>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OPERATIONAL DEFINITIONS OF VARIABLES</a:t>
            </a:r>
          </a:p>
        </p:txBody>
      </p:sp>
      <p:sp>
        <p:nvSpPr>
          <p:cNvPr id="3" name="Text Placeholder 8">
            <a:extLst>
              <a:ext uri="{FF2B5EF4-FFF2-40B4-BE49-F238E27FC236}">
                <a16:creationId xmlns:a16="http://schemas.microsoft.com/office/drawing/2014/main" id="{FD1D1BDE-E4AB-499E-9622-FB48D8645475}"/>
              </a:ext>
            </a:extLst>
          </p:cNvPr>
          <p:cNvSpPr txBox="1">
            <a:spLocks/>
          </p:cNvSpPr>
          <p:nvPr/>
        </p:nvSpPr>
        <p:spPr>
          <a:xfrm>
            <a:off x="511122" y="981523"/>
            <a:ext cx="11387416" cy="4894953"/>
          </a:xfrm>
          <a:prstGeom prst="rect">
            <a:avLst/>
          </a:prstGeom>
          <a:noFill/>
          <a:ln>
            <a:noFill/>
          </a:ln>
        </p:spPr>
        <p:txBody>
          <a:bodyPr lIns="91425" tIns="91425" rIns="91425" bIns="91425" anchor="t" anchorCtr="0"/>
          <a:lstStyle>
            <a:defPPr marR="0" lvl="0" algn="l" rtl="0">
              <a:lnSpc>
                <a:spcPct val="100000"/>
              </a:lnSpc>
              <a:spcBef>
                <a:spcPts val="0"/>
              </a:spcBef>
              <a:spcAft>
                <a:spcPts val="0"/>
              </a:spcAft>
            </a:defPPr>
            <a:lvl1pPr marL="228600" marR="0" lvl="0" indent="-76200" algn="l" rtl="0">
              <a:lnSpc>
                <a:spcPct val="100000"/>
              </a:lnSpc>
              <a:spcBef>
                <a:spcPts val="480"/>
              </a:spcBef>
              <a:spcAft>
                <a:spcPts val="0"/>
              </a:spcAft>
              <a:buClr>
                <a:srgbClr val="262626"/>
              </a:buClr>
              <a:buSzPct val="100000"/>
              <a:buFont typeface="Noto Sans Symbols"/>
              <a:buChar char="▪"/>
              <a:defRPr sz="2400" b="0" i="0" u="none" strike="noStrike" cap="none">
                <a:solidFill>
                  <a:srgbClr val="262626"/>
                </a:solidFill>
                <a:latin typeface="Calibri"/>
                <a:ea typeface="Calibri"/>
                <a:cs typeface="Calibri"/>
                <a:sym typeface="Calibri"/>
              </a:defRPr>
            </a:lvl1pPr>
            <a:lvl2pPr marL="571500" marR="0" lvl="1" indent="-165100" algn="l" rtl="0">
              <a:lnSpc>
                <a:spcPct val="100000"/>
              </a:lnSpc>
              <a:spcBef>
                <a:spcPts val="400"/>
              </a:spcBef>
              <a:spcAft>
                <a:spcPts val="0"/>
              </a:spcAft>
              <a:buClr>
                <a:srgbClr val="262626"/>
              </a:buClr>
              <a:buSzPct val="100000"/>
              <a:buFont typeface="Noto Sans Symbols"/>
              <a:buChar char="→"/>
              <a:defRPr sz="2000" b="0" i="0" u="none" strike="noStrike" cap="none">
                <a:solidFill>
                  <a:srgbClr val="262626"/>
                </a:solidFill>
                <a:latin typeface="Calibri"/>
                <a:ea typeface="Calibri"/>
                <a:cs typeface="Calibri"/>
                <a:sym typeface="Calibri"/>
              </a:defRPr>
            </a:lvl2pPr>
            <a:lvl3pPr marL="862013" marR="0" lvl="2" indent="-61912" algn="l" rtl="0">
              <a:lnSpc>
                <a:spcPct val="100000"/>
              </a:lnSpc>
              <a:spcBef>
                <a:spcPts val="360"/>
              </a:spcBef>
              <a:spcAft>
                <a:spcPts val="0"/>
              </a:spcAft>
              <a:buClr>
                <a:srgbClr val="262626"/>
              </a:buClr>
              <a:buSzPct val="100000"/>
              <a:buFont typeface="Calibri"/>
              <a:buChar char="▪"/>
              <a:defRPr sz="1800" b="0" i="0" u="none" strike="noStrike" cap="none">
                <a:solidFill>
                  <a:srgbClr val="262626"/>
                </a:solidFill>
                <a:latin typeface="Calibri"/>
                <a:ea typeface="Calibri"/>
                <a:cs typeface="Calibri"/>
                <a:sym typeface="Calibri"/>
              </a:defRPr>
            </a:lvl3pPr>
            <a:lvl4pPr marL="1204913" marR="0" lvl="3" indent="-138112" algn="l" rtl="0">
              <a:lnSpc>
                <a:spcPct val="100000"/>
              </a:lnSpc>
              <a:spcBef>
                <a:spcPts val="320"/>
              </a:spcBef>
              <a:spcAft>
                <a:spcPts val="0"/>
              </a:spcAft>
              <a:buClr>
                <a:srgbClr val="262626"/>
              </a:buClr>
              <a:buSzPct val="100000"/>
              <a:buFont typeface="Arial"/>
              <a:buChar char="–"/>
              <a:defRPr sz="1600" b="0" i="0" u="none" strike="noStrike" cap="none">
                <a:solidFill>
                  <a:srgbClr val="262626"/>
                </a:solidFill>
                <a:latin typeface="Calibri"/>
                <a:ea typeface="Calibri"/>
                <a:cs typeface="Calibri"/>
                <a:sym typeface="Calibri"/>
              </a:defRPr>
            </a:lvl4pPr>
            <a:lvl5pPr marL="1485900" marR="0" lvl="4" indent="-76200" algn="l" rtl="0">
              <a:lnSpc>
                <a:spcPct val="100000"/>
              </a:lnSpc>
              <a:spcBef>
                <a:spcPts val="320"/>
              </a:spcBef>
              <a:spcAft>
                <a:spcPts val="0"/>
              </a:spcAft>
              <a:buClr>
                <a:srgbClr val="262626"/>
              </a:buClr>
              <a:buSzPct val="100000"/>
              <a:buFont typeface="Arial"/>
              <a:buChar char="»"/>
              <a:defRPr sz="1600" b="0" i="0" u="none" strike="noStrike" cap="none">
                <a:solidFill>
                  <a:srgbClr val="262626"/>
                </a:solidFill>
                <a:latin typeface="Calibri"/>
                <a:ea typeface="Calibri"/>
                <a:cs typeface="Calibri"/>
                <a:sym typeface="Calibri"/>
              </a:defRPr>
            </a:lvl5pPr>
            <a:lvl6pPr marL="2514600" marR="0" lvl="5"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r>
              <a:rPr lang="en-US" b="1" dirty="0">
                <a:latin typeface="Times" panose="02020603050405020304" pitchFamily="18" charset="0"/>
                <a:cs typeface="Times" panose="02020603050405020304" pitchFamily="18" charset="0"/>
              </a:rPr>
              <a:t>Order Id</a:t>
            </a:r>
          </a:p>
          <a:p>
            <a:r>
              <a:rPr lang="en-US" b="1" dirty="0">
                <a:solidFill>
                  <a:schemeClr val="tx1"/>
                </a:solidFill>
                <a:latin typeface="Times" panose="02020603050405020304" pitchFamily="18" charset="0"/>
                <a:cs typeface="Times" panose="02020603050405020304" pitchFamily="18" charset="0"/>
              </a:rPr>
              <a:t>Days for Shipping (Real)</a:t>
            </a:r>
          </a:p>
          <a:p>
            <a:r>
              <a:rPr lang="en-US" b="1" dirty="0">
                <a:solidFill>
                  <a:schemeClr val="tx1"/>
                </a:solidFill>
                <a:latin typeface="Times" panose="02020603050405020304" pitchFamily="18" charset="0"/>
                <a:cs typeface="Times" panose="02020603050405020304" pitchFamily="18" charset="0"/>
              </a:rPr>
              <a:t>Days for Shipment (Scheduled)</a:t>
            </a:r>
          </a:p>
          <a:p>
            <a:r>
              <a:rPr lang="en-US" b="1" dirty="0">
                <a:solidFill>
                  <a:schemeClr val="tx1"/>
                </a:solidFill>
                <a:latin typeface="Times" panose="02020603050405020304" pitchFamily="18" charset="0"/>
                <a:cs typeface="Times" panose="02020603050405020304" pitchFamily="18" charset="0"/>
              </a:rPr>
              <a:t>Late delivery risk</a:t>
            </a:r>
          </a:p>
          <a:p>
            <a:r>
              <a:rPr lang="en-US" b="1" dirty="0">
                <a:solidFill>
                  <a:schemeClr val="tx1"/>
                </a:solidFill>
                <a:latin typeface="Times" panose="02020603050405020304" pitchFamily="18" charset="0"/>
                <a:cs typeface="Times" panose="02020603050405020304" pitchFamily="18" charset="0"/>
              </a:rPr>
              <a:t>Order Country</a:t>
            </a:r>
          </a:p>
          <a:p>
            <a:r>
              <a:rPr lang="en-US" b="1" dirty="0">
                <a:solidFill>
                  <a:schemeClr val="tx1"/>
                </a:solidFill>
                <a:latin typeface="Times" panose="02020603050405020304" pitchFamily="18" charset="0"/>
                <a:cs typeface="Times" panose="02020603050405020304" pitchFamily="18" charset="0"/>
              </a:rPr>
              <a:t>Order Item Quantity</a:t>
            </a:r>
          </a:p>
          <a:p>
            <a:r>
              <a:rPr lang="en-US" b="1" dirty="0">
                <a:solidFill>
                  <a:schemeClr val="tx1"/>
                </a:solidFill>
                <a:latin typeface="Times" panose="02020603050405020304" pitchFamily="18" charset="0"/>
                <a:cs typeface="Times" panose="02020603050405020304" pitchFamily="18" charset="0"/>
              </a:rPr>
              <a:t>Order Item Total</a:t>
            </a:r>
          </a:p>
          <a:p>
            <a:r>
              <a:rPr lang="en-US" b="1" dirty="0">
                <a:solidFill>
                  <a:schemeClr val="tx1"/>
                </a:solidFill>
                <a:latin typeface="Times" panose="02020603050405020304" pitchFamily="18" charset="0"/>
                <a:cs typeface="Times" panose="02020603050405020304" pitchFamily="18" charset="0"/>
              </a:rPr>
              <a:t>Order Profit per Order</a:t>
            </a:r>
          </a:p>
          <a:p>
            <a:r>
              <a:rPr lang="en-US" b="1" dirty="0">
                <a:solidFill>
                  <a:schemeClr val="tx1"/>
                </a:solidFill>
                <a:latin typeface="Times" panose="02020603050405020304" pitchFamily="18" charset="0"/>
                <a:cs typeface="Times" panose="02020603050405020304" pitchFamily="18" charset="0"/>
              </a:rPr>
              <a:t>Order Region</a:t>
            </a:r>
          </a:p>
          <a:p>
            <a:r>
              <a:rPr lang="en-US" b="1" dirty="0">
                <a:solidFill>
                  <a:schemeClr val="tx1"/>
                </a:solidFill>
                <a:latin typeface="Times" panose="02020603050405020304" pitchFamily="18" charset="0"/>
                <a:cs typeface="Times" panose="02020603050405020304" pitchFamily="18" charset="0"/>
              </a:rPr>
              <a:t>Product Price</a:t>
            </a:r>
          </a:p>
          <a:p>
            <a:r>
              <a:rPr lang="en-US" b="1" dirty="0">
                <a:solidFill>
                  <a:schemeClr val="tx1"/>
                </a:solidFill>
                <a:latin typeface="Times" panose="02020603050405020304" pitchFamily="18" charset="0"/>
                <a:cs typeface="Times" panose="02020603050405020304" pitchFamily="18" charset="0"/>
              </a:rPr>
              <a:t>Shipping Mode</a:t>
            </a:r>
          </a:p>
          <a:p>
            <a:r>
              <a:rPr lang="en-US" b="1" dirty="0">
                <a:solidFill>
                  <a:schemeClr val="tx1"/>
                </a:solidFill>
                <a:latin typeface="Times" panose="02020603050405020304" pitchFamily="18" charset="0"/>
                <a:cs typeface="Times" panose="02020603050405020304" pitchFamily="18" charset="0"/>
              </a:rPr>
              <a:t>Rolling Average Delivery Delay by Region</a:t>
            </a:r>
          </a:p>
          <a:p>
            <a:endParaRPr lang="en-US" b="1" i="1" dirty="0">
              <a:solidFill>
                <a:schemeClr val="tx1"/>
              </a:solidFill>
            </a:endParaRPr>
          </a:p>
          <a:p>
            <a:endParaRPr lang="en-US" b="1" i="1" dirty="0">
              <a:solidFill>
                <a:schemeClr val="tx1"/>
              </a:solidFill>
            </a:endParaRPr>
          </a:p>
        </p:txBody>
      </p:sp>
    </p:spTree>
    <p:extLst>
      <p:ext uri="{BB962C8B-B14F-4D97-AF65-F5344CB8AC3E}">
        <p14:creationId xmlns:p14="http://schemas.microsoft.com/office/powerpoint/2010/main" val="96195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C39FF2-D950-4FF9-98AC-B539C537C570}"/>
              </a:ext>
            </a:extLst>
          </p:cNvPr>
          <p:cNvSpPr txBox="1"/>
          <p:nvPr/>
        </p:nvSpPr>
        <p:spPr>
          <a:xfrm>
            <a:off x="621614" y="494040"/>
            <a:ext cx="11166433" cy="630942"/>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STUDY PROCEDURES</a:t>
            </a:r>
          </a:p>
        </p:txBody>
      </p:sp>
      <p:sp>
        <p:nvSpPr>
          <p:cNvPr id="3" name="Text Placeholder 2">
            <a:extLst>
              <a:ext uri="{FF2B5EF4-FFF2-40B4-BE49-F238E27FC236}">
                <a16:creationId xmlns:a16="http://schemas.microsoft.com/office/drawing/2014/main" id="{34F60F94-39E3-472E-8251-95A28C6980E9}"/>
              </a:ext>
            </a:extLst>
          </p:cNvPr>
          <p:cNvSpPr txBox="1">
            <a:spLocks/>
          </p:cNvSpPr>
          <p:nvPr/>
        </p:nvSpPr>
        <p:spPr>
          <a:xfrm>
            <a:off x="621614" y="1222345"/>
            <a:ext cx="11166433" cy="4894954"/>
          </a:xfrm>
          <a:prstGeom prst="rect">
            <a:avLst/>
          </a:prstGeom>
        </p:spPr>
        <p:txBody>
          <a:bodyPr vert="horz" lIns="91440" tIns="45720" rIns="91440" bIns="45720" rtlCol="0">
            <a:normAutofit/>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latin typeface="Times" panose="02020603050405020304" pitchFamily="18" charset="0"/>
                <a:cs typeface="Times" panose="02020603050405020304" pitchFamily="18" charset="0"/>
              </a:rPr>
              <a:t>Data Collection/Acquisition</a:t>
            </a:r>
          </a:p>
          <a:p>
            <a:r>
              <a:rPr lang="en-US" sz="2400" dirty="0">
                <a:latin typeface="Times" panose="02020603050405020304" pitchFamily="18" charset="0"/>
                <a:cs typeface="Times" panose="02020603050405020304" pitchFamily="18" charset="0"/>
              </a:rPr>
              <a:t>Data Integration </a:t>
            </a:r>
          </a:p>
          <a:p>
            <a:r>
              <a:rPr lang="en-US" sz="2400" dirty="0">
                <a:latin typeface="Times" panose="02020603050405020304" pitchFamily="18" charset="0"/>
                <a:cs typeface="Times" panose="02020603050405020304" pitchFamily="18" charset="0"/>
              </a:rPr>
              <a:t>Raw Data Exploration</a:t>
            </a:r>
          </a:p>
          <a:p>
            <a:r>
              <a:rPr lang="en-US" sz="2400" dirty="0">
                <a:latin typeface="Times" panose="02020603050405020304" pitchFamily="18" charset="0"/>
                <a:cs typeface="Times" panose="02020603050405020304" pitchFamily="18" charset="0"/>
              </a:rPr>
              <a:t>Data Cleansing</a:t>
            </a:r>
          </a:p>
          <a:p>
            <a:r>
              <a:rPr lang="en-US" sz="2400" dirty="0">
                <a:latin typeface="Times" panose="02020603050405020304" pitchFamily="18" charset="0"/>
                <a:cs typeface="Times" panose="02020603050405020304" pitchFamily="18" charset="0"/>
              </a:rPr>
              <a:t>Data Preparation</a:t>
            </a:r>
          </a:p>
          <a:p>
            <a:r>
              <a:rPr lang="en-US" sz="2400" dirty="0">
                <a:latin typeface="Times" panose="02020603050405020304" pitchFamily="18" charset="0"/>
                <a:cs typeface="Times" panose="02020603050405020304" pitchFamily="18" charset="0"/>
              </a:rPr>
              <a:t>Data Feature Engineering</a:t>
            </a:r>
          </a:p>
          <a:p>
            <a:r>
              <a:rPr lang="en-US" sz="2400" dirty="0">
                <a:latin typeface="Times" panose="02020603050405020304" pitchFamily="18" charset="0"/>
                <a:cs typeface="Times" panose="02020603050405020304" pitchFamily="18" charset="0"/>
              </a:rPr>
              <a:t>Preprocessed Data Exploration</a:t>
            </a:r>
            <a:endParaRPr kumimoji="0" lang="en-US" sz="2400" u="none" strike="noStrike" kern="1200" cap="none" spc="0" normalizeH="0" baseline="0" noProof="0" dirty="0">
              <a:ln>
                <a:noFill/>
              </a:ln>
              <a:solidFill>
                <a:sysClr val="windowText" lastClr="000000">
                  <a:lumMod val="85000"/>
                  <a:lumOff val="15000"/>
                </a:sysClr>
              </a:solidFill>
              <a:effectLst/>
              <a:uLnTx/>
              <a:uFillTx/>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321393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C517E5-D24A-41BB-938F-6A370D5487BD}"/>
              </a:ext>
            </a:extLst>
          </p:cNvPr>
          <p:cNvSpPr txBox="1"/>
          <p:nvPr/>
        </p:nvSpPr>
        <p:spPr>
          <a:xfrm>
            <a:off x="621614" y="494040"/>
            <a:ext cx="11166433" cy="630942"/>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DATA ANALYSIS</a:t>
            </a:r>
          </a:p>
        </p:txBody>
      </p:sp>
      <p:sp>
        <p:nvSpPr>
          <p:cNvPr id="3" name="Text Placeholder 2">
            <a:extLst>
              <a:ext uri="{FF2B5EF4-FFF2-40B4-BE49-F238E27FC236}">
                <a16:creationId xmlns:a16="http://schemas.microsoft.com/office/drawing/2014/main" id="{86EB2F66-5B98-4A6C-B8AA-E0884F6B3891}"/>
              </a:ext>
            </a:extLst>
          </p:cNvPr>
          <p:cNvSpPr txBox="1">
            <a:spLocks/>
          </p:cNvSpPr>
          <p:nvPr/>
        </p:nvSpPr>
        <p:spPr>
          <a:xfrm>
            <a:off x="443342" y="1251718"/>
            <a:ext cx="11629786" cy="4894953"/>
          </a:xfrm>
          <a:prstGeom prst="rect">
            <a:avLst/>
          </a:prstGeom>
          <a:noFill/>
          <a:ln>
            <a:noFill/>
          </a:ln>
        </p:spPr>
        <p:txBody>
          <a:bodyPr lIns="91425" tIns="91425" rIns="91425" bIns="91425" anchor="t" anchorCtr="0"/>
          <a:lstStyle>
            <a:defPPr marR="0" lvl="0" algn="l" rtl="0">
              <a:lnSpc>
                <a:spcPct val="100000"/>
              </a:lnSpc>
              <a:spcBef>
                <a:spcPts val="0"/>
              </a:spcBef>
              <a:spcAft>
                <a:spcPts val="0"/>
              </a:spcAft>
            </a:defPPr>
            <a:lvl1pPr marL="228600" marR="0" lvl="0" indent="-76200" algn="l" rtl="0">
              <a:lnSpc>
                <a:spcPct val="100000"/>
              </a:lnSpc>
              <a:spcBef>
                <a:spcPts val="480"/>
              </a:spcBef>
              <a:spcAft>
                <a:spcPts val="0"/>
              </a:spcAft>
              <a:buClr>
                <a:srgbClr val="262626"/>
              </a:buClr>
              <a:buSzPct val="100000"/>
              <a:buFont typeface="Noto Sans Symbols"/>
              <a:buChar char="▪"/>
              <a:defRPr sz="2400" b="0" i="0" u="none" strike="noStrike" cap="none">
                <a:solidFill>
                  <a:srgbClr val="262626"/>
                </a:solidFill>
                <a:latin typeface="Calibri"/>
                <a:ea typeface="Calibri"/>
                <a:cs typeface="Calibri"/>
                <a:sym typeface="Calibri"/>
              </a:defRPr>
            </a:lvl1pPr>
            <a:lvl2pPr marL="571500" marR="0" lvl="1" indent="-165100" algn="l" rtl="0">
              <a:lnSpc>
                <a:spcPct val="100000"/>
              </a:lnSpc>
              <a:spcBef>
                <a:spcPts val="400"/>
              </a:spcBef>
              <a:spcAft>
                <a:spcPts val="0"/>
              </a:spcAft>
              <a:buClr>
                <a:srgbClr val="262626"/>
              </a:buClr>
              <a:buSzPct val="100000"/>
              <a:buFont typeface="Noto Sans Symbols"/>
              <a:buChar char="→"/>
              <a:defRPr sz="2000" b="0" i="0" u="none" strike="noStrike" cap="none">
                <a:solidFill>
                  <a:srgbClr val="262626"/>
                </a:solidFill>
                <a:latin typeface="Calibri"/>
                <a:ea typeface="Calibri"/>
                <a:cs typeface="Calibri"/>
                <a:sym typeface="Calibri"/>
              </a:defRPr>
            </a:lvl2pPr>
            <a:lvl3pPr marL="862013" marR="0" lvl="2" indent="-61912" algn="l" rtl="0">
              <a:lnSpc>
                <a:spcPct val="100000"/>
              </a:lnSpc>
              <a:spcBef>
                <a:spcPts val="360"/>
              </a:spcBef>
              <a:spcAft>
                <a:spcPts val="0"/>
              </a:spcAft>
              <a:buClr>
                <a:srgbClr val="262626"/>
              </a:buClr>
              <a:buSzPct val="100000"/>
              <a:buFont typeface="Calibri"/>
              <a:buChar char="▪"/>
              <a:defRPr sz="1800" b="0" i="0" u="none" strike="noStrike" cap="none">
                <a:solidFill>
                  <a:srgbClr val="262626"/>
                </a:solidFill>
                <a:latin typeface="Calibri"/>
                <a:ea typeface="Calibri"/>
                <a:cs typeface="Calibri"/>
                <a:sym typeface="Calibri"/>
              </a:defRPr>
            </a:lvl3pPr>
            <a:lvl4pPr marL="1204913" marR="0" lvl="3" indent="-138112" algn="l" rtl="0">
              <a:lnSpc>
                <a:spcPct val="100000"/>
              </a:lnSpc>
              <a:spcBef>
                <a:spcPts val="320"/>
              </a:spcBef>
              <a:spcAft>
                <a:spcPts val="0"/>
              </a:spcAft>
              <a:buClr>
                <a:srgbClr val="262626"/>
              </a:buClr>
              <a:buSzPct val="100000"/>
              <a:buFont typeface="Arial"/>
              <a:buChar char="–"/>
              <a:defRPr sz="1600" b="0" i="0" u="none" strike="noStrike" cap="none">
                <a:solidFill>
                  <a:srgbClr val="262626"/>
                </a:solidFill>
                <a:latin typeface="Calibri"/>
                <a:ea typeface="Calibri"/>
                <a:cs typeface="Calibri"/>
                <a:sym typeface="Calibri"/>
              </a:defRPr>
            </a:lvl4pPr>
            <a:lvl5pPr marL="1485900" marR="0" lvl="4" indent="-76200" algn="l" rtl="0">
              <a:lnSpc>
                <a:spcPct val="100000"/>
              </a:lnSpc>
              <a:spcBef>
                <a:spcPts val="320"/>
              </a:spcBef>
              <a:spcAft>
                <a:spcPts val="0"/>
              </a:spcAft>
              <a:buClr>
                <a:srgbClr val="262626"/>
              </a:buClr>
              <a:buSzPct val="100000"/>
              <a:buFont typeface="Arial"/>
              <a:buChar char="»"/>
              <a:defRPr sz="1600" b="0" i="0" u="none" strike="noStrike" cap="none">
                <a:solidFill>
                  <a:srgbClr val="262626"/>
                </a:solidFill>
                <a:latin typeface="Calibri"/>
                <a:ea typeface="Calibri"/>
                <a:cs typeface="Calibri"/>
                <a:sym typeface="Calibri"/>
              </a:defRPr>
            </a:lvl5pPr>
            <a:lvl6pPr marL="2514600" marR="0" lvl="5"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lnSpc>
                <a:spcPct val="100000"/>
              </a:lnSpc>
              <a:spcBef>
                <a:spcPts val="400"/>
              </a:spcBef>
              <a:spcAft>
                <a:spcPts val="0"/>
              </a:spcAft>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r>
              <a:rPr lang="en-US" dirty="0">
                <a:latin typeface="Times" panose="02020603050405020304" pitchFamily="18" charset="0"/>
                <a:cs typeface="Times" panose="02020603050405020304" pitchFamily="18" charset="0"/>
              </a:rPr>
              <a:t>Data Modeling</a:t>
            </a:r>
          </a:p>
          <a:p>
            <a:pPr>
              <a:defRPr/>
            </a:pPr>
            <a:r>
              <a:rPr lang="en-US" dirty="0">
                <a:latin typeface="Times" panose="02020603050405020304" pitchFamily="18" charset="0"/>
                <a:cs typeface="Times" panose="02020603050405020304" pitchFamily="18" charset="0"/>
              </a:rPr>
              <a:t>Data Mining </a:t>
            </a:r>
          </a:p>
          <a:p>
            <a:pPr lvl="0">
              <a:defRPr/>
            </a:pPr>
            <a:r>
              <a:rPr lang="en-US" dirty="0">
                <a:latin typeface="Times" panose="02020603050405020304" pitchFamily="18" charset="0"/>
                <a:cs typeface="Times" panose="02020603050405020304" pitchFamily="18" charset="0"/>
              </a:rPr>
              <a:t>Model Validation and Hyperparameter Tuning</a:t>
            </a:r>
          </a:p>
          <a:p>
            <a:pPr>
              <a:defRPr/>
            </a:pPr>
            <a:r>
              <a:rPr lang="en-US" dirty="0">
                <a:latin typeface="Times" panose="02020603050405020304" pitchFamily="18" charset="0"/>
                <a:cs typeface="Times" panose="02020603050405020304" pitchFamily="18" charset="0"/>
              </a:rPr>
              <a:t>Model Evaluation</a:t>
            </a:r>
          </a:p>
          <a:p>
            <a:pPr lvl="0">
              <a:defRPr/>
            </a:pPr>
            <a:r>
              <a:rPr lang="en-US" dirty="0">
                <a:latin typeface="Times" panose="02020603050405020304" pitchFamily="18" charset="0"/>
                <a:cs typeface="Times" panose="02020603050405020304" pitchFamily="18" charset="0"/>
              </a:rPr>
              <a:t>Model Fit and Diagnostics</a:t>
            </a:r>
            <a:endParaRPr kumimoji="0" lang="en-US" sz="2800" u="none" strike="noStrike" kern="0" cap="none" spc="0" normalizeH="0" baseline="0" noProof="0" dirty="0">
              <a:ln>
                <a:noFill/>
              </a:ln>
              <a:solidFill>
                <a:srgbClr val="262626"/>
              </a:solidFill>
              <a:effectLst/>
              <a:uLnTx/>
              <a:uFillTx/>
              <a:latin typeface="Times" panose="02020603050405020304" pitchFamily="18" charset="0"/>
              <a:cs typeface="Times" panose="02020603050405020304" pitchFamily="18" charset="0"/>
              <a:sym typeface="Calibri"/>
            </a:endParaRPr>
          </a:p>
        </p:txBody>
      </p:sp>
    </p:spTree>
    <p:extLst>
      <p:ext uri="{BB962C8B-B14F-4D97-AF65-F5344CB8AC3E}">
        <p14:creationId xmlns:p14="http://schemas.microsoft.com/office/powerpoint/2010/main" val="1672079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9E70D0-5EFE-4C9D-947E-12DCF06D4C40}"/>
              </a:ext>
            </a:extLst>
          </p:cNvPr>
          <p:cNvSpPr txBox="1"/>
          <p:nvPr/>
        </p:nvSpPr>
        <p:spPr>
          <a:xfrm>
            <a:off x="621614" y="494040"/>
            <a:ext cx="11451514" cy="584775"/>
          </a:xfrm>
          <a:prstGeom prst="rect">
            <a:avLst/>
          </a:prstGeom>
          <a:noFill/>
        </p:spPr>
        <p:txBody>
          <a:bodyPr wrap="square" rtlCol="0">
            <a:spAutoFit/>
          </a:bodyPr>
          <a:lstStyle/>
          <a:p>
            <a:r>
              <a:rPr lang="en-US" sz="3200" b="1" dirty="0">
                <a:solidFill>
                  <a:srgbClr val="0B253F"/>
                </a:solidFill>
                <a:latin typeface="Times" pitchFamily="2" charset="0"/>
                <a:ea typeface="Charter Roman" charset="0"/>
                <a:cs typeface="Charter Roman" charset="0"/>
              </a:rPr>
              <a:t>LIMITATIONS</a:t>
            </a:r>
          </a:p>
        </p:txBody>
      </p:sp>
      <p:sp>
        <p:nvSpPr>
          <p:cNvPr id="3" name="Content Placeholder 2">
            <a:extLst>
              <a:ext uri="{FF2B5EF4-FFF2-40B4-BE49-F238E27FC236}">
                <a16:creationId xmlns:a16="http://schemas.microsoft.com/office/drawing/2014/main" id="{D36F837A-E936-49D1-A37E-9CFCE730BE89}"/>
              </a:ext>
            </a:extLst>
          </p:cNvPr>
          <p:cNvSpPr txBox="1">
            <a:spLocks/>
          </p:cNvSpPr>
          <p:nvPr/>
        </p:nvSpPr>
        <p:spPr>
          <a:xfrm>
            <a:off x="621615" y="1323673"/>
            <a:ext cx="11035229" cy="4628239"/>
          </a:xfrm>
          <a:prstGeom prst="rect">
            <a:avLst/>
          </a:prstGeom>
        </p:spPr>
        <p:txBody>
          <a:bodyPr vert="horz" lIns="91440" tIns="45720" rIns="91440" bIns="45720" rtlCol="0">
            <a:normAutofit/>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0" indent="-457200">
              <a:defRPr/>
            </a:pPr>
            <a:r>
              <a:rPr lang="en-US" sz="2400" dirty="0">
                <a:latin typeface="Times" panose="02020603050405020304" pitchFamily="18" charset="0"/>
                <a:cs typeface="Times" panose="02020603050405020304" pitchFamily="18" charset="0"/>
              </a:rPr>
              <a:t>Absence of external factors on shipping times</a:t>
            </a:r>
          </a:p>
          <a:p>
            <a:pPr marL="457200" lvl="0" indent="-457200">
              <a:defRPr/>
            </a:pPr>
            <a:r>
              <a:rPr lang="en-US" sz="2400" dirty="0">
                <a:latin typeface="Times" panose="02020603050405020304" pitchFamily="18" charset="0"/>
                <a:cs typeface="Times" panose="02020603050405020304" pitchFamily="18" charset="0"/>
              </a:rPr>
              <a:t>Lack of information on shipping routes</a:t>
            </a:r>
          </a:p>
          <a:p>
            <a:pPr marL="457200" lvl="0" indent="-457200">
              <a:defRPr/>
            </a:pPr>
            <a:r>
              <a:rPr lang="en-US" sz="2400" dirty="0">
                <a:latin typeface="Times" panose="02020603050405020304" pitchFamily="18" charset="0"/>
                <a:cs typeface="Times" panose="02020603050405020304" pitchFamily="18" charset="0"/>
              </a:rPr>
              <a:t>No data on different vendors </a:t>
            </a:r>
          </a:p>
          <a:p>
            <a:pPr marL="457200" lvl="0" indent="-457200">
              <a:defRPr/>
            </a:pPr>
            <a:r>
              <a:rPr lang="en-US" sz="2400" dirty="0">
                <a:latin typeface="Times" panose="02020603050405020304" pitchFamily="18" charset="0"/>
                <a:cs typeface="Times" panose="02020603050405020304" pitchFamily="18" charset="0"/>
              </a:rPr>
              <a:t>Seasonality is absent</a:t>
            </a:r>
            <a:endParaRPr kumimoji="0" lang="en-US" sz="2400" b="0" i="0" u="none" strike="noStrike" kern="1200" cap="none" spc="0" normalizeH="0" baseline="0" noProof="0" dirty="0">
              <a:ln>
                <a:noFill/>
              </a:ln>
              <a:solidFill>
                <a:sysClr val="windowText" lastClr="000000">
                  <a:lumMod val="85000"/>
                  <a:lumOff val="15000"/>
                </a:sysClr>
              </a:solidFill>
              <a:effectLst/>
              <a:uLnTx/>
              <a:uFillTx/>
              <a:latin typeface="Times" panose="02020603050405020304" pitchFamily="18" charset="0"/>
              <a:cs typeface="Times" panose="02020603050405020304" pitchFamily="18" charset="0"/>
            </a:endParaRPr>
          </a:p>
          <a:p>
            <a:pPr marL="406400" marR="0" lvl="1" indent="0" algn="l" defTabSz="457200" rtl="0" eaLnBrk="1" fontAlgn="auto" latinLnBrk="0" hangingPunct="1">
              <a:lnSpc>
                <a:spcPct val="100000"/>
              </a:lnSpc>
              <a:spcBef>
                <a:spcPct val="20000"/>
              </a:spcBef>
              <a:spcAft>
                <a:spcPts val="0"/>
              </a:spcAft>
              <a:buClrTx/>
              <a:buSzTx/>
              <a:buFont typeface="Wingdings 3" panose="05040102010807070707" pitchFamily="18" charset="2"/>
              <a:buNone/>
              <a:tabLst/>
              <a:defRPr/>
            </a:pPr>
            <a:endParaRPr kumimoji="0" lang="en-US" sz="3600" b="0" i="0" u="none" strike="noStrike" kern="1200" cap="none" spc="0" normalizeH="0" baseline="0" noProof="0" dirty="0">
              <a:ln>
                <a:noFill/>
              </a:ln>
              <a:solidFill>
                <a:sysClr val="windowText" lastClr="000000">
                  <a:lumMod val="85000"/>
                  <a:lumOff val="15000"/>
                </a:sysClr>
              </a:solidFill>
              <a:effectLst/>
              <a:uLnTx/>
              <a:uFillTx/>
              <a:latin typeface="Calibri"/>
              <a:ea typeface="+mn-ea"/>
              <a:cs typeface="+mn-cs"/>
            </a:endParaRPr>
          </a:p>
          <a:p>
            <a:pPr marL="228600" marR="0" lvl="0" indent="-228600" algn="l" defTabSz="4572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3600" b="0" i="0" u="none" strike="noStrike" kern="1200" cap="none" spc="0" normalizeH="0" baseline="0" noProof="0" dirty="0">
              <a:ln>
                <a:noFill/>
              </a:ln>
              <a:solidFill>
                <a:sysClr val="windowText" lastClr="000000">
                  <a:lumMod val="85000"/>
                  <a:lumOff val="15000"/>
                </a:sysClr>
              </a:solidFill>
              <a:effectLst/>
              <a:uLnTx/>
              <a:uFillTx/>
              <a:latin typeface="Calibri"/>
              <a:ea typeface="+mn-ea"/>
              <a:cs typeface="+mn-cs"/>
            </a:endParaRPr>
          </a:p>
          <a:p>
            <a:pPr marL="228600" marR="0" lvl="0" indent="-228600" algn="l" defTabSz="457200" rtl="0" eaLnBrk="1" fontAlgn="auto" latinLnBrk="0" hangingPunct="1">
              <a:lnSpc>
                <a:spcPct val="100000"/>
              </a:lnSpc>
              <a:spcBef>
                <a:spcPct val="20000"/>
              </a:spcBef>
              <a:spcAft>
                <a:spcPts val="0"/>
              </a:spcAft>
              <a:buClrTx/>
              <a:buSzTx/>
              <a:buFont typeface="Wingdings" panose="05000000000000000000" pitchFamily="2" charset="2"/>
              <a:buNone/>
              <a:tabLst/>
              <a:defRPr/>
            </a:pPr>
            <a:endParaRPr kumimoji="0" lang="en-US" sz="2000" b="0" i="0" u="none" strike="noStrike" kern="1200" cap="none" spc="0" normalizeH="0" baseline="0" noProof="0" dirty="0">
              <a:ln>
                <a:noFill/>
              </a:ln>
              <a:solidFill>
                <a:sysClr val="windowText" lastClr="000000">
                  <a:lumMod val="85000"/>
                  <a:lumOff val="15000"/>
                </a:sysClr>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Wingdings" panose="05000000000000000000" pitchFamily="2" charset="2"/>
              <a:buNone/>
              <a:tabLst/>
              <a:defRPr/>
            </a:pPr>
            <a:r>
              <a:rPr kumimoji="0" lang="en-US" sz="2000" b="0" i="0" u="none" strike="noStrike" kern="1200" cap="none" spc="0" normalizeH="0" baseline="0" noProof="0" dirty="0">
                <a:ln>
                  <a:noFill/>
                </a:ln>
                <a:solidFill>
                  <a:sysClr val="windowText" lastClr="000000">
                    <a:lumMod val="85000"/>
                    <a:lumOff val="15000"/>
                  </a:sysClr>
                </a:solidFill>
                <a:effectLst/>
                <a:uLnTx/>
                <a:uFillTx/>
                <a:latin typeface="Calibri"/>
                <a:ea typeface="+mn-ea"/>
                <a:cs typeface="+mn-cs"/>
              </a:rPr>
              <a:t>           </a:t>
            </a:r>
          </a:p>
        </p:txBody>
      </p:sp>
    </p:spTree>
    <p:extLst>
      <p:ext uri="{BB962C8B-B14F-4D97-AF65-F5344CB8AC3E}">
        <p14:creationId xmlns:p14="http://schemas.microsoft.com/office/powerpoint/2010/main" val="803746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F7A111-B9E0-4679-BA0C-AE59515D4A64}"/>
              </a:ext>
            </a:extLst>
          </p:cNvPr>
          <p:cNvSpPr txBox="1"/>
          <p:nvPr/>
        </p:nvSpPr>
        <p:spPr>
          <a:xfrm>
            <a:off x="621614" y="494040"/>
            <a:ext cx="11451514" cy="646331"/>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ETHICAL ASSURANCES</a:t>
            </a:r>
          </a:p>
        </p:txBody>
      </p:sp>
      <p:sp>
        <p:nvSpPr>
          <p:cNvPr id="3" name="Text Placeholder 2">
            <a:extLst>
              <a:ext uri="{FF2B5EF4-FFF2-40B4-BE49-F238E27FC236}">
                <a16:creationId xmlns:a16="http://schemas.microsoft.com/office/drawing/2014/main" id="{2891AB59-D1C8-420E-BDD2-8DA20DD73135}"/>
              </a:ext>
            </a:extLst>
          </p:cNvPr>
          <p:cNvSpPr txBox="1">
            <a:spLocks/>
          </p:cNvSpPr>
          <p:nvPr/>
        </p:nvSpPr>
        <p:spPr>
          <a:xfrm>
            <a:off x="621615" y="1285587"/>
            <a:ext cx="11353720" cy="4894954"/>
          </a:xfrm>
          <a:prstGeom prst="rect">
            <a:avLst/>
          </a:prstGeom>
        </p:spPr>
        <p:txBody>
          <a:bodyPr vert="horz" lIns="91440" tIns="45720" rIns="91440" bIns="45720" rtlCol="0" anchor="t">
            <a:normAutofit/>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600" dirty="0">
                <a:latin typeface="Times" panose="02020603050405020304" pitchFamily="18" charset="0"/>
                <a:cs typeface="Times" panose="02020603050405020304" pitchFamily="18" charset="0"/>
              </a:rPr>
              <a:t>This study received approval from the National University’s Institutional Review Board (IRB) prior to data collection. No anonymity-related issues exist, as the data contains no trace back or personally identifiable information. All identifiable product data has been codified as numeric, generic information. </a:t>
            </a:r>
          </a:p>
          <a:p>
            <a:r>
              <a:rPr lang="en-US" sz="2600" dirty="0">
                <a:latin typeface="Times" panose="02020603050405020304" pitchFamily="18" charset="0"/>
                <a:cs typeface="Times" panose="02020603050405020304" pitchFamily="18" charset="0"/>
              </a:rPr>
              <a:t>The data is securely stored in accordance with IRB requirements. The data is thoroughly anonymized and contains no personal information. Therefore, the data has been made freely available via a GitHub repository and openly licensed under Creative Commons Attribution 4.0 International license.  </a:t>
            </a:r>
          </a:p>
          <a:p>
            <a:pPr marL="228600" marR="0" lvl="0" indent="-228600" algn="l" defTabSz="457200" rtl="0" eaLnBrk="1" fontAlgn="auto" latinLnBrk="0" hangingPunct="1">
              <a:lnSpc>
                <a:spcPct val="100000"/>
              </a:lnSpc>
              <a:spcBef>
                <a:spcPct val="20000"/>
              </a:spcBef>
              <a:spcAft>
                <a:spcPts val="0"/>
              </a:spcAft>
              <a:buClrTx/>
              <a:buSzTx/>
              <a:buFont typeface="Wingdings" panose="05000000000000000000" pitchFamily="2" charset="2"/>
              <a:buChar char="§"/>
              <a:tabLst/>
              <a:defRPr/>
            </a:pPr>
            <a:endParaRPr kumimoji="0" lang="en-US" sz="3600" b="0" i="0" u="none" strike="noStrike" kern="1200" cap="none" spc="0" normalizeH="0" baseline="0" noProof="0" dirty="0">
              <a:ln>
                <a:noFill/>
              </a:ln>
              <a:solidFill>
                <a:sysClr val="windowText" lastClr="000000">
                  <a:lumMod val="85000"/>
                  <a:lumOff val="15000"/>
                </a:sysClr>
              </a:solidFill>
              <a:effectLst/>
              <a:uLnTx/>
              <a:uFillTx/>
              <a:latin typeface="Calibri"/>
              <a:ea typeface="+mn-ea"/>
              <a:cs typeface="+mn-cs"/>
            </a:endParaRPr>
          </a:p>
        </p:txBody>
      </p:sp>
    </p:spTree>
    <p:extLst>
      <p:ext uri="{BB962C8B-B14F-4D97-AF65-F5344CB8AC3E}">
        <p14:creationId xmlns:p14="http://schemas.microsoft.com/office/powerpoint/2010/main" val="1729137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E859F8-7F5D-4F32-8513-DC74D4391B0F}"/>
              </a:ext>
            </a:extLst>
          </p:cNvPr>
          <p:cNvSpPr txBox="1"/>
          <p:nvPr/>
        </p:nvSpPr>
        <p:spPr>
          <a:xfrm>
            <a:off x="413472" y="494040"/>
            <a:ext cx="11451514" cy="646331"/>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THANK YOU</a:t>
            </a:r>
          </a:p>
        </p:txBody>
      </p:sp>
      <p:sp>
        <p:nvSpPr>
          <p:cNvPr id="3" name="Content Placeholder 2">
            <a:extLst>
              <a:ext uri="{FF2B5EF4-FFF2-40B4-BE49-F238E27FC236}">
                <a16:creationId xmlns:a16="http://schemas.microsoft.com/office/drawing/2014/main" id="{5DC004CF-6793-435C-B3BF-AF9E1F77FDE8}"/>
              </a:ext>
            </a:extLst>
          </p:cNvPr>
          <p:cNvSpPr txBox="1">
            <a:spLocks/>
          </p:cNvSpPr>
          <p:nvPr/>
        </p:nvSpPr>
        <p:spPr>
          <a:xfrm>
            <a:off x="621615" y="1251717"/>
            <a:ext cx="11498582" cy="4894954"/>
          </a:xfrm>
          <a:prstGeom prst="rect">
            <a:avLst/>
          </a:prstGeom>
        </p:spPr>
        <p:txBody>
          <a:bodyPr vert="horz" lIns="91440" tIns="45720" rIns="91440" bIns="45720" rtlCol="0">
            <a:normAutofit/>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r>
              <a:rPr lang="en-US" sz="2800" dirty="0"/>
              <a:t>Thank you for your attention.</a:t>
            </a:r>
          </a:p>
          <a:p>
            <a:pPr marL="822960" lvl="1" indent="-274320">
              <a:buFont typeface="Arial" panose="020B0604020202020204" pitchFamily="34" charset="0"/>
              <a:buChar char="•"/>
            </a:pPr>
            <a:r>
              <a:rPr lang="en-US" sz="2800" dirty="0"/>
              <a:t> Are there any questions?</a:t>
            </a:r>
          </a:p>
        </p:txBody>
      </p:sp>
    </p:spTree>
    <p:extLst>
      <p:ext uri="{BB962C8B-B14F-4D97-AF65-F5344CB8AC3E}">
        <p14:creationId xmlns:p14="http://schemas.microsoft.com/office/powerpoint/2010/main" val="827695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FD48E-4CBE-81DA-48A4-325DBBC856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DD984D-6578-2FE8-A1AF-E3A4D1D09395}"/>
              </a:ext>
            </a:extLst>
          </p:cNvPr>
          <p:cNvSpPr txBox="1"/>
          <p:nvPr/>
        </p:nvSpPr>
        <p:spPr>
          <a:xfrm>
            <a:off x="621614" y="494040"/>
            <a:ext cx="11451514" cy="646331"/>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REFERENCES</a:t>
            </a:r>
          </a:p>
        </p:txBody>
      </p:sp>
      <p:sp>
        <p:nvSpPr>
          <p:cNvPr id="6" name="TextBox 5">
            <a:extLst>
              <a:ext uri="{FF2B5EF4-FFF2-40B4-BE49-F238E27FC236}">
                <a16:creationId xmlns:a16="http://schemas.microsoft.com/office/drawing/2014/main" id="{8AFB61B0-DF53-B361-3E12-9327DB9C25CE}"/>
              </a:ext>
            </a:extLst>
          </p:cNvPr>
          <p:cNvSpPr txBox="1"/>
          <p:nvPr/>
        </p:nvSpPr>
        <p:spPr>
          <a:xfrm>
            <a:off x="477079" y="1140371"/>
            <a:ext cx="11946834" cy="5355633"/>
          </a:xfrm>
          <a:prstGeom prst="rect">
            <a:avLst/>
          </a:prstGeom>
          <a:noFill/>
        </p:spPr>
        <p:txBody>
          <a:bodyPr wrap="square">
            <a:spAutoFit/>
          </a:bodyPr>
          <a:lstStyle/>
          <a:p>
            <a:pPr marL="457200" marR="0" indent="-457200">
              <a:lnSpc>
                <a:spcPct val="200000"/>
              </a:lnSpc>
              <a:spcAft>
                <a:spcPts val="800"/>
              </a:spcAft>
              <a:buNone/>
            </a:pPr>
            <a:r>
              <a:rPr lang="en-US" sz="2400" dirty="0" err="1">
                <a:effectLst/>
                <a:latin typeface="Times New Roman" panose="02020603050405020304" pitchFamily="18" charset="0"/>
                <a:ea typeface="Calibri" panose="020F0502020204030204" pitchFamily="34" charset="0"/>
                <a:cs typeface="Arial" panose="020B0604020202020204" pitchFamily="34" charset="0"/>
              </a:rPr>
              <a:t>Aboutorab</a:t>
            </a:r>
            <a:r>
              <a:rPr lang="en-US" sz="2400" dirty="0">
                <a:effectLst/>
                <a:latin typeface="Times New Roman" panose="02020603050405020304" pitchFamily="18" charset="0"/>
                <a:ea typeface="Calibri" panose="020F0502020204030204" pitchFamily="34" charset="0"/>
                <a:cs typeface="Arial" panose="020B0604020202020204" pitchFamily="34" charset="0"/>
              </a:rPr>
              <a:t>, H., Hussain, O. K., Saberi, M., &amp; Hussain, F. K. (2022). A reinforcement learning-based framework for disruption risk identification in supply chains. </a:t>
            </a:r>
            <a:r>
              <a:rPr lang="en-US" sz="2400" i="1" dirty="0">
                <a:effectLst/>
                <a:latin typeface="Times New Roman" panose="02020603050405020304" pitchFamily="18" charset="0"/>
                <a:ea typeface="Calibri" panose="020F0502020204030204" pitchFamily="34" charset="0"/>
                <a:cs typeface="Arial" panose="020B0604020202020204" pitchFamily="34" charset="0"/>
              </a:rPr>
              <a:t>Future Generation Computer Systems</a:t>
            </a:r>
            <a:r>
              <a:rPr lang="en-US" sz="2400" dirty="0">
                <a:effectLst/>
                <a:latin typeface="Times New Roman" panose="02020603050405020304" pitchFamily="18" charset="0"/>
                <a:ea typeface="Calibri" panose="020F0502020204030204" pitchFamily="34" charset="0"/>
                <a:cs typeface="Arial" panose="020B0604020202020204" pitchFamily="34" charset="0"/>
              </a:rPr>
              <a:t>, 126, 110–122. </a:t>
            </a:r>
            <a:r>
              <a:rPr lang="en-US" sz="2400" dirty="0">
                <a:effectLst/>
                <a:latin typeface="Times New Roman" panose="02020603050405020304" pitchFamily="18" charset="0"/>
                <a:ea typeface="Calibri" panose="020F0502020204030204" pitchFamily="34" charset="0"/>
                <a:cs typeface="Arial" panose="020B0604020202020204" pitchFamily="34" charset="0"/>
                <a:hlinkClick r:id="rId3"/>
              </a:rPr>
              <a:t>https://doi.org/10.1016/j.future.2021.08.004</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457200" indent="-457200">
              <a:lnSpc>
                <a:spcPct val="200000"/>
              </a:lnSpc>
              <a:spcAft>
                <a:spcPts val="800"/>
              </a:spcAft>
            </a:pPr>
            <a:r>
              <a:rPr lang="en-US" sz="2400" dirty="0">
                <a:latin typeface="Times New Roman" panose="02020603050405020304" pitchFamily="18" charset="0"/>
                <a:ea typeface="Calibri" panose="020F0502020204030204" pitchFamily="34" charset="0"/>
                <a:cs typeface="Arial" panose="020B0604020202020204" pitchFamily="34" charset="0"/>
              </a:rPr>
              <a:t>Chen, L., Dong, T., Peng, J., &amp; </a:t>
            </a:r>
            <a:r>
              <a:rPr lang="en-US" sz="2400" dirty="0" err="1">
                <a:latin typeface="Times New Roman" panose="02020603050405020304" pitchFamily="18" charset="0"/>
                <a:ea typeface="Calibri" panose="020F0502020204030204" pitchFamily="34" charset="0"/>
                <a:cs typeface="Arial" panose="020B0604020202020204" pitchFamily="34" charset="0"/>
              </a:rPr>
              <a:t>Ralescu</a:t>
            </a:r>
            <a:r>
              <a:rPr lang="en-US" sz="2400" dirty="0">
                <a:latin typeface="Times New Roman" panose="02020603050405020304" pitchFamily="18" charset="0"/>
                <a:ea typeface="Calibri" panose="020F0502020204030204" pitchFamily="34" charset="0"/>
                <a:cs typeface="Arial" panose="020B0604020202020204" pitchFamily="34" charset="0"/>
              </a:rPr>
              <a:t>, D. (2023). Uncertainty analysis and optimization modeling with application to supply chain management: A systematic review. </a:t>
            </a:r>
            <a:r>
              <a:rPr lang="en-US" sz="2400" i="1" dirty="0">
                <a:latin typeface="Times New Roman" panose="02020603050405020304" pitchFamily="18" charset="0"/>
                <a:ea typeface="Calibri" panose="020F0502020204030204" pitchFamily="34" charset="0"/>
                <a:cs typeface="Arial" panose="020B0604020202020204" pitchFamily="34" charset="0"/>
              </a:rPr>
              <a:t>Mathematics</a:t>
            </a:r>
            <a:r>
              <a:rPr lang="en-US" sz="2400" dirty="0">
                <a:latin typeface="Times New Roman" panose="02020603050405020304" pitchFamily="18" charset="0"/>
                <a:ea typeface="Calibri" panose="020F0502020204030204" pitchFamily="34" charset="0"/>
                <a:cs typeface="Arial" panose="020B0604020202020204" pitchFamily="34" charset="0"/>
              </a:rPr>
              <a:t>, </a:t>
            </a:r>
            <a:r>
              <a:rPr lang="en-US" sz="2400" i="1" dirty="0">
                <a:latin typeface="Times New Roman" panose="02020603050405020304" pitchFamily="18" charset="0"/>
                <a:ea typeface="Calibri" panose="020F0502020204030204" pitchFamily="34" charset="0"/>
                <a:cs typeface="Arial" panose="020B0604020202020204" pitchFamily="34" charset="0"/>
              </a:rPr>
              <a:t>11</a:t>
            </a:r>
            <a:r>
              <a:rPr lang="en-US" sz="2400" dirty="0">
                <a:latin typeface="Times New Roman" panose="02020603050405020304" pitchFamily="18" charset="0"/>
                <a:ea typeface="Calibri" panose="020F0502020204030204" pitchFamily="34" charset="0"/>
                <a:cs typeface="Arial" panose="020B0604020202020204" pitchFamily="34" charset="0"/>
              </a:rPr>
              <a:t>(11), 2530. </a:t>
            </a:r>
            <a:r>
              <a:rPr lang="en-US" sz="2400" u="sng" dirty="0">
                <a:solidFill>
                  <a:srgbClr val="004376"/>
                </a:solidFill>
                <a:latin typeface="Times New Roman" panose="02020603050405020304" pitchFamily="18" charset="0"/>
                <a:ea typeface="Calibri" panose="020F0502020204030204" pitchFamily="34" charset="0"/>
                <a:cs typeface="Arial" panose="020B0604020202020204" pitchFamily="34" charset="0"/>
                <a:hlinkClick r:id="rId4"/>
              </a:rPr>
              <a:t>https://doi.org/10.3390/math11112530</a:t>
            </a:r>
            <a:endParaRPr lang="en-US" sz="2400" u="sng" dirty="0">
              <a:solidFill>
                <a:srgbClr val="004376"/>
              </a:solidFill>
              <a:latin typeface="Times New Roman" panose="02020603050405020304" pitchFamily="18" charset="0"/>
              <a:ea typeface="Calibri" panose="020F0502020204030204" pitchFamily="34" charset="0"/>
              <a:cs typeface="Arial" panose="020B0604020202020204" pitchFamily="34" charset="0"/>
            </a:endParaRPr>
          </a:p>
          <a:p>
            <a:pPr marL="457200" marR="0" indent="-457200">
              <a:lnSpc>
                <a:spcPct val="200000"/>
              </a:lnSpc>
              <a:spcAft>
                <a:spcPts val="800"/>
              </a:spcAft>
              <a:buNone/>
            </a:pP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823485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66DDBC-5357-404F-9870-671BDD777A8A}"/>
              </a:ext>
            </a:extLst>
          </p:cNvPr>
          <p:cNvSpPr txBox="1"/>
          <p:nvPr/>
        </p:nvSpPr>
        <p:spPr>
          <a:xfrm>
            <a:off x="621614" y="494040"/>
            <a:ext cx="11451514" cy="646331"/>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REFERENCES</a:t>
            </a:r>
          </a:p>
        </p:txBody>
      </p:sp>
      <p:sp>
        <p:nvSpPr>
          <p:cNvPr id="4" name="TextBox 3">
            <a:extLst>
              <a:ext uri="{FF2B5EF4-FFF2-40B4-BE49-F238E27FC236}">
                <a16:creationId xmlns:a16="http://schemas.microsoft.com/office/drawing/2014/main" id="{F00E8A98-86FF-533F-45F2-AB3453CF607D}"/>
              </a:ext>
            </a:extLst>
          </p:cNvPr>
          <p:cNvSpPr txBox="1"/>
          <p:nvPr/>
        </p:nvSpPr>
        <p:spPr>
          <a:xfrm>
            <a:off x="258418" y="1140371"/>
            <a:ext cx="11643772" cy="6504666"/>
          </a:xfrm>
          <a:prstGeom prst="rect">
            <a:avLst/>
          </a:prstGeom>
          <a:noFill/>
        </p:spPr>
        <p:txBody>
          <a:bodyPr wrap="square">
            <a:spAutoFit/>
          </a:bodyPr>
          <a:lstStyle/>
          <a:p>
            <a:pPr marL="457200" marR="0" indent="-457200">
              <a:lnSpc>
                <a:spcPct val="200000"/>
              </a:lnSpc>
              <a:spcAft>
                <a:spcPts val="800"/>
              </a:spcAft>
              <a:buNone/>
            </a:pPr>
            <a:r>
              <a:rPr lang="en-US" sz="2200" dirty="0">
                <a:effectLst/>
                <a:latin typeface="Times New Roman" panose="02020603050405020304" pitchFamily="18" charset="0"/>
                <a:ea typeface="Calibri" panose="020F0502020204030204" pitchFamily="34" charset="0"/>
                <a:cs typeface="Arial" panose="020B0604020202020204" pitchFamily="34" charset="0"/>
              </a:rPr>
              <a:t>de Lima, F. A., </a:t>
            </a:r>
            <a:r>
              <a:rPr lang="en-US" sz="2200" dirty="0" err="1">
                <a:effectLst/>
                <a:latin typeface="Times New Roman" panose="02020603050405020304" pitchFamily="18" charset="0"/>
                <a:ea typeface="Calibri" panose="020F0502020204030204" pitchFamily="34" charset="0"/>
                <a:cs typeface="Arial" panose="020B0604020202020204" pitchFamily="34" charset="0"/>
              </a:rPr>
              <a:t>Seuring</a:t>
            </a:r>
            <a:r>
              <a:rPr lang="en-US" sz="2200" dirty="0">
                <a:effectLst/>
                <a:latin typeface="Times New Roman" panose="02020603050405020304" pitchFamily="18" charset="0"/>
                <a:ea typeface="Calibri" panose="020F0502020204030204" pitchFamily="34" charset="0"/>
                <a:cs typeface="Arial" panose="020B0604020202020204" pitchFamily="34" charset="0"/>
              </a:rPr>
              <a:t>, S., &amp; Sauer, P. C. (2022). A systematic literature review exploring uncertainty management and sustainability outcomes in circular supply chains. </a:t>
            </a:r>
            <a:r>
              <a:rPr lang="en-US" sz="2200" i="1" dirty="0">
                <a:effectLst/>
                <a:latin typeface="Times New Roman" panose="02020603050405020304" pitchFamily="18" charset="0"/>
                <a:ea typeface="Calibri" panose="020F0502020204030204" pitchFamily="34" charset="0"/>
                <a:cs typeface="Arial" panose="020B0604020202020204" pitchFamily="34" charset="0"/>
              </a:rPr>
              <a:t>International Journal of Production Research</a:t>
            </a:r>
            <a:r>
              <a:rPr lang="en-US" sz="2200" dirty="0">
                <a:effectLst/>
                <a:latin typeface="Times New Roman" panose="02020603050405020304" pitchFamily="18" charset="0"/>
                <a:ea typeface="Calibri" panose="020F0502020204030204" pitchFamily="34" charset="0"/>
                <a:cs typeface="Arial" panose="020B0604020202020204" pitchFamily="34" charset="0"/>
              </a:rPr>
              <a:t>, </a:t>
            </a:r>
            <a:r>
              <a:rPr lang="en-US" sz="2200" i="1" dirty="0">
                <a:effectLst/>
                <a:latin typeface="Times New Roman" panose="02020603050405020304" pitchFamily="18" charset="0"/>
                <a:ea typeface="Calibri" panose="020F0502020204030204" pitchFamily="34" charset="0"/>
                <a:cs typeface="Arial" panose="020B0604020202020204" pitchFamily="34" charset="0"/>
              </a:rPr>
              <a:t>60</a:t>
            </a:r>
            <a:r>
              <a:rPr lang="en-US" sz="2200" dirty="0">
                <a:effectLst/>
                <a:latin typeface="Times New Roman" panose="02020603050405020304" pitchFamily="18" charset="0"/>
                <a:ea typeface="Calibri" panose="020F0502020204030204" pitchFamily="34" charset="0"/>
                <a:cs typeface="Arial" panose="020B0604020202020204" pitchFamily="34" charset="0"/>
              </a:rPr>
              <a:t>(19), 6013–6046. </a:t>
            </a:r>
            <a:r>
              <a:rPr lang="en-US" sz="2200" b="0" u="sng" dirty="0">
                <a:solidFill>
                  <a:srgbClr val="004376"/>
                </a:solidFill>
                <a:effectLst/>
                <a:latin typeface="Times New Roman" panose="02020603050405020304" pitchFamily="18" charset="0"/>
                <a:ea typeface="Calibri" panose="020F0502020204030204" pitchFamily="34" charset="0"/>
                <a:cs typeface="Arial" panose="020B0604020202020204" pitchFamily="34" charset="0"/>
                <a:hlinkClick r:id="rId3"/>
              </a:rPr>
              <a:t>https://doi.org/10.1080/00207543.2021.1976859</a:t>
            </a:r>
            <a:endParaRPr lang="en-US" sz="2200" b="0" u="sng" dirty="0">
              <a:solidFill>
                <a:srgbClr val="004376"/>
              </a:solidFill>
              <a:effectLst/>
              <a:latin typeface="Times New Roman" panose="02020603050405020304" pitchFamily="18" charset="0"/>
              <a:ea typeface="Calibri" panose="020F0502020204030204" pitchFamily="34" charset="0"/>
              <a:cs typeface="Arial" panose="020B0604020202020204" pitchFamily="34" charset="0"/>
            </a:endParaRPr>
          </a:p>
          <a:p>
            <a:pPr marL="457200" marR="0" indent="-457200">
              <a:lnSpc>
                <a:spcPct val="200000"/>
              </a:lnSpc>
              <a:spcAft>
                <a:spcPts val="800"/>
              </a:spcAft>
              <a:buNone/>
            </a:pPr>
            <a:r>
              <a:rPr lang="en-US" sz="2200" dirty="0">
                <a:effectLst/>
                <a:latin typeface="Times New Roman" panose="02020603050405020304" pitchFamily="18" charset="0"/>
                <a:ea typeface="Calibri" panose="020F0502020204030204" pitchFamily="34" charset="0"/>
                <a:cs typeface="Arial" panose="020B0604020202020204" pitchFamily="34" charset="0"/>
              </a:rPr>
              <a:t>Dubey, R., Gunasekaran, A., Childe, S. J., Fosso Wamba, S., </a:t>
            </a:r>
            <a:r>
              <a:rPr lang="en-US" sz="2200" dirty="0" err="1">
                <a:effectLst/>
                <a:latin typeface="Times New Roman" panose="02020603050405020304" pitchFamily="18" charset="0"/>
                <a:ea typeface="Calibri" panose="020F0502020204030204" pitchFamily="34" charset="0"/>
                <a:cs typeface="Arial" panose="020B0604020202020204" pitchFamily="34" charset="0"/>
              </a:rPr>
              <a:t>Roubaud</a:t>
            </a:r>
            <a:r>
              <a:rPr lang="en-US" sz="2200" dirty="0">
                <a:effectLst/>
                <a:latin typeface="Times New Roman" panose="02020603050405020304" pitchFamily="18" charset="0"/>
                <a:ea typeface="Calibri" panose="020F0502020204030204" pitchFamily="34" charset="0"/>
                <a:cs typeface="Arial" panose="020B0604020202020204" pitchFamily="34" charset="0"/>
              </a:rPr>
              <a:t>, D., &amp; </a:t>
            </a:r>
            <a:r>
              <a:rPr lang="en-US" sz="2200" dirty="0" err="1">
                <a:effectLst/>
                <a:latin typeface="Times New Roman" panose="02020603050405020304" pitchFamily="18" charset="0"/>
                <a:ea typeface="Calibri" panose="020F0502020204030204" pitchFamily="34" charset="0"/>
                <a:cs typeface="Arial" panose="020B0604020202020204" pitchFamily="34" charset="0"/>
              </a:rPr>
              <a:t>Foropon</a:t>
            </a:r>
            <a:r>
              <a:rPr lang="en-US" sz="2200" dirty="0">
                <a:effectLst/>
                <a:latin typeface="Times New Roman" panose="02020603050405020304" pitchFamily="18" charset="0"/>
                <a:ea typeface="Calibri" panose="020F0502020204030204" pitchFamily="34" charset="0"/>
                <a:cs typeface="Arial" panose="020B0604020202020204" pitchFamily="34" charset="0"/>
              </a:rPr>
              <a:t>, C. (2021). Empirical investigation of data analytics capability and organizational flexibility as complements to supply chain resilience.</a:t>
            </a:r>
            <a:r>
              <a:rPr lang="en-US" sz="2200" i="1" dirty="0">
                <a:effectLst/>
                <a:latin typeface="Times New Roman" panose="02020603050405020304" pitchFamily="18" charset="0"/>
                <a:ea typeface="Calibri" panose="020F0502020204030204" pitchFamily="34" charset="0"/>
                <a:cs typeface="Arial" panose="020B0604020202020204" pitchFamily="34" charset="0"/>
              </a:rPr>
              <a:t> International Journal of Production Research, 59</a:t>
            </a:r>
            <a:r>
              <a:rPr lang="en-US" sz="2200" dirty="0">
                <a:effectLst/>
                <a:latin typeface="Times New Roman" panose="02020603050405020304" pitchFamily="18" charset="0"/>
                <a:ea typeface="Calibri" panose="020F0502020204030204" pitchFamily="34" charset="0"/>
                <a:cs typeface="Arial" panose="020B0604020202020204" pitchFamily="34" charset="0"/>
              </a:rPr>
              <a:t>(1), 110–128. doi:10.1080/00207543.2019.1582820</a:t>
            </a:r>
          </a:p>
          <a:p>
            <a:pPr marL="457200" marR="0" indent="-457200">
              <a:lnSpc>
                <a:spcPct val="200000"/>
              </a:lnSpc>
              <a:spcAft>
                <a:spcPts val="800"/>
              </a:spcAft>
              <a:buNone/>
            </a:pP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457200" marR="0" indent="-457200">
              <a:lnSpc>
                <a:spcPct val="200000"/>
              </a:lnSpc>
              <a:spcAft>
                <a:spcPts val="800"/>
              </a:spcAft>
              <a:buNone/>
            </a:pP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47185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82A5D-E1ED-FCBD-61C2-CA952F0F5D4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8A8C4BE-5973-C370-2648-F68E42AFB4F9}"/>
              </a:ext>
            </a:extLst>
          </p:cNvPr>
          <p:cNvSpPr txBox="1"/>
          <p:nvPr/>
        </p:nvSpPr>
        <p:spPr>
          <a:xfrm>
            <a:off x="621614" y="494040"/>
            <a:ext cx="11451514" cy="646331"/>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REFERENCES</a:t>
            </a:r>
          </a:p>
        </p:txBody>
      </p:sp>
      <p:sp>
        <p:nvSpPr>
          <p:cNvPr id="6" name="TextBox 5">
            <a:extLst>
              <a:ext uri="{FF2B5EF4-FFF2-40B4-BE49-F238E27FC236}">
                <a16:creationId xmlns:a16="http://schemas.microsoft.com/office/drawing/2014/main" id="{A0ABE2AB-191C-2ADB-E508-C6917BDA5E75}"/>
              </a:ext>
            </a:extLst>
          </p:cNvPr>
          <p:cNvSpPr txBox="1"/>
          <p:nvPr/>
        </p:nvSpPr>
        <p:spPr>
          <a:xfrm>
            <a:off x="384710" y="1381816"/>
            <a:ext cx="11688418" cy="4514377"/>
          </a:xfrm>
          <a:prstGeom prst="rect">
            <a:avLst/>
          </a:prstGeom>
          <a:noFill/>
        </p:spPr>
        <p:txBody>
          <a:bodyPr wrap="square">
            <a:spAutoFit/>
          </a:bodyPr>
          <a:lstStyle/>
          <a:p>
            <a:pPr marL="457200" marR="0" indent="-457200">
              <a:lnSpc>
                <a:spcPct val="200000"/>
              </a:lnSpc>
              <a:buNone/>
            </a:pPr>
            <a:r>
              <a:rPr lang="en-US" sz="2400" dirty="0">
                <a:effectLst/>
                <a:latin typeface="Times New Roman" panose="02020603050405020304" pitchFamily="18" charset="0"/>
                <a:ea typeface="Times New Roman" panose="02020603050405020304" pitchFamily="18" charset="0"/>
              </a:rPr>
              <a:t>Constante, F., Silva, S., &amp; Pereira, A. (2019). </a:t>
            </a:r>
            <a:r>
              <a:rPr lang="en-US" sz="2400" i="1" dirty="0" err="1">
                <a:effectLst/>
                <a:latin typeface="Times New Roman" panose="02020603050405020304" pitchFamily="18" charset="0"/>
                <a:ea typeface="Times New Roman" panose="02020603050405020304" pitchFamily="18" charset="0"/>
              </a:rPr>
              <a:t>Dataco</a:t>
            </a:r>
            <a:r>
              <a:rPr lang="en-US" sz="2400" i="1" dirty="0">
                <a:effectLst/>
                <a:latin typeface="Times New Roman" panose="02020603050405020304" pitchFamily="18" charset="0"/>
                <a:ea typeface="Times New Roman" panose="02020603050405020304" pitchFamily="18" charset="0"/>
              </a:rPr>
              <a:t> SMART SUPPLY CHAIN FOR BIG DATA ANALYSIS</a:t>
            </a:r>
            <a:r>
              <a:rPr lang="en-US" sz="2400" dirty="0">
                <a:effectLst/>
                <a:latin typeface="Times New Roman" panose="02020603050405020304" pitchFamily="18" charset="0"/>
                <a:ea typeface="Times New Roman" panose="02020603050405020304" pitchFamily="18" charset="0"/>
              </a:rPr>
              <a:t> [Data set]. Mendeley Data. </a:t>
            </a:r>
            <a:r>
              <a:rPr lang="en-US" sz="2400" b="0" u="sng" dirty="0">
                <a:solidFill>
                  <a:srgbClr val="004376"/>
                </a:solidFill>
                <a:effectLst/>
                <a:latin typeface="Times New Roman" panose="02020603050405020304" pitchFamily="18" charset="0"/>
                <a:ea typeface="Times New Roman" panose="02020603050405020304" pitchFamily="18" charset="0"/>
                <a:hlinkClick r:id="rId3"/>
              </a:rPr>
              <a:t>https://doi.org/10.17632/8gx2fvg2k6.5</a:t>
            </a:r>
            <a:endParaRPr lang="en-US" sz="2400" b="0" u="sng" dirty="0">
              <a:solidFill>
                <a:srgbClr val="004376"/>
              </a:solidFill>
              <a:effectLst/>
              <a:latin typeface="Times New Roman" panose="02020603050405020304" pitchFamily="18" charset="0"/>
              <a:ea typeface="Times New Roman" panose="02020603050405020304" pitchFamily="18" charset="0"/>
            </a:endParaRPr>
          </a:p>
          <a:p>
            <a:pPr marL="457200" indent="-457200">
              <a:lnSpc>
                <a:spcPct val="200000"/>
              </a:lnSpc>
            </a:pPr>
            <a:r>
              <a:rPr lang="en-US" sz="2400" dirty="0" err="1">
                <a:latin typeface="Times New Roman" panose="02020603050405020304" pitchFamily="18" charset="0"/>
                <a:ea typeface="Times New Roman" panose="02020603050405020304" pitchFamily="18" charset="0"/>
              </a:rPr>
              <a:t>Goretzko</a:t>
            </a:r>
            <a:r>
              <a:rPr lang="en-US" sz="2400" dirty="0">
                <a:latin typeface="Times New Roman" panose="02020603050405020304" pitchFamily="18" charset="0"/>
                <a:ea typeface="Times New Roman" panose="02020603050405020304" pitchFamily="18" charset="0"/>
              </a:rPr>
              <a:t>, D., </a:t>
            </a:r>
            <a:r>
              <a:rPr lang="en-US" sz="2400" dirty="0" err="1">
                <a:latin typeface="Times New Roman" panose="02020603050405020304" pitchFamily="18" charset="0"/>
                <a:ea typeface="Times New Roman" panose="02020603050405020304" pitchFamily="18" charset="0"/>
              </a:rPr>
              <a:t>Siemund</a:t>
            </a:r>
            <a:r>
              <a:rPr lang="en-US" sz="2400" dirty="0">
                <a:latin typeface="Times New Roman" panose="02020603050405020304" pitchFamily="18" charset="0"/>
                <a:ea typeface="Times New Roman" panose="02020603050405020304" pitchFamily="18" charset="0"/>
              </a:rPr>
              <a:t>, K., &amp; Sterner, P. (2023). Evaluating model fit of measurement models in confirmatory factor analysis. </a:t>
            </a:r>
            <a:r>
              <a:rPr lang="en-US" sz="2400" i="1" dirty="0">
                <a:latin typeface="Times New Roman" panose="02020603050405020304" pitchFamily="18" charset="0"/>
                <a:ea typeface="Times New Roman" panose="02020603050405020304" pitchFamily="18" charset="0"/>
              </a:rPr>
              <a:t>Educational and Psychological Measurement</a:t>
            </a:r>
            <a:r>
              <a:rPr lang="en-US" sz="2400" dirty="0">
                <a:latin typeface="Times New Roman" panose="02020603050405020304" pitchFamily="18" charset="0"/>
                <a:ea typeface="Times New Roman" panose="02020603050405020304" pitchFamily="18" charset="0"/>
              </a:rPr>
              <a:t>, </a:t>
            </a:r>
            <a:r>
              <a:rPr lang="en-US" sz="2400" i="1" dirty="0">
                <a:latin typeface="Times New Roman" panose="02020603050405020304" pitchFamily="18" charset="0"/>
                <a:ea typeface="Times New Roman" panose="02020603050405020304" pitchFamily="18" charset="0"/>
              </a:rPr>
              <a:t>84</a:t>
            </a:r>
            <a:r>
              <a:rPr lang="en-US" sz="2400" dirty="0">
                <a:latin typeface="Times New Roman" panose="02020603050405020304" pitchFamily="18" charset="0"/>
                <a:ea typeface="Times New Roman" panose="02020603050405020304" pitchFamily="18" charset="0"/>
              </a:rPr>
              <a:t>(1), 123–144. </a:t>
            </a:r>
            <a:r>
              <a:rPr lang="en-US" sz="2400" u="sng" dirty="0">
                <a:solidFill>
                  <a:srgbClr val="004376"/>
                </a:solidFill>
                <a:latin typeface="Times New Roman" panose="02020603050405020304" pitchFamily="18" charset="0"/>
                <a:ea typeface="Times New Roman" panose="02020603050405020304" pitchFamily="18" charset="0"/>
                <a:hlinkClick r:id="rId4"/>
              </a:rPr>
              <a:t>https://doi.org/10.1177/00131644231163813</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457200" marR="0" indent="-457200">
              <a:lnSpc>
                <a:spcPct val="200000"/>
              </a:lnSpc>
              <a:buNone/>
            </a:pP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36723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76350-853E-2739-52A4-29C8CF869A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B3F02B-2434-2425-0176-C4D30ED60380}"/>
              </a:ext>
            </a:extLst>
          </p:cNvPr>
          <p:cNvSpPr txBox="1"/>
          <p:nvPr/>
        </p:nvSpPr>
        <p:spPr>
          <a:xfrm>
            <a:off x="621614" y="494040"/>
            <a:ext cx="11451514" cy="646331"/>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REFERENCES</a:t>
            </a:r>
          </a:p>
        </p:txBody>
      </p:sp>
      <p:sp>
        <p:nvSpPr>
          <p:cNvPr id="4" name="TextBox 3">
            <a:extLst>
              <a:ext uri="{FF2B5EF4-FFF2-40B4-BE49-F238E27FC236}">
                <a16:creationId xmlns:a16="http://schemas.microsoft.com/office/drawing/2014/main" id="{448A341E-9A8C-175A-C978-EC0631E814B5}"/>
              </a:ext>
            </a:extLst>
          </p:cNvPr>
          <p:cNvSpPr txBox="1"/>
          <p:nvPr/>
        </p:nvSpPr>
        <p:spPr>
          <a:xfrm>
            <a:off x="324678" y="1372811"/>
            <a:ext cx="11867322" cy="5355633"/>
          </a:xfrm>
          <a:prstGeom prst="rect">
            <a:avLst/>
          </a:prstGeom>
          <a:noFill/>
        </p:spPr>
        <p:txBody>
          <a:bodyPr wrap="square">
            <a:spAutoFit/>
          </a:bodyPr>
          <a:lstStyle/>
          <a:p>
            <a:pPr marL="457200" marR="0" indent="-457200">
              <a:lnSpc>
                <a:spcPct val="200000"/>
              </a:lnSpc>
              <a:spcAft>
                <a:spcPts val="800"/>
              </a:spcAft>
              <a:buNone/>
            </a:pPr>
            <a:r>
              <a:rPr lang="en-US" sz="2400" dirty="0">
                <a:effectLst/>
                <a:latin typeface="Times New Roman" panose="02020603050405020304" pitchFamily="18" charset="0"/>
                <a:ea typeface="Calibri" panose="020F0502020204030204" pitchFamily="34" charset="0"/>
                <a:cs typeface="Arial" panose="020B0604020202020204" pitchFamily="34" charset="0"/>
              </a:rPr>
              <a:t>Guerra, J. H. L., Bernardi De Souza, F., Pires, S. R. I., Salgado, M. H., &amp; Sá, A. L. R. D. (2024). </a:t>
            </a:r>
            <a:r>
              <a:rPr lang="en-US" sz="2400" i="1" dirty="0">
                <a:effectLst/>
                <a:latin typeface="Times New Roman" panose="02020603050405020304" pitchFamily="18" charset="0"/>
                <a:ea typeface="Calibri" panose="020F0502020204030204" pitchFamily="34" charset="0"/>
                <a:cs typeface="Arial" panose="020B0604020202020204" pitchFamily="34" charset="0"/>
              </a:rPr>
              <a:t>Supply chain risk management (SCRM) process: An analysis in the aerospace industry</a:t>
            </a:r>
            <a:r>
              <a:rPr lang="en-US" sz="2400" dirty="0">
                <a:effectLst/>
                <a:latin typeface="Times New Roman" panose="02020603050405020304" pitchFamily="18" charset="0"/>
                <a:ea typeface="Calibri" panose="020F0502020204030204" pitchFamily="34" charset="0"/>
                <a:cs typeface="Arial" panose="020B0604020202020204" pitchFamily="34" charset="0"/>
              </a:rPr>
              <a:t> Emerald. doi:10.1108/bij-12-2023-0844</a:t>
            </a:r>
          </a:p>
          <a:p>
            <a:pPr marL="457200" indent="-457200">
              <a:lnSpc>
                <a:spcPct val="200000"/>
              </a:lnSpc>
              <a:spcAft>
                <a:spcPts val="800"/>
              </a:spcAft>
            </a:pPr>
            <a:r>
              <a:rPr lang="en-US" sz="2400" dirty="0">
                <a:latin typeface="Times New Roman" panose="02020603050405020304" pitchFamily="18" charset="0"/>
                <a:ea typeface="Calibri" panose="020F0502020204030204" pitchFamily="34" charset="0"/>
                <a:cs typeface="Arial" panose="020B0604020202020204" pitchFamily="34" charset="0"/>
              </a:rPr>
              <a:t>Maheshwari, S., Gautam, P., &amp; Jaggi, C. K. (2021). Role of big data analytics in supply chain</a:t>
            </a:r>
            <a:r>
              <a:rPr lang="en-US" sz="2400" b="1" dirty="0">
                <a:latin typeface="Times New Roman" panose="02020603050405020304" pitchFamily="18" charset="0"/>
                <a:ea typeface="Calibri" panose="020F0502020204030204" pitchFamily="34" charset="0"/>
                <a:cs typeface="Arial" panose="020B0604020202020204" pitchFamily="34" charset="0"/>
              </a:rPr>
              <a:t> </a:t>
            </a:r>
            <a:r>
              <a:rPr lang="en-US" sz="2400" dirty="0">
                <a:latin typeface="Times New Roman" panose="02020603050405020304" pitchFamily="18" charset="0"/>
                <a:ea typeface="Calibri" panose="020F0502020204030204" pitchFamily="34" charset="0"/>
                <a:cs typeface="Arial" panose="020B0604020202020204" pitchFamily="34" charset="0"/>
              </a:rPr>
              <a:t>management: Current trends and future perspectives.</a:t>
            </a:r>
            <a:r>
              <a:rPr lang="en-US" sz="2400" i="1" dirty="0">
                <a:latin typeface="Times New Roman" panose="02020603050405020304" pitchFamily="18" charset="0"/>
                <a:ea typeface="Calibri" panose="020F0502020204030204" pitchFamily="34" charset="0"/>
                <a:cs typeface="Arial" panose="020B0604020202020204" pitchFamily="34" charset="0"/>
              </a:rPr>
              <a:t> International Journal of Production Research, 59</a:t>
            </a:r>
            <a:r>
              <a:rPr lang="en-US" sz="2400" dirty="0">
                <a:latin typeface="Times New Roman" panose="02020603050405020304" pitchFamily="18" charset="0"/>
                <a:ea typeface="Calibri" panose="020F0502020204030204" pitchFamily="34" charset="0"/>
                <a:cs typeface="Arial" panose="020B0604020202020204" pitchFamily="34" charset="0"/>
              </a:rPr>
              <a:t>(6), 1875–1900. doi:10.1080/00207543.2020.1793011</a:t>
            </a:r>
          </a:p>
          <a:p>
            <a:pPr marL="457200" marR="0" indent="-457200">
              <a:lnSpc>
                <a:spcPct val="200000"/>
              </a:lnSpc>
              <a:spcAft>
                <a:spcPts val="800"/>
              </a:spcAft>
              <a:buNone/>
            </a:pP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776888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D9AC2-7135-6DCC-5D47-5A11815E31D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EE5E2E8-A950-7A15-64A3-C706940910FE}"/>
              </a:ext>
            </a:extLst>
          </p:cNvPr>
          <p:cNvSpPr txBox="1"/>
          <p:nvPr/>
        </p:nvSpPr>
        <p:spPr>
          <a:xfrm>
            <a:off x="621614" y="494040"/>
            <a:ext cx="11451514" cy="646331"/>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REFERENCES</a:t>
            </a:r>
          </a:p>
        </p:txBody>
      </p:sp>
      <p:sp>
        <p:nvSpPr>
          <p:cNvPr id="7" name="TextBox 6">
            <a:extLst>
              <a:ext uri="{FF2B5EF4-FFF2-40B4-BE49-F238E27FC236}">
                <a16:creationId xmlns:a16="http://schemas.microsoft.com/office/drawing/2014/main" id="{33B137D3-C1D3-8505-5A2E-BDEC4D3A5598}"/>
              </a:ext>
            </a:extLst>
          </p:cNvPr>
          <p:cNvSpPr txBox="1"/>
          <p:nvPr/>
        </p:nvSpPr>
        <p:spPr>
          <a:xfrm>
            <a:off x="874643" y="1451113"/>
            <a:ext cx="10873409" cy="6196889"/>
          </a:xfrm>
          <a:prstGeom prst="rect">
            <a:avLst/>
          </a:prstGeom>
          <a:noFill/>
        </p:spPr>
        <p:txBody>
          <a:bodyPr wrap="square">
            <a:spAutoFit/>
          </a:bodyPr>
          <a:lstStyle/>
          <a:p>
            <a:pPr marL="457200" marR="0" indent="-457200">
              <a:lnSpc>
                <a:spcPct val="200000"/>
              </a:lnSpc>
              <a:spcAft>
                <a:spcPts val="800"/>
              </a:spcAft>
              <a:buNone/>
            </a:pPr>
            <a:r>
              <a:rPr lang="en-US" sz="2400" dirty="0">
                <a:effectLst/>
                <a:latin typeface="Times New Roman" panose="02020603050405020304" pitchFamily="18" charset="0"/>
                <a:ea typeface="Calibri" panose="020F0502020204030204" pitchFamily="34" charset="0"/>
                <a:cs typeface="Arial" panose="020B0604020202020204" pitchFamily="34" charset="0"/>
              </a:rPr>
              <a:t>Mentzer, J. T., DeWitt, W., Keebler, J. S., Min, S., Nix, N. W., Smith, C. D., &amp; Zacharia, Z. G. (2011). Defining supply chain management. </a:t>
            </a:r>
            <a:r>
              <a:rPr lang="en-US" sz="2400" i="1" dirty="0">
                <a:effectLst/>
                <a:latin typeface="Times New Roman" panose="02020603050405020304" pitchFamily="18" charset="0"/>
                <a:ea typeface="Calibri" panose="020F0502020204030204" pitchFamily="34" charset="0"/>
                <a:cs typeface="Arial" panose="020B0604020202020204" pitchFamily="34" charset="0"/>
              </a:rPr>
              <a:t>Journal of Business Logistics</a:t>
            </a:r>
            <a:r>
              <a:rPr lang="en-US" sz="2400" dirty="0">
                <a:effectLst/>
                <a:latin typeface="Times New Roman" panose="02020603050405020304" pitchFamily="18" charset="0"/>
                <a:ea typeface="Calibri" panose="020F0502020204030204" pitchFamily="34" charset="0"/>
                <a:cs typeface="Arial" panose="020B0604020202020204" pitchFamily="34" charset="0"/>
              </a:rPr>
              <a:t>, </a:t>
            </a:r>
            <a:r>
              <a:rPr lang="en-US" sz="2400" i="1" dirty="0">
                <a:effectLst/>
                <a:latin typeface="Times New Roman" panose="02020603050405020304" pitchFamily="18" charset="0"/>
                <a:ea typeface="Calibri" panose="020F0502020204030204" pitchFamily="34" charset="0"/>
                <a:cs typeface="Arial" panose="020B0604020202020204" pitchFamily="34" charset="0"/>
              </a:rPr>
              <a:t>22</a:t>
            </a:r>
            <a:r>
              <a:rPr lang="en-US" sz="2400" dirty="0">
                <a:effectLst/>
                <a:latin typeface="Times New Roman" panose="02020603050405020304" pitchFamily="18" charset="0"/>
                <a:ea typeface="Calibri" panose="020F0502020204030204" pitchFamily="34" charset="0"/>
                <a:cs typeface="Arial" panose="020B0604020202020204" pitchFamily="34" charset="0"/>
              </a:rPr>
              <a:t>(2), 1–25. </a:t>
            </a:r>
            <a:r>
              <a:rPr lang="en-US" sz="2400" b="0" u="sng" dirty="0">
                <a:solidFill>
                  <a:srgbClr val="004376"/>
                </a:solidFill>
                <a:effectLst/>
                <a:latin typeface="Times New Roman" panose="02020603050405020304" pitchFamily="18" charset="0"/>
                <a:ea typeface="Calibri" panose="020F0502020204030204" pitchFamily="34" charset="0"/>
                <a:cs typeface="Arial" panose="020B0604020202020204" pitchFamily="34" charset="0"/>
                <a:hlinkClick r:id="rId3"/>
              </a:rPr>
              <a:t>https://doi.org/10.1002/j.2158-1592.2001.tb00001.x</a:t>
            </a:r>
            <a:endParaRPr lang="en-US" sz="2400" b="0" u="sng" dirty="0">
              <a:solidFill>
                <a:srgbClr val="004376"/>
              </a:solidFill>
              <a:effectLst/>
              <a:latin typeface="Times New Roman" panose="02020603050405020304" pitchFamily="18" charset="0"/>
              <a:ea typeface="Calibri" panose="020F0502020204030204" pitchFamily="34" charset="0"/>
              <a:cs typeface="Arial" panose="020B0604020202020204" pitchFamily="34" charset="0"/>
            </a:endParaRPr>
          </a:p>
          <a:p>
            <a:pPr marL="457200" indent="-457200">
              <a:lnSpc>
                <a:spcPct val="200000"/>
              </a:lnSpc>
              <a:spcAft>
                <a:spcPts val="800"/>
              </a:spcAft>
            </a:pPr>
            <a:r>
              <a:rPr lang="en-US" sz="2400" dirty="0">
                <a:latin typeface="Times New Roman" panose="02020603050405020304" pitchFamily="18" charset="0"/>
                <a:ea typeface="Times New Roman" panose="02020603050405020304" pitchFamily="18" charset="0"/>
              </a:rPr>
              <a:t>Moens, V. (2025, September 17). </a:t>
            </a:r>
            <a:r>
              <a:rPr lang="en-US" sz="2400" i="1" dirty="0">
                <a:latin typeface="Times New Roman" panose="02020603050405020304" pitchFamily="18" charset="0"/>
                <a:ea typeface="Times New Roman" panose="02020603050405020304" pitchFamily="18" charset="0"/>
              </a:rPr>
              <a:t>Reinforcement learning (PPO) with torch </a:t>
            </a:r>
            <a:r>
              <a:rPr lang="en-US" sz="2400" i="1" dirty="0" err="1">
                <a:latin typeface="Times New Roman" panose="02020603050405020304" pitchFamily="18" charset="0"/>
                <a:ea typeface="Times New Roman" panose="02020603050405020304" pitchFamily="18" charset="0"/>
              </a:rPr>
              <a:t>rl</a:t>
            </a:r>
            <a:r>
              <a:rPr lang="en-US" sz="2400" i="1" dirty="0">
                <a:latin typeface="Times New Roman" panose="02020603050405020304" pitchFamily="18" charset="0"/>
                <a:ea typeface="Times New Roman" panose="02020603050405020304" pitchFamily="18" charset="0"/>
              </a:rPr>
              <a:t> tutorial</a:t>
            </a:r>
            <a:r>
              <a:rPr lang="en-US" sz="2400" dirty="0">
                <a:latin typeface="Times New Roman" panose="02020603050405020304" pitchFamily="18" charset="0"/>
                <a:ea typeface="Times New Roman" panose="02020603050405020304" pitchFamily="18" charset="0"/>
              </a:rPr>
              <a:t>. </a:t>
            </a:r>
            <a:r>
              <a:rPr lang="en-US" sz="2400" dirty="0" err="1">
                <a:latin typeface="Times New Roman" panose="02020603050405020304" pitchFamily="18" charset="0"/>
                <a:ea typeface="Times New Roman" panose="02020603050405020304" pitchFamily="18" charset="0"/>
              </a:rPr>
              <a:t>PyTorch</a:t>
            </a:r>
            <a:r>
              <a:rPr lang="en-US" sz="2400" dirty="0">
                <a:latin typeface="Times New Roman" panose="02020603050405020304" pitchFamily="18" charset="0"/>
                <a:ea typeface="Times New Roman" panose="02020603050405020304" pitchFamily="18" charset="0"/>
              </a:rPr>
              <a:t>. </a:t>
            </a:r>
            <a:r>
              <a:rPr lang="en-US" sz="2400" u="sng" dirty="0">
                <a:solidFill>
                  <a:srgbClr val="004376"/>
                </a:solidFill>
                <a:latin typeface="Times New Roman" panose="02020603050405020304" pitchFamily="18" charset="0"/>
                <a:ea typeface="Times New Roman" panose="02020603050405020304" pitchFamily="18" charset="0"/>
                <a:hlinkClick r:id="rId4"/>
              </a:rPr>
              <a:t>http://docs.pytorch.org/tutorials/intermediate/reinforcement_ppo.html</a:t>
            </a:r>
            <a:endParaRPr lang="en-US" sz="2400" dirty="0">
              <a:latin typeface="Times New Roman" panose="02020603050405020304" pitchFamily="18" charset="0"/>
              <a:ea typeface="Times New Roman" panose="02020603050405020304" pitchFamily="18" charset="0"/>
            </a:endParaRPr>
          </a:p>
          <a:p>
            <a:pPr marL="457200" marR="0" indent="-457200">
              <a:lnSpc>
                <a:spcPct val="200000"/>
              </a:lnSpc>
              <a:spcAft>
                <a:spcPts val="800"/>
              </a:spcAft>
              <a:buNone/>
            </a:pP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457200" marR="0" indent="-457200">
              <a:lnSpc>
                <a:spcPct val="200000"/>
              </a:lnSpc>
              <a:spcAft>
                <a:spcPts val="800"/>
              </a:spcAft>
              <a:buNone/>
            </a:pP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623742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E1232-AA36-DAD0-B4D4-2F0D82DF81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06CC382-99F2-7AE5-8398-D5A8CE880C41}"/>
              </a:ext>
            </a:extLst>
          </p:cNvPr>
          <p:cNvSpPr txBox="1"/>
          <p:nvPr/>
        </p:nvSpPr>
        <p:spPr>
          <a:xfrm>
            <a:off x="621614" y="494040"/>
            <a:ext cx="11451514" cy="646331"/>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REFERENCES</a:t>
            </a:r>
          </a:p>
        </p:txBody>
      </p:sp>
      <p:sp>
        <p:nvSpPr>
          <p:cNvPr id="6" name="TextBox 5">
            <a:extLst>
              <a:ext uri="{FF2B5EF4-FFF2-40B4-BE49-F238E27FC236}">
                <a16:creationId xmlns:a16="http://schemas.microsoft.com/office/drawing/2014/main" id="{E168A3E1-878A-701D-4CCA-56CDB2EB5DDA}"/>
              </a:ext>
            </a:extLst>
          </p:cNvPr>
          <p:cNvSpPr txBox="1"/>
          <p:nvPr/>
        </p:nvSpPr>
        <p:spPr>
          <a:xfrm>
            <a:off x="337929" y="1140371"/>
            <a:ext cx="11735199" cy="2934458"/>
          </a:xfrm>
          <a:prstGeom prst="rect">
            <a:avLst/>
          </a:prstGeom>
          <a:noFill/>
        </p:spPr>
        <p:txBody>
          <a:bodyPr wrap="square">
            <a:spAutoFit/>
          </a:bodyPr>
          <a:lstStyle/>
          <a:p>
            <a:pPr marL="457200" marR="0" indent="-457200">
              <a:lnSpc>
                <a:spcPct val="200000"/>
              </a:lnSpc>
              <a:buNone/>
            </a:pPr>
            <a:r>
              <a:rPr lang="en-US" sz="2400" dirty="0">
                <a:effectLst/>
                <a:latin typeface="Times New Roman" panose="02020603050405020304" pitchFamily="18" charset="0"/>
                <a:ea typeface="Times New Roman" panose="02020603050405020304" pitchFamily="18" charset="0"/>
              </a:rPr>
              <a:t>Rimal, Y., Sharma, N., &amp; </a:t>
            </a:r>
            <a:r>
              <a:rPr lang="en-US" sz="2400" dirty="0" err="1">
                <a:effectLst/>
                <a:latin typeface="Times New Roman" panose="02020603050405020304" pitchFamily="18" charset="0"/>
                <a:ea typeface="Times New Roman" panose="02020603050405020304" pitchFamily="18" charset="0"/>
              </a:rPr>
              <a:t>Alsadoon</a:t>
            </a:r>
            <a:r>
              <a:rPr lang="en-US" sz="2400" dirty="0">
                <a:effectLst/>
                <a:latin typeface="Times New Roman" panose="02020603050405020304" pitchFamily="18" charset="0"/>
                <a:ea typeface="Times New Roman" panose="02020603050405020304" pitchFamily="18" charset="0"/>
              </a:rPr>
              <a:t>, A. (2024). The accuracy of machine learning models relies on hyperparameter tuning: Student result classification using random forest, randomized search, grid search, </a:t>
            </a:r>
            <a:r>
              <a:rPr lang="en-US" sz="2400" dirty="0" err="1">
                <a:effectLst/>
                <a:latin typeface="Times New Roman" panose="02020603050405020304" pitchFamily="18" charset="0"/>
                <a:ea typeface="Times New Roman" panose="02020603050405020304" pitchFamily="18" charset="0"/>
              </a:rPr>
              <a:t>bayesian</a:t>
            </a:r>
            <a:r>
              <a:rPr lang="en-US" sz="2400" dirty="0">
                <a:effectLst/>
                <a:latin typeface="Times New Roman" panose="02020603050405020304" pitchFamily="18" charset="0"/>
                <a:ea typeface="Times New Roman" panose="02020603050405020304" pitchFamily="18" charset="0"/>
              </a:rPr>
              <a:t>, genetic, and </a:t>
            </a:r>
            <a:r>
              <a:rPr lang="en-US" sz="2400" dirty="0" err="1">
                <a:effectLst/>
                <a:latin typeface="Times New Roman" panose="02020603050405020304" pitchFamily="18" charset="0"/>
                <a:ea typeface="Times New Roman" panose="02020603050405020304" pitchFamily="18" charset="0"/>
              </a:rPr>
              <a:t>optuna</a:t>
            </a:r>
            <a:r>
              <a:rPr lang="en-US" sz="2400" dirty="0">
                <a:effectLst/>
                <a:latin typeface="Times New Roman" panose="02020603050405020304" pitchFamily="18" charset="0"/>
                <a:ea typeface="Times New Roman" panose="02020603050405020304" pitchFamily="18" charset="0"/>
              </a:rPr>
              <a:t> algorithms. </a:t>
            </a:r>
            <a:r>
              <a:rPr lang="en-US" sz="2400" i="1" dirty="0">
                <a:effectLst/>
                <a:latin typeface="Times New Roman" panose="02020603050405020304" pitchFamily="18" charset="0"/>
                <a:ea typeface="Times New Roman" panose="02020603050405020304" pitchFamily="18" charset="0"/>
              </a:rPr>
              <a:t>Multimedia Tools and Applications</a:t>
            </a:r>
            <a:r>
              <a:rPr lang="en-US" sz="2400" dirty="0">
                <a:effectLst/>
                <a:latin typeface="Times New Roman" panose="02020603050405020304" pitchFamily="18" charset="0"/>
                <a:ea typeface="Times New Roman" panose="02020603050405020304" pitchFamily="18" charset="0"/>
              </a:rPr>
              <a:t>, </a:t>
            </a:r>
            <a:r>
              <a:rPr lang="en-US" sz="2400" i="1" dirty="0">
                <a:effectLst/>
                <a:latin typeface="Times New Roman" panose="02020603050405020304" pitchFamily="18" charset="0"/>
                <a:ea typeface="Times New Roman" panose="02020603050405020304" pitchFamily="18" charset="0"/>
              </a:rPr>
              <a:t>83</a:t>
            </a:r>
            <a:r>
              <a:rPr lang="en-US" sz="2400" dirty="0">
                <a:effectLst/>
                <a:latin typeface="Times New Roman" panose="02020603050405020304" pitchFamily="18" charset="0"/>
                <a:ea typeface="Times New Roman" panose="02020603050405020304" pitchFamily="18" charset="0"/>
              </a:rPr>
              <a:t>, 74349–74364. </a:t>
            </a:r>
            <a:r>
              <a:rPr lang="en-US" sz="2400" b="0" u="sng" dirty="0">
                <a:solidFill>
                  <a:srgbClr val="004376"/>
                </a:solidFill>
                <a:effectLst/>
                <a:latin typeface="Times New Roman" panose="02020603050405020304" pitchFamily="18" charset="0"/>
                <a:ea typeface="Times New Roman" panose="02020603050405020304" pitchFamily="18" charset="0"/>
                <a:hlinkClick r:id="rId3"/>
              </a:rPr>
              <a:t>https://doi.org/10.1007/s11042-024-18426-2</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15435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88765-0F22-EA9C-DC91-980E935B17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E22CD2-A5A8-A125-4F48-F510F0E22CFE}"/>
              </a:ext>
            </a:extLst>
          </p:cNvPr>
          <p:cNvSpPr txBox="1"/>
          <p:nvPr/>
        </p:nvSpPr>
        <p:spPr>
          <a:xfrm>
            <a:off x="621614" y="494040"/>
            <a:ext cx="11451514" cy="646331"/>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REFERENCES</a:t>
            </a:r>
          </a:p>
        </p:txBody>
      </p:sp>
      <p:sp>
        <p:nvSpPr>
          <p:cNvPr id="6" name="TextBox 5">
            <a:extLst>
              <a:ext uri="{FF2B5EF4-FFF2-40B4-BE49-F238E27FC236}">
                <a16:creationId xmlns:a16="http://schemas.microsoft.com/office/drawing/2014/main" id="{D86CEFD6-4539-E736-355B-6174B02C4B6C}"/>
              </a:ext>
            </a:extLst>
          </p:cNvPr>
          <p:cNvSpPr txBox="1"/>
          <p:nvPr/>
        </p:nvSpPr>
        <p:spPr>
          <a:xfrm>
            <a:off x="437322" y="1058594"/>
            <a:ext cx="11111948" cy="5253041"/>
          </a:xfrm>
          <a:prstGeom prst="rect">
            <a:avLst/>
          </a:prstGeom>
          <a:noFill/>
        </p:spPr>
        <p:txBody>
          <a:bodyPr wrap="square">
            <a:spAutoFit/>
          </a:bodyPr>
          <a:lstStyle/>
          <a:p>
            <a:pPr marL="457200" indent="-457200">
              <a:lnSpc>
                <a:spcPct val="200000"/>
              </a:lnSpc>
              <a:spcAft>
                <a:spcPts val="800"/>
              </a:spcAft>
            </a:pPr>
            <a:r>
              <a:rPr lang="en-US" sz="2400" dirty="0">
                <a:latin typeface="Times" panose="02020603050405020304" pitchFamily="18" charset="0"/>
                <a:cs typeface="Times" panose="02020603050405020304" pitchFamily="18" charset="0"/>
              </a:rPr>
              <a:t>Sharma, A., Zhang, Z., &amp; Rai, R. (2021). The interpretive model of manufacturing: a theoretical framework and research agenda for machine learning in manufacturing. </a:t>
            </a:r>
            <a:r>
              <a:rPr lang="en-US" sz="2400" i="1" dirty="0">
                <a:latin typeface="Times" panose="02020603050405020304" pitchFamily="18" charset="0"/>
                <a:cs typeface="Times" panose="02020603050405020304" pitchFamily="18" charset="0"/>
              </a:rPr>
              <a:t>International Journal of Production Research</a:t>
            </a:r>
            <a:r>
              <a:rPr lang="en-US" sz="2400" dirty="0">
                <a:latin typeface="Times" panose="02020603050405020304" pitchFamily="18" charset="0"/>
                <a:cs typeface="Times" panose="02020603050405020304" pitchFamily="18" charset="0"/>
              </a:rPr>
              <a:t>, </a:t>
            </a:r>
            <a:r>
              <a:rPr lang="en-US" sz="2400" i="1" dirty="0">
                <a:latin typeface="Times" panose="02020603050405020304" pitchFamily="18" charset="0"/>
                <a:cs typeface="Times" panose="02020603050405020304" pitchFamily="18" charset="0"/>
              </a:rPr>
              <a:t>59</a:t>
            </a:r>
            <a:r>
              <a:rPr lang="en-US" sz="2400" dirty="0">
                <a:latin typeface="Times" panose="02020603050405020304" pitchFamily="18" charset="0"/>
                <a:cs typeface="Times" panose="02020603050405020304" pitchFamily="18" charset="0"/>
              </a:rPr>
              <a:t>, 4960-4994. </a:t>
            </a:r>
            <a:r>
              <a:rPr lang="en-US" sz="2400" u="sng" dirty="0">
                <a:latin typeface="Times" panose="02020603050405020304" pitchFamily="18" charset="0"/>
                <a:cs typeface="Times" panose="02020603050405020304" pitchFamily="18" charset="0"/>
                <a:hlinkClick r:id="rId3"/>
              </a:rPr>
              <a:t>https://doi.org/10.1080/00207543.2021.1930234</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457200" marR="0" indent="-457200">
              <a:lnSpc>
                <a:spcPct val="200000"/>
              </a:lnSpc>
              <a:spcAft>
                <a:spcPts val="800"/>
              </a:spcAft>
              <a:buNone/>
            </a:pPr>
            <a:r>
              <a:rPr lang="en-US" sz="2400" dirty="0" err="1">
                <a:effectLst/>
                <a:latin typeface="Times New Roman" panose="02020603050405020304" pitchFamily="18" charset="0"/>
                <a:ea typeface="Calibri" panose="020F0502020204030204" pitchFamily="34" charset="0"/>
                <a:cs typeface="Arial" panose="020B0604020202020204" pitchFamily="34" charset="0"/>
              </a:rPr>
              <a:t>Shekarabi</a:t>
            </a:r>
            <a:r>
              <a:rPr lang="en-US" sz="2400" dirty="0">
                <a:effectLst/>
                <a:latin typeface="Times New Roman" panose="02020603050405020304" pitchFamily="18" charset="0"/>
                <a:ea typeface="Calibri" panose="020F0502020204030204" pitchFamily="34" charset="0"/>
                <a:cs typeface="Arial" panose="020B0604020202020204" pitchFamily="34" charset="0"/>
              </a:rPr>
              <a:t>, H., &amp; </a:t>
            </a:r>
            <a:r>
              <a:rPr lang="en-US" sz="2400" dirty="0" err="1">
                <a:effectLst/>
                <a:latin typeface="Times New Roman" panose="02020603050405020304" pitchFamily="18" charset="0"/>
                <a:ea typeface="Calibri" panose="020F0502020204030204" pitchFamily="34" charset="0"/>
                <a:cs typeface="Arial" panose="020B0604020202020204" pitchFamily="34" charset="0"/>
              </a:rPr>
              <a:t>Mozdgir</a:t>
            </a:r>
            <a:r>
              <a:rPr lang="en-US" sz="2400" dirty="0">
                <a:effectLst/>
                <a:latin typeface="Times New Roman" panose="02020603050405020304" pitchFamily="18" charset="0"/>
                <a:ea typeface="Calibri" panose="020F0502020204030204" pitchFamily="34" charset="0"/>
                <a:cs typeface="Arial" panose="020B0604020202020204" pitchFamily="34" charset="0"/>
              </a:rPr>
              <a:t>, A. (2025). </a:t>
            </a:r>
            <a:r>
              <a:rPr lang="en-US" sz="2400" i="1" dirty="0">
                <a:effectLst/>
                <a:latin typeface="Times New Roman" panose="02020603050405020304" pitchFamily="18" charset="0"/>
                <a:ea typeface="Calibri" panose="020F0502020204030204" pitchFamily="34" charset="0"/>
                <a:cs typeface="Arial" panose="020B0604020202020204" pitchFamily="34" charset="0"/>
              </a:rPr>
              <a:t>Robust, resilient, and responsive food supply chain redesign considering uncertainty and pandemic disruptions</a:t>
            </a:r>
            <a:r>
              <a:rPr lang="en-US" sz="2400" dirty="0">
                <a:effectLst/>
                <a:latin typeface="Times New Roman" panose="02020603050405020304" pitchFamily="18" charset="0"/>
                <a:ea typeface="Calibri" panose="020F0502020204030204" pitchFamily="34" charset="0"/>
                <a:cs typeface="Arial" panose="020B0604020202020204" pitchFamily="34" charset="0"/>
              </a:rPr>
              <a:t> Springer Science and Business Media LLC. doi:10.1007/s10479-025-06465-3</a:t>
            </a:r>
          </a:p>
        </p:txBody>
      </p:sp>
    </p:spTree>
    <p:extLst>
      <p:ext uri="{BB962C8B-B14F-4D97-AF65-F5344CB8AC3E}">
        <p14:creationId xmlns:p14="http://schemas.microsoft.com/office/powerpoint/2010/main" val="466553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BE544-6AD9-75B5-0A4C-B2FC6E736C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BF8E5E-D769-1382-2029-1C42C542DEDA}"/>
              </a:ext>
            </a:extLst>
          </p:cNvPr>
          <p:cNvSpPr txBox="1"/>
          <p:nvPr/>
        </p:nvSpPr>
        <p:spPr>
          <a:xfrm>
            <a:off x="621614" y="494040"/>
            <a:ext cx="11451514" cy="646331"/>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REFERENCES</a:t>
            </a:r>
          </a:p>
        </p:txBody>
      </p:sp>
      <p:sp>
        <p:nvSpPr>
          <p:cNvPr id="8" name="TextBox 7">
            <a:extLst>
              <a:ext uri="{FF2B5EF4-FFF2-40B4-BE49-F238E27FC236}">
                <a16:creationId xmlns:a16="http://schemas.microsoft.com/office/drawing/2014/main" id="{293FF034-3458-7CC0-8DA6-34E6E1044B99}"/>
              </a:ext>
            </a:extLst>
          </p:cNvPr>
          <p:cNvSpPr txBox="1"/>
          <p:nvPr/>
        </p:nvSpPr>
        <p:spPr>
          <a:xfrm>
            <a:off x="621614" y="817205"/>
            <a:ext cx="11451513" cy="5355633"/>
          </a:xfrm>
          <a:prstGeom prst="rect">
            <a:avLst/>
          </a:prstGeom>
          <a:noFill/>
        </p:spPr>
        <p:txBody>
          <a:bodyPr wrap="square">
            <a:spAutoFit/>
          </a:bodyPr>
          <a:lstStyle/>
          <a:p>
            <a:pPr marL="457200" indent="-457200">
              <a:lnSpc>
                <a:spcPct val="200000"/>
              </a:lnSpc>
              <a:spcAft>
                <a:spcPts val="800"/>
              </a:spcAft>
            </a:pPr>
            <a:r>
              <a:rPr lang="en-US" sz="2400" dirty="0">
                <a:latin typeface="Times New Roman" panose="02020603050405020304" pitchFamily="18" charset="0"/>
                <a:ea typeface="Calibri" panose="020F0502020204030204" pitchFamily="34" charset="0"/>
                <a:cs typeface="Arial" panose="020B0604020202020204" pitchFamily="34" charset="0"/>
              </a:rPr>
              <a:t>Shu, X., &amp; Ye, Y. (2023). Knowledge discovery: Methods from data mining and machine learning. </a:t>
            </a:r>
            <a:r>
              <a:rPr lang="en-US" sz="2400" i="1" dirty="0">
                <a:latin typeface="Times New Roman" panose="02020603050405020304" pitchFamily="18" charset="0"/>
                <a:ea typeface="Calibri" panose="020F0502020204030204" pitchFamily="34" charset="0"/>
                <a:cs typeface="Arial" panose="020B0604020202020204" pitchFamily="34" charset="0"/>
              </a:rPr>
              <a:t>Social Science Research</a:t>
            </a:r>
            <a:r>
              <a:rPr lang="en-US" sz="2400" dirty="0">
                <a:latin typeface="Times New Roman" panose="02020603050405020304" pitchFamily="18" charset="0"/>
                <a:ea typeface="Calibri" panose="020F0502020204030204" pitchFamily="34" charset="0"/>
                <a:cs typeface="Arial" panose="020B0604020202020204" pitchFamily="34" charset="0"/>
              </a:rPr>
              <a:t>, </a:t>
            </a:r>
            <a:r>
              <a:rPr lang="en-US" sz="2400" i="1" dirty="0">
                <a:latin typeface="Times New Roman" panose="02020603050405020304" pitchFamily="18" charset="0"/>
                <a:ea typeface="Calibri" panose="020F0502020204030204" pitchFamily="34" charset="0"/>
                <a:cs typeface="Arial" panose="020B0604020202020204" pitchFamily="34" charset="0"/>
              </a:rPr>
              <a:t>110</a:t>
            </a:r>
            <a:r>
              <a:rPr lang="en-US" sz="2400" dirty="0">
                <a:latin typeface="Times New Roman" panose="02020603050405020304" pitchFamily="18" charset="0"/>
                <a:ea typeface="Calibri" panose="020F0502020204030204" pitchFamily="34" charset="0"/>
                <a:cs typeface="Arial" panose="020B0604020202020204" pitchFamily="34" charset="0"/>
              </a:rPr>
              <a:t>, 102817. </a:t>
            </a:r>
            <a:r>
              <a:rPr lang="en-US" sz="2400" u="sng" dirty="0">
                <a:solidFill>
                  <a:srgbClr val="004376"/>
                </a:solidFill>
                <a:latin typeface="Times New Roman" panose="02020603050405020304" pitchFamily="18" charset="0"/>
                <a:ea typeface="Calibri" panose="020F0502020204030204" pitchFamily="34" charset="0"/>
                <a:cs typeface="Arial" panose="020B0604020202020204" pitchFamily="34" charset="0"/>
                <a:hlinkClick r:id="rId3"/>
              </a:rPr>
              <a:t>https://doi.org/10.1016/j.ssresearch.2022.102817</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457200" indent="-457200">
              <a:lnSpc>
                <a:spcPct val="200000"/>
              </a:lnSpc>
              <a:spcAft>
                <a:spcPts val="800"/>
              </a:spcAft>
            </a:pPr>
            <a:r>
              <a:rPr lang="en-US" sz="2400" dirty="0" err="1">
                <a:latin typeface="Times New Roman" panose="02020603050405020304" pitchFamily="18" charset="0"/>
                <a:ea typeface="Calibri" panose="020F0502020204030204" pitchFamily="34" charset="0"/>
                <a:cs typeface="Arial" panose="020B0604020202020204" pitchFamily="34" charset="0"/>
              </a:rPr>
              <a:t>Stroumpoulis</a:t>
            </a:r>
            <a:r>
              <a:rPr lang="en-US" sz="2400" dirty="0">
                <a:latin typeface="Times New Roman" panose="02020603050405020304" pitchFamily="18" charset="0"/>
                <a:ea typeface="Calibri" panose="020F0502020204030204" pitchFamily="34" charset="0"/>
                <a:cs typeface="Arial" panose="020B0604020202020204" pitchFamily="34" charset="0"/>
              </a:rPr>
              <a:t>, A., &amp; </a:t>
            </a:r>
            <a:r>
              <a:rPr lang="en-US" sz="2400" dirty="0" err="1">
                <a:latin typeface="Times New Roman" panose="02020603050405020304" pitchFamily="18" charset="0"/>
                <a:ea typeface="Calibri" panose="020F0502020204030204" pitchFamily="34" charset="0"/>
                <a:cs typeface="Arial" panose="020B0604020202020204" pitchFamily="34" charset="0"/>
              </a:rPr>
              <a:t>Kopanaki</a:t>
            </a:r>
            <a:r>
              <a:rPr lang="en-US" sz="2400" dirty="0">
                <a:latin typeface="Times New Roman" panose="02020603050405020304" pitchFamily="18" charset="0"/>
                <a:ea typeface="Calibri" panose="020F0502020204030204" pitchFamily="34" charset="0"/>
                <a:cs typeface="Arial" panose="020B0604020202020204" pitchFamily="34" charset="0"/>
              </a:rPr>
              <a:t>, E. (2022). Theoretical perspectives on sustainable supply chain management and digital transformation: A literature review and a conceptual framework. </a:t>
            </a:r>
            <a:r>
              <a:rPr lang="en-US" sz="2400" i="1" dirty="0">
                <a:latin typeface="Times New Roman" panose="02020603050405020304" pitchFamily="18" charset="0"/>
                <a:ea typeface="Calibri" panose="020F0502020204030204" pitchFamily="34" charset="0"/>
                <a:cs typeface="Arial" panose="020B0604020202020204" pitchFamily="34" charset="0"/>
              </a:rPr>
              <a:t>Sustainability</a:t>
            </a:r>
            <a:r>
              <a:rPr lang="en-US" sz="2400" dirty="0">
                <a:latin typeface="Times New Roman" panose="02020603050405020304" pitchFamily="18" charset="0"/>
                <a:ea typeface="Calibri" panose="020F0502020204030204" pitchFamily="34" charset="0"/>
                <a:cs typeface="Arial" panose="020B0604020202020204" pitchFamily="34" charset="0"/>
              </a:rPr>
              <a:t>, </a:t>
            </a:r>
            <a:r>
              <a:rPr lang="en-US" sz="2400" i="1" dirty="0">
                <a:latin typeface="Times New Roman" panose="02020603050405020304" pitchFamily="18" charset="0"/>
                <a:ea typeface="Calibri" panose="020F0502020204030204" pitchFamily="34" charset="0"/>
                <a:cs typeface="Arial" panose="020B0604020202020204" pitchFamily="34" charset="0"/>
              </a:rPr>
              <a:t>14</a:t>
            </a:r>
            <a:r>
              <a:rPr lang="en-US" sz="2400" dirty="0">
                <a:latin typeface="Times New Roman" panose="02020603050405020304" pitchFamily="18" charset="0"/>
                <a:ea typeface="Calibri" panose="020F0502020204030204" pitchFamily="34" charset="0"/>
                <a:cs typeface="Arial" panose="020B0604020202020204" pitchFamily="34" charset="0"/>
              </a:rPr>
              <a:t>(8), 4862. </a:t>
            </a:r>
            <a:r>
              <a:rPr lang="en-US" sz="2400" u="sng" dirty="0">
                <a:solidFill>
                  <a:srgbClr val="004376"/>
                </a:solidFill>
                <a:latin typeface="Times New Roman" panose="02020603050405020304" pitchFamily="18" charset="0"/>
                <a:ea typeface="Calibri" panose="020F0502020204030204" pitchFamily="34" charset="0"/>
                <a:cs typeface="Arial" panose="020B0604020202020204" pitchFamily="34" charset="0"/>
                <a:hlinkClick r:id="rId4"/>
              </a:rPr>
              <a:t>https://doi.org/10.3390/su14084862</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457200" marR="0" indent="-457200">
              <a:lnSpc>
                <a:spcPct val="200000"/>
              </a:lnSpc>
              <a:spcAft>
                <a:spcPts val="800"/>
              </a:spcAft>
              <a:buNone/>
            </a:pP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834371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7E705-1B5E-3A97-B127-D37D54C3AA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D6D13D-659F-044E-6955-26E0D05302DA}"/>
              </a:ext>
            </a:extLst>
          </p:cNvPr>
          <p:cNvSpPr txBox="1"/>
          <p:nvPr/>
        </p:nvSpPr>
        <p:spPr>
          <a:xfrm>
            <a:off x="621614" y="494040"/>
            <a:ext cx="11451514" cy="646331"/>
          </a:xfrm>
          <a:prstGeom prst="rect">
            <a:avLst/>
          </a:prstGeom>
          <a:noFill/>
        </p:spPr>
        <p:txBody>
          <a:bodyPr wrap="square" rtlCol="0">
            <a:spAutoFit/>
          </a:bodyPr>
          <a:lstStyle/>
          <a:p>
            <a:r>
              <a:rPr lang="en-US" sz="3500" b="1" dirty="0">
                <a:solidFill>
                  <a:srgbClr val="0B253F"/>
                </a:solidFill>
                <a:latin typeface="Times" pitchFamily="2" charset="0"/>
                <a:ea typeface="Charter Roman" charset="0"/>
                <a:cs typeface="Charter Roman" charset="0"/>
              </a:rPr>
              <a:t>REFERENCES</a:t>
            </a:r>
          </a:p>
        </p:txBody>
      </p:sp>
      <p:sp>
        <p:nvSpPr>
          <p:cNvPr id="4" name="TextBox 3">
            <a:extLst>
              <a:ext uri="{FF2B5EF4-FFF2-40B4-BE49-F238E27FC236}">
                <a16:creationId xmlns:a16="http://schemas.microsoft.com/office/drawing/2014/main" id="{6A368093-1025-F707-11AD-29E57C865CCF}"/>
              </a:ext>
            </a:extLst>
          </p:cNvPr>
          <p:cNvSpPr txBox="1"/>
          <p:nvPr/>
        </p:nvSpPr>
        <p:spPr>
          <a:xfrm>
            <a:off x="621613" y="1221095"/>
            <a:ext cx="11205951" cy="5150449"/>
          </a:xfrm>
          <a:prstGeom prst="rect">
            <a:avLst/>
          </a:prstGeom>
          <a:noFill/>
        </p:spPr>
        <p:txBody>
          <a:bodyPr wrap="square">
            <a:spAutoFit/>
          </a:bodyPr>
          <a:lstStyle/>
          <a:p>
            <a:pPr marL="457200" indent="-457200">
              <a:lnSpc>
                <a:spcPct val="200000"/>
              </a:lnSpc>
            </a:pPr>
            <a:r>
              <a:rPr lang="en-US" sz="2400" dirty="0" err="1">
                <a:latin typeface="Times New Roman" panose="02020603050405020304" pitchFamily="18" charset="0"/>
                <a:ea typeface="Calibri" panose="020F0502020204030204" pitchFamily="34" charset="0"/>
                <a:cs typeface="Arial" panose="020B0604020202020204" pitchFamily="34" charset="0"/>
              </a:rPr>
              <a:t>Suryawanshi</a:t>
            </a:r>
            <a:r>
              <a:rPr lang="en-US" sz="2400" dirty="0">
                <a:latin typeface="Times New Roman" panose="02020603050405020304" pitchFamily="18" charset="0"/>
                <a:ea typeface="Calibri" panose="020F0502020204030204" pitchFamily="34" charset="0"/>
                <a:cs typeface="Arial" panose="020B0604020202020204" pitchFamily="34" charset="0"/>
              </a:rPr>
              <a:t>, P., &amp; Dutta, P. (2022). Optimization models for supply chains under risk, uncertainty, and resilience: A state-of-the-art review and future research directions. </a:t>
            </a:r>
            <a:r>
              <a:rPr lang="en-US" sz="2400" i="1" dirty="0">
                <a:latin typeface="Times New Roman" panose="02020603050405020304" pitchFamily="18" charset="0"/>
                <a:ea typeface="Calibri" panose="020F0502020204030204" pitchFamily="34" charset="0"/>
                <a:cs typeface="Arial" panose="020B0604020202020204" pitchFamily="34" charset="0"/>
              </a:rPr>
              <a:t>Transportation Research Part E: Logistics and Transportation Review</a:t>
            </a:r>
            <a:r>
              <a:rPr lang="en-US" sz="2400" dirty="0">
                <a:latin typeface="Times New Roman" panose="02020603050405020304" pitchFamily="18" charset="0"/>
                <a:ea typeface="Calibri" panose="020F0502020204030204" pitchFamily="34" charset="0"/>
                <a:cs typeface="Arial" panose="020B0604020202020204" pitchFamily="34" charset="0"/>
              </a:rPr>
              <a:t>, </a:t>
            </a:r>
            <a:r>
              <a:rPr lang="en-US" sz="2400" i="1" dirty="0">
                <a:latin typeface="Times New Roman" panose="02020603050405020304" pitchFamily="18" charset="0"/>
                <a:ea typeface="Calibri" panose="020F0502020204030204" pitchFamily="34" charset="0"/>
                <a:cs typeface="Arial" panose="020B0604020202020204" pitchFamily="34" charset="0"/>
              </a:rPr>
              <a:t>157</a:t>
            </a:r>
            <a:r>
              <a:rPr lang="en-US" sz="2400" dirty="0">
                <a:latin typeface="Times New Roman" panose="02020603050405020304" pitchFamily="18" charset="0"/>
                <a:ea typeface="Calibri" panose="020F0502020204030204" pitchFamily="34" charset="0"/>
                <a:cs typeface="Arial" panose="020B0604020202020204" pitchFamily="34" charset="0"/>
              </a:rPr>
              <a:t>, 102553. </a:t>
            </a:r>
            <a:r>
              <a:rPr lang="en-US" sz="2400" u="sng" dirty="0">
                <a:solidFill>
                  <a:srgbClr val="004376"/>
                </a:solidFill>
                <a:latin typeface="Times New Roman" panose="02020603050405020304" pitchFamily="18" charset="0"/>
                <a:ea typeface="Calibri" panose="020F0502020204030204" pitchFamily="34" charset="0"/>
                <a:cs typeface="Arial" panose="020B0604020202020204" pitchFamily="34" charset="0"/>
                <a:hlinkClick r:id="rId3"/>
              </a:rPr>
              <a:t>https://doi.org/10.1016/j.tre.2021.102553</a:t>
            </a:r>
            <a:endParaRPr lang="en-US" sz="2400" dirty="0">
              <a:effectLst/>
              <a:latin typeface="Times New Roman" panose="02020603050405020304" pitchFamily="18" charset="0"/>
              <a:ea typeface="Times New Roman" panose="02020603050405020304" pitchFamily="18" charset="0"/>
            </a:endParaRPr>
          </a:p>
          <a:p>
            <a:pPr marL="457200" marR="0" indent="-457200">
              <a:lnSpc>
                <a:spcPct val="200000"/>
              </a:lnSpc>
              <a:buNone/>
            </a:pPr>
            <a:r>
              <a:rPr lang="en-US" sz="2400" dirty="0">
                <a:effectLst/>
                <a:latin typeface="Times New Roman" panose="02020603050405020304" pitchFamily="18" charset="0"/>
                <a:ea typeface="Times New Roman" panose="02020603050405020304" pitchFamily="18" charset="0"/>
              </a:rPr>
              <a:t>Wan, M., Zha, D., Liu, N., &amp; Zou, N. (2023). In-processing modeling techniques for machine learning fairness: A survey. </a:t>
            </a:r>
            <a:r>
              <a:rPr lang="en-US" sz="2400" i="1" dirty="0">
                <a:effectLst/>
                <a:latin typeface="Times New Roman" panose="02020603050405020304" pitchFamily="18" charset="0"/>
                <a:ea typeface="Times New Roman" panose="02020603050405020304" pitchFamily="18" charset="0"/>
              </a:rPr>
              <a:t>ACM Transactions on Knowledge Discovery from Data</a:t>
            </a:r>
            <a:r>
              <a:rPr lang="en-US" sz="2400" dirty="0">
                <a:effectLst/>
                <a:latin typeface="Times New Roman" panose="02020603050405020304" pitchFamily="18" charset="0"/>
                <a:ea typeface="Times New Roman" panose="02020603050405020304" pitchFamily="18" charset="0"/>
              </a:rPr>
              <a:t>, </a:t>
            </a:r>
            <a:r>
              <a:rPr lang="en-US" sz="2400" i="1" dirty="0">
                <a:effectLst/>
                <a:latin typeface="Times New Roman" panose="02020603050405020304" pitchFamily="18" charset="0"/>
                <a:ea typeface="Times New Roman" panose="02020603050405020304" pitchFamily="18" charset="0"/>
              </a:rPr>
              <a:t>17</a:t>
            </a:r>
            <a:r>
              <a:rPr lang="en-US" sz="2400" dirty="0">
                <a:effectLst/>
                <a:latin typeface="Times New Roman" panose="02020603050405020304" pitchFamily="18" charset="0"/>
                <a:ea typeface="Times New Roman" panose="02020603050405020304" pitchFamily="18" charset="0"/>
              </a:rPr>
              <a:t>(3), 1–27. </a:t>
            </a:r>
            <a:r>
              <a:rPr lang="en-US" sz="2400" b="0" u="sng" dirty="0">
                <a:solidFill>
                  <a:srgbClr val="004376"/>
                </a:solidFill>
                <a:effectLst/>
                <a:latin typeface="Times New Roman" panose="02020603050405020304" pitchFamily="18" charset="0"/>
                <a:ea typeface="Times New Roman" panose="02020603050405020304" pitchFamily="18" charset="0"/>
                <a:hlinkClick r:id="rId4"/>
              </a:rPr>
              <a:t>https://doi.org/10.1145/3551390</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32737519"/>
      </p:ext>
    </p:extLst>
  </p:cSld>
  <p:clrMapOvr>
    <a:masterClrMapping/>
  </p:clrMapOvr>
</p:sld>
</file>

<file path=ppt/theme/theme1.xml><?xml version="1.0" encoding="utf-8"?>
<a:theme xmlns:a="http://schemas.openxmlformats.org/drawingml/2006/main" name="1_Office Theme">
  <a:themeElements>
    <a:clrScheme name="NU">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NU">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7a22925-6a43-4c5e-b5f2-38b388f2ddc3" xsi:nil="true"/>
    <lcf76f155ced4ddcb4097134ff3c332f xmlns="4da5371a-6463-4328-ae18-8c354e94393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D743A9A7749FB478C186B7D28A9557B" ma:contentTypeVersion="24" ma:contentTypeDescription="Create a new document." ma:contentTypeScope="" ma:versionID="6619ef32f7a5832632a44c6b5ae51957">
  <xsd:schema xmlns:xsd="http://www.w3.org/2001/XMLSchema" xmlns:xs="http://www.w3.org/2001/XMLSchema" xmlns:p="http://schemas.microsoft.com/office/2006/metadata/properties" xmlns:ns2="4da5371a-6463-4328-ae18-8c354e94393b" xmlns:ns3="07a22925-6a43-4c5e-b5f2-38b388f2ddc3" targetNamespace="http://schemas.microsoft.com/office/2006/metadata/properties" ma:root="true" ma:fieldsID="fc9b7c9304d6859ae673be1934979dcb" ns2:_="" ns3:_="">
    <xsd:import namespace="4da5371a-6463-4328-ae18-8c354e94393b"/>
    <xsd:import namespace="07a22925-6a43-4c5e-b5f2-38b388f2ddc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a5371a-6463-4328-ae18-8c354e94393b" elementFormDefault="qualified">
    <xsd:import namespace="http://schemas.microsoft.com/office/2006/documentManagement/types"/>
    <xsd:import namespace="http://schemas.microsoft.com/office/infopath/2007/PartnerControls"/>
    <xsd:element name="MediaServiceMetadata" ma:index="5" nillable="true" ma:displayName="MediaServiceMetadata" ma:hidden="true" ma:internalName="MediaServiceMetadata" ma:readOnly="true">
      <xsd:simpleType>
        <xsd:restriction base="dms:Note"/>
      </xsd:simpleType>
    </xsd:element>
    <xsd:element name="MediaServiceFastMetadata" ma:index="6" nillable="true" ma:displayName="MediaServiceFastMetadata" ma:hidden="true" ma:internalName="MediaServiceFastMetadata" ma:readOnly="true">
      <xsd:simpleType>
        <xsd:restriction base="dms:Note"/>
      </xsd:simpleType>
    </xsd:element>
    <xsd:element name="MediaServiceAutoKeyPoints" ma:index="7" nillable="true" ma:displayName="MediaServiceAutoKeyPoints" ma:hidden="true" ma:internalName="MediaServiceAutoKeyPoints" ma:readOnly="true">
      <xsd:simpleType>
        <xsd:restriction base="dms:Note"/>
      </xsd:simpleType>
    </xsd:element>
    <xsd:element name="MediaServiceKeyPoints" ma:index="8"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7c5eaa6-3f01-49d1-9736-050921629c09"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7a22925-6a43-4c5e-b5f2-38b388f2ddc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1e20c2b-0ae8-4f7f-a628-56af080f0d93}" ma:internalName="TaxCatchAll" ma:showField="CatchAllData" ma:web="07a22925-6a43-4c5e-b5f2-38b388f2ddc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9"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179E5A-85BA-4F81-8420-B825176D1041}">
  <ds:schemaRefs>
    <ds:schemaRef ds:uri="http://purl.org/dc/elements/1.1/"/>
    <ds:schemaRef ds:uri="http://schemas.openxmlformats.org/package/2006/metadata/core-properties"/>
    <ds:schemaRef ds:uri="http://purl.org/dc/dcmitype/"/>
    <ds:schemaRef ds:uri="http://schemas.microsoft.com/office/2006/documentManagement/types"/>
    <ds:schemaRef ds:uri="http://schemas.microsoft.com/office/2006/metadata/properties"/>
    <ds:schemaRef ds:uri="http://schemas.microsoft.com/office/infopath/2007/PartnerControls"/>
    <ds:schemaRef ds:uri="http://purl.org/dc/terms/"/>
    <ds:schemaRef ds:uri="4da5371a-6463-4328-ae18-8c354e94393b"/>
    <ds:schemaRef ds:uri="07a22925-6a43-4c5e-b5f2-38b388f2ddc3"/>
    <ds:schemaRef ds:uri="http://www.w3.org/XML/1998/namespace"/>
  </ds:schemaRefs>
</ds:datastoreItem>
</file>

<file path=customXml/itemProps2.xml><?xml version="1.0" encoding="utf-8"?>
<ds:datastoreItem xmlns:ds="http://schemas.openxmlformats.org/officeDocument/2006/customXml" ds:itemID="{58A0AFD9-C994-4BF8-A727-47C1325D0B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da5371a-6463-4328-ae18-8c354e94393b"/>
    <ds:schemaRef ds:uri="07a22925-6a43-4c5e-b5f2-38b388f2dd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7FB6A8C-EA41-4260-8AD5-C1AF705DE01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15512</TotalTime>
  <Words>3759</Words>
  <Application>Microsoft Office PowerPoint</Application>
  <PresentationFormat>Widescreen</PresentationFormat>
  <Paragraphs>226</Paragraphs>
  <Slides>25</Slides>
  <Notes>25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25</vt:i4>
      </vt:variant>
    </vt:vector>
  </HeadingPairs>
  <TitlesOfParts>
    <vt:vector size="34" baseType="lpstr">
      <vt:lpstr>Arial</vt:lpstr>
      <vt:lpstr>Calibri</vt:lpstr>
      <vt:lpstr>Open Sans</vt:lpstr>
      <vt:lpstr>Times</vt:lpstr>
      <vt:lpstr>Times New Roman</vt:lpstr>
      <vt:lpstr>Wingdings</vt:lpstr>
      <vt:lpstr>Wingdings 3</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CityU</dc:title>
  <dc:creator>Nicole Kitchen</dc:creator>
  <cp:lastModifiedBy>Jason Miller</cp:lastModifiedBy>
  <cp:revision>355</cp:revision>
  <cp:lastPrinted>2019-09-23T21:40:40Z</cp:lastPrinted>
  <dcterms:created xsi:type="dcterms:W3CDTF">2018-10-02T19:30:51Z</dcterms:created>
  <dcterms:modified xsi:type="dcterms:W3CDTF">2026-03-05T01:11:03Z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0x010100AD743A9A7749FB478C186B7D28A9557B</vt:lpwstr>
  </property>
  <property fmtid="{D5CDD505-2E9C-101B-9397-08002B2CF9AE}" pid="3" name="_dlc_DocIdItemGuid">
    <vt:lpwstr>d3c5a25f-dffc-4ea6-a6f0-04cb3c0228f4</vt:lpwstr>
  </property>
  <property fmtid="{D5CDD505-2E9C-101B-9397-08002B2CF9AE}" pid="4" name="_dlc_DocId">
    <vt:lpwstr>JMU6HW5CN4KV-1644203685-20</vt:lpwstr>
  </property>
  <property fmtid="{D5CDD505-2E9C-101B-9397-08002B2CF9AE}" pid="5" name="_dlc_DocIdUrl">
    <vt:lpwstr>https://home.cityu.edu/Marketing/_layouts/15/DocIdRedir.aspx?ID=JMU6HW5CN4KV-1644203685-20, JMU6HW5CN4KV-1644203685-20</vt:lpwstr>
  </property>
  <property fmtid="{D5CDD505-2E9C-101B-9397-08002B2CF9AE}" pid="6" name="eea04e22b91843438d12fac5e9c4afc3">
    <vt:lpwstr/>
  </property>
  <property fmtid="{D5CDD505-2E9C-101B-9397-08002B2CF9AE}" pid="7" name="TermStoreOwningGroup">
    <vt:lpwstr/>
  </property>
  <property fmtid="{D5CDD505-2E9C-101B-9397-08002B2CF9AE}" pid="8" name="TermStoreBusinessCategory">
    <vt:lpwstr/>
  </property>
  <property fmtid="{D5CDD505-2E9C-101B-9397-08002B2CF9AE}" pid="9" name="Owning Dept">
    <vt:lpwstr/>
  </property>
  <property fmtid="{D5CDD505-2E9C-101B-9397-08002B2CF9AE}" pid="10" name="MediaServiceImageTags">
    <vt:lpwstr/>
  </property>
  <property fmtid="{D5CDD505-2E9C-101B-9397-08002B2CF9AE}" pid="11" name="MSIP_Label_4de2db54-fde7-46a6-a211-cf8d20b38e8c_Enabled">
    <vt:lpwstr>true</vt:lpwstr>
  </property>
  <property fmtid="{D5CDD505-2E9C-101B-9397-08002B2CF9AE}" pid="12" name="MSIP_Label_4de2db54-fde7-46a6-a211-cf8d20b38e8c_SetDate">
    <vt:lpwstr>2025-05-24T14:39:28Z</vt:lpwstr>
  </property>
  <property fmtid="{D5CDD505-2E9C-101B-9397-08002B2CF9AE}" pid="13" name="MSIP_Label_4de2db54-fde7-46a6-a211-cf8d20b38e8c_Method">
    <vt:lpwstr>Standard</vt:lpwstr>
  </property>
  <property fmtid="{D5CDD505-2E9C-101B-9397-08002B2CF9AE}" pid="14" name="MSIP_Label_4de2db54-fde7-46a6-a211-cf8d20b38e8c_Name">
    <vt:lpwstr>Restricted</vt:lpwstr>
  </property>
  <property fmtid="{D5CDD505-2E9C-101B-9397-08002B2CF9AE}" pid="15" name="MSIP_Label_4de2db54-fde7-46a6-a211-cf8d20b38e8c_SiteId">
    <vt:lpwstr>13295746-7225-4c95-9417-94671a1789f8</vt:lpwstr>
  </property>
  <property fmtid="{D5CDD505-2E9C-101B-9397-08002B2CF9AE}" pid="16" name="MSIP_Label_4de2db54-fde7-46a6-a211-cf8d20b38e8c_ActionId">
    <vt:lpwstr>c8029b1a-1399-4096-a3f9-c6467d7a9572</vt:lpwstr>
  </property>
  <property fmtid="{D5CDD505-2E9C-101B-9397-08002B2CF9AE}" pid="17" name="MSIP_Label_4de2db54-fde7-46a6-a211-cf8d20b38e8c_ContentBits">
    <vt:lpwstr>0</vt:lpwstr>
  </property>
</Properties>
</file>